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 (MS)" panose="020B0604020202020204" charset="0"/>
      <p:regular r:id="rId20"/>
    </p:embeddedFont>
    <p:embeddedFont>
      <p:font typeface="Calibri (MS) Italics" panose="020B0604020202020204" charset="0"/>
      <p:regular r:id="rId21"/>
    </p:embeddedFont>
    <p:embeddedFont>
      <p:font typeface="Garet" panose="020B0604020202020204" charset="0"/>
      <p:regular r:id="rId22"/>
    </p:embeddedFont>
    <p:embeddedFont>
      <p:font typeface="Garet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2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13.svg"/><Relationship Id="rId10" Type="http://schemas.openxmlformats.org/officeDocument/2006/relationships/image" Target="../media/image19.svg"/><Relationship Id="rId4" Type="http://schemas.openxmlformats.org/officeDocument/2006/relationships/image" Target="../media/image2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0" Type="http://schemas.openxmlformats.org/officeDocument/2006/relationships/image" Target="../media/image28.svg"/><Relationship Id="rId4" Type="http://schemas.openxmlformats.org/officeDocument/2006/relationships/image" Target="../media/image5.sv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10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2.png"/><Relationship Id="rId7" Type="http://schemas.openxmlformats.org/officeDocument/2006/relationships/image" Target="../media/image41.svg"/><Relationship Id="rId12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svg"/><Relationship Id="rId10" Type="http://schemas.openxmlformats.org/officeDocument/2006/relationships/image" Target="../media/image44.pn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2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.png"/><Relationship Id="rId7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13.svg"/><Relationship Id="rId4" Type="http://schemas.openxmlformats.org/officeDocument/2006/relationships/image" Target="../media/image5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2.png"/><Relationship Id="rId7" Type="http://schemas.openxmlformats.org/officeDocument/2006/relationships/image" Target="../media/image6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Relationship Id="rId9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307/2094589" TargetMode="External"/><Relationship Id="rId13" Type="http://schemas.openxmlformats.org/officeDocument/2006/relationships/hyperlink" Target="https://learn.microsoft.com/en-us/office365/servicedescriptions/office-365-platform-service-description/microsoft-365-education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clipboard.app/" TargetMode="External"/><Relationship Id="rId12" Type="http://schemas.openxmlformats.org/officeDocument/2006/relationships/hyperlink" Target="https://learn.microsoft.com/en-us/purview/communication-compliance-policies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learn.microsoft.com/en-us/connectors/yamme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ata.brisbane.qld.gov.au/explore/dataset/chill-out-events/calendar/" TargetMode="External"/><Relationship Id="rId11" Type="http://schemas.openxmlformats.org/officeDocument/2006/relationships/hyperlink" Target="https://learn.microsoft.com/en-us/power-apps/maker/canvas-apps/controls/control-barcodereader" TargetMode="External"/><Relationship Id="rId5" Type="http://schemas.openxmlformats.org/officeDocument/2006/relationships/hyperlink" Target="https://www.ausport.gov.au/clearinghouse/evidence/children-and-youth-in-sport/factors/cost" TargetMode="External"/><Relationship Id="rId15" Type="http://schemas.openxmlformats.org/officeDocument/2006/relationships/hyperlink" Target="https://www.microsoft.com/en/microsoft-viva/engage" TargetMode="External"/><Relationship Id="rId10" Type="http://schemas.openxmlformats.org/officeDocument/2006/relationships/hyperlink" Target="https://doi.org/10.1007/s10464-010-9300-6" TargetMode="External"/><Relationship Id="rId4" Type="http://schemas.openxmlformats.org/officeDocument/2006/relationships/hyperlink" Target="https://www.ausport.gov.au/youth_participation/barriers_and_motivation" TargetMode="External"/><Relationship Id="rId9" Type="http://schemas.openxmlformats.org/officeDocument/2006/relationships/hyperlink" Target="https://www.commbank.com.au/articles/newsroom/2026/04/brisbane-2032.html" TargetMode="External"/><Relationship Id="rId14" Type="http://schemas.openxmlformats.org/officeDocument/2006/relationships/hyperlink" Target="https://learn.microsoft.com/en-us/viva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qld.gov.au/parents/school-information/internetAtSchool" TargetMode="External"/><Relationship Id="rId13" Type="http://schemas.openxmlformats.org/officeDocument/2006/relationships/hyperlink" Target="https://www.strategyzer.com/library/the-value-proposition-canvas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pc.gov.au/ongoing/report-on-government-services/community-services/youth-justice/" TargetMode="External"/><Relationship Id="rId12" Type="http://schemas.openxmlformats.org/officeDocument/2006/relationships/hyperlink" Target="https://info.sentral.com.au/product-spotlight-activiti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cyc.org.au/our-programs/" TargetMode="External"/><Relationship Id="rId11" Type="http://schemas.openxmlformats.org/officeDocument/2006/relationships/hyperlink" Target="https://www.qgso.qld.gov.au/issues/7856/crime-report-qld-2024-25.pdf" TargetMode="External"/><Relationship Id="rId5" Type="http://schemas.openxmlformats.org/officeDocument/2006/relationships/hyperlink" Target="https://doi.org/10.2307/2096397" TargetMode="External"/><Relationship Id="rId10" Type="http://schemas.openxmlformats.org/officeDocument/2006/relationships/hyperlink" Target="https://statements.qld.gov.au/statements/99127" TargetMode="External"/><Relationship Id="rId4" Type="http://schemas.openxmlformats.org/officeDocument/2006/relationships/hyperlink" Target="https://crimesolutions.ojp.gov/ratedpractices/after-school-programs" TargetMode="External"/><Relationship Id="rId9" Type="http://schemas.openxmlformats.org/officeDocument/2006/relationships/hyperlink" Target="https://www.qfcc.qld.gov.au/sites/default/files/report-growing-up-in-queensland-2022.pdf" TargetMode="External"/><Relationship Id="rId14" Type="http://schemas.openxmlformats.org/officeDocument/2006/relationships/hyperlink" Target="https://doi.org/10.1177/154120401456754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4020">
            <a:off x="884520" y="1583226"/>
            <a:ext cx="1624966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4882334"/>
            <a:ext cx="14408963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b="1" spc="-59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BEACON.</a:t>
            </a:r>
          </a:p>
        </p:txBody>
      </p:sp>
      <p:sp>
        <p:nvSpPr>
          <p:cNvPr id="8" name="Freeform 8"/>
          <p:cNvSpPr/>
          <p:nvPr/>
        </p:nvSpPr>
        <p:spPr>
          <a:xfrm>
            <a:off x="4164048" y="1093333"/>
            <a:ext cx="56198" cy="56197"/>
          </a:xfrm>
          <a:custGeom>
            <a:avLst/>
            <a:gdLst/>
            <a:ahLst/>
            <a:cxnLst/>
            <a:rect l="l" t="t" r="r" b="b"/>
            <a:pathLst>
              <a:path w="56198" h="56197">
                <a:moveTo>
                  <a:pt x="0" y="0"/>
                </a:moveTo>
                <a:lnTo>
                  <a:pt x="56198" y="0"/>
                </a:lnTo>
                <a:lnTo>
                  <a:pt x="56198" y="56197"/>
                </a:lnTo>
                <a:lnTo>
                  <a:pt x="0" y="56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391650"/>
            <a:ext cx="7919095" cy="21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2300" spc="-138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A proposed school-community platform on Microsoft 365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168209"/>
            <a:ext cx="14408963" cy="57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2"/>
              </a:lnSpc>
            </a:pPr>
            <a:r>
              <a:rPr lang="en-US" sz="6003" b="1" spc="-240">
                <a:solidFill>
                  <a:srgbClr val="322D29"/>
                </a:solidFill>
                <a:latin typeface="Garet Bold"/>
                <a:ea typeface="Garet Bold"/>
                <a:cs typeface="Garet Bold"/>
                <a:sym typeface="Garet Bold"/>
              </a:rPr>
              <a:t>Scan it. Show up. Get recognised.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4473" y="971550"/>
            <a:ext cx="13282374" cy="42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3999" b="1" spc="-197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BISM7208         DIGITAL TRANSFORMATION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263746"/>
            <a:ext cx="16966930" cy="263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904" spc="-115">
                <a:solidFill>
                  <a:srgbClr val="322D29"/>
                </a:solidFill>
                <a:latin typeface="Garet"/>
                <a:ea typeface="Garet"/>
                <a:cs typeface="Garet"/>
                <a:sym typeface="Garet"/>
              </a:rPr>
              <a:t>Connecting young people to safer, more accessible and rewarding after-school experiences.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894048" y="857929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5" y="0"/>
                </a:lnTo>
                <a:lnTo>
                  <a:pt x="490425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5872274" y="4777551"/>
            <a:ext cx="56198" cy="56198"/>
          </a:xfrm>
          <a:custGeom>
            <a:avLst/>
            <a:gdLst/>
            <a:ahLst/>
            <a:cxnLst/>
            <a:rect l="l" t="t" r="r" b="b"/>
            <a:pathLst>
              <a:path w="56198" h="56198">
                <a:moveTo>
                  <a:pt x="0" y="0"/>
                </a:moveTo>
                <a:lnTo>
                  <a:pt x="56198" y="0"/>
                </a:lnTo>
                <a:lnTo>
                  <a:pt x="56198" y="56197"/>
                </a:lnTo>
                <a:lnTo>
                  <a:pt x="0" y="56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25198" y="5565772"/>
            <a:ext cx="7441740" cy="3692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998" b="1" spc="-199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45%</a:t>
            </a:r>
          </a:p>
          <a:p>
            <a:pPr algn="l">
              <a:lnSpc>
                <a:spcPts val="4898"/>
              </a:lnSpc>
            </a:pPr>
            <a:r>
              <a:rPr lang="en-US" sz="3498" b="1" spc="-138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Safe-space access concern</a:t>
            </a:r>
          </a:p>
          <a:p>
            <a:pPr algn="l">
              <a:lnSpc>
                <a:spcPts val="4898"/>
              </a:lnSpc>
            </a:pPr>
            <a:r>
              <a:rPr lang="en-US" sz="3498" spc="-138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Said there weren’t enough places to meet friends, or were unsure</a:t>
            </a:r>
          </a:p>
          <a:p>
            <a:pPr algn="l">
              <a:lnSpc>
                <a:spcPts val="6999"/>
              </a:lnSpc>
            </a:pPr>
            <a:endParaRPr lang="en-US" sz="3498" spc="-138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870705" y="7082057"/>
            <a:ext cx="56197" cy="56197"/>
          </a:xfrm>
          <a:custGeom>
            <a:avLst/>
            <a:gdLst/>
            <a:ahLst/>
            <a:cxnLst/>
            <a:rect l="l" t="t" r="r" b="b"/>
            <a:pathLst>
              <a:path w="56197" h="56197">
                <a:moveTo>
                  <a:pt x="0" y="0"/>
                </a:moveTo>
                <a:lnTo>
                  <a:pt x="56198" y="0"/>
                </a:lnTo>
                <a:lnTo>
                  <a:pt x="56198" y="56197"/>
                </a:lnTo>
                <a:lnTo>
                  <a:pt x="0" y="56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6589" y="8741959"/>
            <a:ext cx="8795337" cy="1306659"/>
          </a:xfrm>
          <a:custGeom>
            <a:avLst/>
            <a:gdLst/>
            <a:ahLst/>
            <a:cxnLst/>
            <a:rect l="l" t="t" r="r" b="b"/>
            <a:pathLst>
              <a:path w="8795337" h="1306659">
                <a:moveTo>
                  <a:pt x="0" y="0"/>
                </a:moveTo>
                <a:lnTo>
                  <a:pt x="8795337" y="0"/>
                </a:lnTo>
                <a:lnTo>
                  <a:pt x="8795337" y="1306659"/>
                </a:lnTo>
                <a:lnTo>
                  <a:pt x="0" y="13066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06036"/>
            <a:ext cx="17259300" cy="49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CHALLENGE ISN'T JUST FINDING ACTIVITIES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8458" y="8877995"/>
            <a:ext cx="8199892" cy="105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sz="2099" spc="-125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Beacon’s actionable problem: barriers to safe, suitable after-school participation.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8673" y="2826926"/>
            <a:ext cx="7614790" cy="396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998" b="1" spc="-19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10,056</a:t>
            </a:r>
          </a:p>
          <a:p>
            <a:pPr algn="l">
              <a:lnSpc>
                <a:spcPts val="4898"/>
              </a:lnSpc>
            </a:pPr>
            <a:r>
              <a:rPr lang="en-US" sz="3498" b="1" spc="-138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Young alleged offenders</a:t>
            </a:r>
          </a:p>
          <a:p>
            <a:pPr algn="l">
              <a:lnSpc>
                <a:spcPts val="4898"/>
              </a:lnSpc>
            </a:pPr>
            <a:r>
              <a:rPr lang="en-US" sz="3498" spc="-138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Queensland, 2024-25      Ages 10 - 17 </a:t>
            </a:r>
          </a:p>
          <a:p>
            <a:pPr algn="l">
              <a:lnSpc>
                <a:spcPts val="4898"/>
              </a:lnSpc>
            </a:pPr>
            <a:r>
              <a:rPr lang="en-US" sz="3498" spc="-138">
                <a:solidFill>
                  <a:srgbClr val="869A69"/>
                </a:solidFill>
                <a:latin typeface="Garet"/>
                <a:ea typeface="Garet"/>
                <a:cs typeface="Garet"/>
                <a:sym typeface="Garet"/>
              </a:rPr>
              <a:t>Down 8.8% from the previous year</a:t>
            </a:r>
          </a:p>
          <a:p>
            <a:pPr algn="l">
              <a:lnSpc>
                <a:spcPts val="4898"/>
              </a:lnSpc>
            </a:pPr>
            <a:endParaRPr lang="en-US" sz="3498" spc="-138">
              <a:solidFill>
                <a:srgbClr val="869A69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8"/>
              </a:lnSpc>
            </a:pPr>
            <a:endParaRPr lang="en-US" sz="3498" spc="-138">
              <a:solidFill>
                <a:srgbClr val="869A6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413504" y="8245192"/>
            <a:ext cx="4066908" cy="40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1800" spc="-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QFCC survey Ages 13 - 18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629270" y="3441859"/>
            <a:ext cx="8377618" cy="4704617"/>
            <a:chOff x="0" y="0"/>
            <a:chExt cx="11170158" cy="6272822"/>
          </a:xfrm>
        </p:grpSpPr>
        <p:sp>
          <p:nvSpPr>
            <p:cNvPr id="15" name="Freeform 15" descr="BREAKING: An axe-wielding man has been charged by Victoria Police after  three people were allegedly attacked on Saturday. Link to read more in  comments."/>
            <p:cNvSpPr/>
            <p:nvPr/>
          </p:nvSpPr>
          <p:spPr>
            <a:xfrm>
              <a:off x="0" y="0"/>
              <a:ext cx="11170158" cy="6272784"/>
            </a:xfrm>
            <a:custGeom>
              <a:avLst/>
              <a:gdLst/>
              <a:ahLst/>
              <a:cxnLst/>
              <a:rect l="l" t="t" r="r" b="b"/>
              <a:pathLst>
                <a:path w="11170158" h="6272784">
                  <a:moveTo>
                    <a:pt x="0" y="0"/>
                  </a:moveTo>
                  <a:lnTo>
                    <a:pt x="11170158" y="0"/>
                  </a:lnTo>
                  <a:lnTo>
                    <a:pt x="11170158" y="6272784"/>
                  </a:lnTo>
                  <a:lnTo>
                    <a:pt x="0" y="6272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61377" y="737229"/>
            <a:ext cx="16307449" cy="640182"/>
            <a:chOff x="0" y="86165"/>
            <a:chExt cx="21743265" cy="853576"/>
          </a:xfrm>
        </p:grpSpPr>
        <p:sp>
          <p:nvSpPr>
            <p:cNvPr id="17" name="AutoShape 17"/>
            <p:cNvSpPr/>
            <p:nvPr/>
          </p:nvSpPr>
          <p:spPr>
            <a:xfrm rot="4020">
              <a:off x="77052" y="939741"/>
              <a:ext cx="21666213" cy="0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6165" y="123825"/>
              <a:ext cx="5889999" cy="676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98"/>
                </a:lnSpc>
              </a:pPr>
              <a:r>
                <a:rPr lang="en-US" sz="3998" b="1" spc="-238" dirty="0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THE PROBLEM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850962" y="419172"/>
              <a:ext cx="1892295" cy="4013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sz="2399" spc="-143" dirty="0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BEACON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86165"/>
              <a:ext cx="653900" cy="627744"/>
            </a:xfrm>
            <a:custGeom>
              <a:avLst/>
              <a:gdLst/>
              <a:ahLst/>
              <a:cxnLst/>
              <a:rect l="l" t="t" r="r" b="b"/>
              <a:pathLst>
                <a:path w="653900" h="627744">
                  <a:moveTo>
                    <a:pt x="0" y="0"/>
                  </a:moveTo>
                  <a:lnTo>
                    <a:pt x="653900" y="0"/>
                  </a:lnTo>
                  <a:lnTo>
                    <a:pt x="653900" y="627743"/>
                  </a:lnTo>
                  <a:lnTo>
                    <a:pt x="0" y="627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0" b="-19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4020">
            <a:off x="1019165" y="1377410"/>
            <a:ext cx="1624966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555056" y="3712664"/>
            <a:ext cx="6058786" cy="5165846"/>
          </a:xfrm>
          <a:custGeom>
            <a:avLst/>
            <a:gdLst/>
            <a:ahLst/>
            <a:cxnLst/>
            <a:rect l="l" t="t" r="r" b="b"/>
            <a:pathLst>
              <a:path w="6058786" h="5165846">
                <a:moveTo>
                  <a:pt x="0" y="0"/>
                </a:moveTo>
                <a:lnTo>
                  <a:pt x="6058786" y="0"/>
                </a:lnTo>
                <a:lnTo>
                  <a:pt x="6058786" y="5165846"/>
                </a:lnTo>
                <a:lnTo>
                  <a:pt x="0" y="516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20760" y="4899631"/>
            <a:ext cx="5927379" cy="3924681"/>
            <a:chOff x="0" y="0"/>
            <a:chExt cx="7903172" cy="52329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03210" cy="5232908"/>
            </a:xfrm>
            <a:custGeom>
              <a:avLst/>
              <a:gdLst/>
              <a:ahLst/>
              <a:cxnLst/>
              <a:rect l="l" t="t" r="r" b="b"/>
              <a:pathLst>
                <a:path w="7903210" h="5232908">
                  <a:moveTo>
                    <a:pt x="0" y="0"/>
                  </a:moveTo>
                  <a:lnTo>
                    <a:pt x="7903210" y="0"/>
                  </a:lnTo>
                  <a:lnTo>
                    <a:pt x="7903210" y="5232908"/>
                  </a:lnTo>
                  <a:lnTo>
                    <a:pt x="0" y="5232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8" b="-18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1837165" y="3712664"/>
            <a:ext cx="6021857" cy="5030143"/>
          </a:xfrm>
          <a:custGeom>
            <a:avLst/>
            <a:gdLst/>
            <a:ahLst/>
            <a:cxnLst/>
            <a:rect l="l" t="t" r="r" b="b"/>
            <a:pathLst>
              <a:path w="6021857" h="5030143">
                <a:moveTo>
                  <a:pt x="0" y="0"/>
                </a:moveTo>
                <a:lnTo>
                  <a:pt x="6021858" y="0"/>
                </a:lnTo>
                <a:lnTo>
                  <a:pt x="6021858" y="5030143"/>
                </a:lnTo>
                <a:lnTo>
                  <a:pt x="0" y="5030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1882" y="3973623"/>
            <a:ext cx="5265286" cy="4850690"/>
            <a:chOff x="0" y="0"/>
            <a:chExt cx="10287215" cy="94771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87267" cy="9477121"/>
            </a:xfrm>
            <a:custGeom>
              <a:avLst/>
              <a:gdLst/>
              <a:ahLst/>
              <a:cxnLst/>
              <a:rect l="l" t="t" r="r" b="b"/>
              <a:pathLst>
                <a:path w="10287267" h="9477121">
                  <a:moveTo>
                    <a:pt x="0" y="0"/>
                  </a:moveTo>
                  <a:lnTo>
                    <a:pt x="10287267" y="0"/>
                  </a:lnTo>
                  <a:lnTo>
                    <a:pt x="10287267" y="9477121"/>
                  </a:lnTo>
                  <a:lnTo>
                    <a:pt x="0" y="9477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35" r="-1283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384473" y="901165"/>
            <a:ext cx="6997527" cy="500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b="1" spc="-238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GEOGRAPHIC EVIDENCE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37663" y="981751"/>
            <a:ext cx="1935937" cy="290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069"/>
              </a:lnSpc>
            </a:pPr>
            <a:r>
              <a:rPr lang="en-US" sz="2299" spc="-137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QUEENSLAND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20760" y="8934793"/>
            <a:ext cx="4942999" cy="39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1599" spc="-10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Source : QFCC (n.d., p. 3) · 2020 survey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2754" y="1725616"/>
            <a:ext cx="15926019" cy="27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-2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Safe-space access differs by remoteness.</a:t>
            </a:r>
          </a:p>
          <a:p>
            <a:pPr algn="l">
              <a:lnSpc>
                <a:spcPts val="7000"/>
              </a:lnSpc>
            </a:pPr>
            <a:endParaRPr lang="en-US" sz="5000" b="1" spc="-20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7000"/>
              </a:lnSpc>
            </a:pPr>
            <a:endParaRPr lang="en-US" sz="5000" b="1" spc="-20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14707" y="3876494"/>
            <a:ext cx="5251494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96">
                <a:solidFill>
                  <a:srgbClr val="322D29"/>
                </a:solidFill>
                <a:latin typeface="Garet Bold"/>
                <a:ea typeface="Garet Bold"/>
                <a:cs typeface="Garet Bold"/>
                <a:sym typeface="Garet Bold"/>
              </a:rPr>
              <a:t>Safe-space availability</a:t>
            </a:r>
          </a:p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322D29"/>
                </a:solidFill>
                <a:latin typeface="Garet"/>
                <a:ea typeface="Garet"/>
                <a:cs typeface="Garet"/>
                <a:sym typeface="Garet"/>
              </a:rPr>
              <a:t>Young people reporting enough safe spaces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38381" y="3876494"/>
            <a:ext cx="5619426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spc="-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Brisbane recorded-offence rates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853872" y="4087778"/>
            <a:ext cx="5932151" cy="4140527"/>
            <a:chOff x="0" y="0"/>
            <a:chExt cx="7909535" cy="55207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09560" cy="5520690"/>
            </a:xfrm>
            <a:custGeom>
              <a:avLst/>
              <a:gdLst/>
              <a:ahLst/>
              <a:cxnLst/>
              <a:rect l="l" t="t" r="r" b="b"/>
              <a:pathLst>
                <a:path w="7909560" h="5520690">
                  <a:moveTo>
                    <a:pt x="0" y="0"/>
                  </a:moveTo>
                  <a:lnTo>
                    <a:pt x="7909560" y="0"/>
                  </a:lnTo>
                  <a:lnTo>
                    <a:pt x="7909560" y="5520690"/>
                  </a:lnTo>
                  <a:lnTo>
                    <a:pt x="0" y="5520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8" b="-18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1366202" y="8835480"/>
            <a:ext cx="4599508" cy="39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1599" spc="-10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QGSO (2026), Table 8 · Scale 0–20,000</a:t>
            </a:r>
          </a:p>
        </p:txBody>
      </p:sp>
      <p:sp>
        <p:nvSpPr>
          <p:cNvPr id="22" name="Freeform 22"/>
          <p:cNvSpPr/>
          <p:nvPr/>
        </p:nvSpPr>
        <p:spPr>
          <a:xfrm>
            <a:off x="894048" y="841983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5" y="0"/>
                </a:lnTo>
                <a:lnTo>
                  <a:pt x="490425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0" b="-19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4020">
            <a:off x="1019165" y="1377410"/>
            <a:ext cx="1624966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479180">
            <a:off x="10565025" y="5957125"/>
            <a:ext cx="9707432" cy="6265707"/>
            <a:chOff x="0" y="0"/>
            <a:chExt cx="12943243" cy="83542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t="-29" b="-2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616877" y="3258788"/>
            <a:ext cx="2866184" cy="1721329"/>
            <a:chOff x="0" y="0"/>
            <a:chExt cx="3821579" cy="2295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21579" cy="2295106"/>
            </a:xfrm>
            <a:custGeom>
              <a:avLst/>
              <a:gdLst/>
              <a:ahLst/>
              <a:cxnLst/>
              <a:rect l="l" t="t" r="r" b="b"/>
              <a:pathLst>
                <a:path w="3821579" h="2295106">
                  <a:moveTo>
                    <a:pt x="0" y="0"/>
                  </a:moveTo>
                  <a:lnTo>
                    <a:pt x="3821579" y="0"/>
                  </a:lnTo>
                  <a:lnTo>
                    <a:pt x="3821579" y="2295106"/>
                  </a:lnTo>
                  <a:lnTo>
                    <a:pt x="0" y="229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40863" y="0"/>
              <a:ext cx="3313894" cy="2028155"/>
              <a:chOff x="0" y="0"/>
              <a:chExt cx="5057330" cy="309516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057326" cy="3095163"/>
              </a:xfrm>
              <a:custGeom>
                <a:avLst/>
                <a:gdLst/>
                <a:ahLst/>
                <a:cxnLst/>
                <a:rect l="l" t="t" r="r" b="b"/>
                <a:pathLst>
                  <a:path w="5057326" h="3095163">
                    <a:moveTo>
                      <a:pt x="0" y="0"/>
                    </a:moveTo>
                    <a:lnTo>
                      <a:pt x="5057326" y="0"/>
                    </a:lnTo>
                    <a:lnTo>
                      <a:pt x="5057326" y="3095163"/>
                    </a:lnTo>
                    <a:lnTo>
                      <a:pt x="0" y="309516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28523" r="-28523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057330" cy="314279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53"/>
                  </a:lnSpc>
                </a:pPr>
                <a:r>
                  <a:rPr lang="en-US" sz="1900" spc="-89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Lower participation in supervised activities.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769186" y="3310881"/>
            <a:ext cx="3709435" cy="1669237"/>
            <a:chOff x="0" y="0"/>
            <a:chExt cx="4945914" cy="22256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45914" cy="2225649"/>
            </a:xfrm>
            <a:custGeom>
              <a:avLst/>
              <a:gdLst/>
              <a:ahLst/>
              <a:cxnLst/>
              <a:rect l="l" t="t" r="r" b="b"/>
              <a:pathLst>
                <a:path w="4945914" h="2225649">
                  <a:moveTo>
                    <a:pt x="0" y="0"/>
                  </a:moveTo>
                  <a:lnTo>
                    <a:pt x="4945914" y="0"/>
                  </a:lnTo>
                  <a:lnTo>
                    <a:pt x="4945914" y="2225649"/>
                  </a:lnTo>
                  <a:lnTo>
                    <a:pt x="0" y="222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38275" y="102264"/>
              <a:ext cx="4581192" cy="1711726"/>
              <a:chOff x="0" y="0"/>
              <a:chExt cx="6277510" cy="234554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277515" cy="2345541"/>
              </a:xfrm>
              <a:custGeom>
                <a:avLst/>
                <a:gdLst/>
                <a:ahLst/>
                <a:cxnLst/>
                <a:rect l="l" t="t" r="r" b="b"/>
                <a:pathLst>
                  <a:path w="6277515" h="2345541">
                    <a:moveTo>
                      <a:pt x="0" y="0"/>
                    </a:moveTo>
                    <a:lnTo>
                      <a:pt x="6277515" y="0"/>
                    </a:lnTo>
                    <a:lnTo>
                      <a:pt x="6277515" y="2345541"/>
                    </a:lnTo>
                    <a:lnTo>
                      <a:pt x="0" y="234554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4936" r="-2664" b="-12225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6277510" cy="23741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627"/>
                  </a:lnSpc>
                </a:pPr>
                <a:r>
                  <a:rPr lang="en-US" sz="1900" spc="-89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Greater exposure to disengagement and risky situations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443285" y="3258788"/>
            <a:ext cx="2891711" cy="4730737"/>
            <a:chOff x="0" y="0"/>
            <a:chExt cx="3855614" cy="6307650"/>
          </a:xfrm>
        </p:grpSpPr>
        <p:sp>
          <p:nvSpPr>
            <p:cNvPr id="18" name="Freeform 18"/>
            <p:cNvSpPr/>
            <p:nvPr/>
          </p:nvSpPr>
          <p:spPr>
            <a:xfrm>
              <a:off x="25427" y="2673886"/>
              <a:ext cx="3830187" cy="1059746"/>
            </a:xfrm>
            <a:custGeom>
              <a:avLst/>
              <a:gdLst/>
              <a:ahLst/>
              <a:cxnLst/>
              <a:rect l="l" t="t" r="r" b="b"/>
              <a:pathLst>
                <a:path w="3830187" h="1059746">
                  <a:moveTo>
                    <a:pt x="0" y="0"/>
                  </a:moveTo>
                  <a:lnTo>
                    <a:pt x="3830187" y="0"/>
                  </a:lnTo>
                  <a:lnTo>
                    <a:pt x="3830187" y="1059746"/>
                  </a:lnTo>
                  <a:lnTo>
                    <a:pt x="0" y="1059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>
              <a:off x="61265" y="2835146"/>
              <a:ext cx="3758521" cy="737222"/>
              <a:chOff x="0" y="0"/>
              <a:chExt cx="5057330" cy="99198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057325" cy="991975"/>
              </a:xfrm>
              <a:custGeom>
                <a:avLst/>
                <a:gdLst/>
                <a:ahLst/>
                <a:cxnLst/>
                <a:rect l="l" t="t" r="r" b="b"/>
                <a:pathLst>
                  <a:path w="5057325" h="991975">
                    <a:moveTo>
                      <a:pt x="0" y="0"/>
                    </a:moveTo>
                    <a:lnTo>
                      <a:pt x="5057325" y="0"/>
                    </a:lnTo>
                    <a:lnTo>
                      <a:pt x="5057325" y="991975"/>
                    </a:lnTo>
                    <a:lnTo>
                      <a:pt x="0" y="991975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49338" b="-49339"/>
                </a:stretch>
              </a:blip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57150"/>
                <a:ext cx="5057330" cy="9348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10"/>
                  </a:lnSpc>
                </a:pPr>
                <a:r>
                  <a:rPr lang="en-US" sz="1900" spc="-76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Attending alone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0" y="3957511"/>
              <a:ext cx="3855614" cy="1059746"/>
            </a:xfrm>
            <a:custGeom>
              <a:avLst/>
              <a:gdLst/>
              <a:ahLst/>
              <a:cxnLst/>
              <a:rect l="l" t="t" r="r" b="b"/>
              <a:pathLst>
                <a:path w="3855614" h="1059746">
                  <a:moveTo>
                    <a:pt x="0" y="0"/>
                  </a:moveTo>
                  <a:lnTo>
                    <a:pt x="3855614" y="0"/>
                  </a:lnTo>
                  <a:lnTo>
                    <a:pt x="3855614" y="1059746"/>
                  </a:lnTo>
                  <a:lnTo>
                    <a:pt x="0" y="1059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3" name="Group 23"/>
            <p:cNvGrpSpPr/>
            <p:nvPr/>
          </p:nvGrpSpPr>
          <p:grpSpPr>
            <a:xfrm>
              <a:off x="35838" y="4118771"/>
              <a:ext cx="3783948" cy="737222"/>
              <a:chOff x="0" y="0"/>
              <a:chExt cx="5091544" cy="9919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091540" cy="991975"/>
              </a:xfrm>
              <a:custGeom>
                <a:avLst/>
                <a:gdLst/>
                <a:ahLst/>
                <a:cxnLst/>
                <a:rect l="l" t="t" r="r" b="b"/>
                <a:pathLst>
                  <a:path w="5091540" h="991975">
                    <a:moveTo>
                      <a:pt x="0" y="0"/>
                    </a:moveTo>
                    <a:lnTo>
                      <a:pt x="5091540" y="0"/>
                    </a:lnTo>
                    <a:lnTo>
                      <a:pt x="5091540" y="991975"/>
                    </a:lnTo>
                    <a:lnTo>
                      <a:pt x="0" y="991975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50011" b="-50011"/>
                </a:stretch>
              </a:blip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57150"/>
                <a:ext cx="5091544" cy="9348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10"/>
                  </a:lnSpc>
                </a:pPr>
                <a:r>
                  <a:rPr lang="en-US" sz="1900" spc="-76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Perceived safety</a:t>
                </a:r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0" y="5247904"/>
              <a:ext cx="3855614" cy="1059746"/>
            </a:xfrm>
            <a:custGeom>
              <a:avLst/>
              <a:gdLst/>
              <a:ahLst/>
              <a:cxnLst/>
              <a:rect l="l" t="t" r="r" b="b"/>
              <a:pathLst>
                <a:path w="3855614" h="1059746">
                  <a:moveTo>
                    <a:pt x="0" y="0"/>
                  </a:moveTo>
                  <a:lnTo>
                    <a:pt x="3855614" y="0"/>
                  </a:lnTo>
                  <a:lnTo>
                    <a:pt x="3855614" y="1059746"/>
                  </a:lnTo>
                  <a:lnTo>
                    <a:pt x="0" y="1059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7" name="Group 27"/>
            <p:cNvGrpSpPr/>
            <p:nvPr/>
          </p:nvGrpSpPr>
          <p:grpSpPr>
            <a:xfrm>
              <a:off x="35838" y="5409169"/>
              <a:ext cx="3783948" cy="737222"/>
              <a:chOff x="0" y="0"/>
              <a:chExt cx="5091544" cy="99198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091540" cy="991975"/>
              </a:xfrm>
              <a:custGeom>
                <a:avLst/>
                <a:gdLst/>
                <a:ahLst/>
                <a:cxnLst/>
                <a:rect l="l" t="t" r="r" b="b"/>
                <a:pathLst>
                  <a:path w="5091540" h="991975">
                    <a:moveTo>
                      <a:pt x="0" y="0"/>
                    </a:moveTo>
                    <a:lnTo>
                      <a:pt x="5091540" y="0"/>
                    </a:lnTo>
                    <a:lnTo>
                      <a:pt x="5091540" y="991975"/>
                    </a:lnTo>
                    <a:lnTo>
                      <a:pt x="0" y="991975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50011" b="-50011"/>
                </a:stretch>
              </a:blip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57150"/>
                <a:ext cx="5091544" cy="9348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10"/>
                  </a:lnSpc>
                </a:pPr>
                <a:r>
                  <a:rPr lang="en-US" sz="1900" spc="-76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Limited activity choice</a:t>
                </a: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0" y="1337302"/>
              <a:ext cx="3830187" cy="1059746"/>
            </a:xfrm>
            <a:custGeom>
              <a:avLst/>
              <a:gdLst/>
              <a:ahLst/>
              <a:cxnLst/>
              <a:rect l="l" t="t" r="r" b="b"/>
              <a:pathLst>
                <a:path w="3830187" h="1059746">
                  <a:moveTo>
                    <a:pt x="0" y="0"/>
                  </a:moveTo>
                  <a:lnTo>
                    <a:pt x="3830187" y="0"/>
                  </a:lnTo>
                  <a:lnTo>
                    <a:pt x="3830187" y="1059746"/>
                  </a:lnTo>
                  <a:lnTo>
                    <a:pt x="0" y="1059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>
              <a:off x="61265" y="1483630"/>
              <a:ext cx="3758521" cy="737222"/>
              <a:chOff x="0" y="0"/>
              <a:chExt cx="5057330" cy="99198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057325" cy="991975"/>
              </a:xfrm>
              <a:custGeom>
                <a:avLst/>
                <a:gdLst/>
                <a:ahLst/>
                <a:cxnLst/>
                <a:rect l="l" t="t" r="r" b="b"/>
                <a:pathLst>
                  <a:path w="5057325" h="991975">
                    <a:moveTo>
                      <a:pt x="0" y="0"/>
                    </a:moveTo>
                    <a:lnTo>
                      <a:pt x="5057325" y="0"/>
                    </a:lnTo>
                    <a:lnTo>
                      <a:pt x="5057325" y="991975"/>
                    </a:lnTo>
                    <a:lnTo>
                      <a:pt x="0" y="991975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49338" b="-49339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57150"/>
                <a:ext cx="5057330" cy="9348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10"/>
                  </a:lnSpc>
                </a:pPr>
                <a:r>
                  <a:rPr lang="en-US" sz="1900" spc="-76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Cost and transport</a:t>
                </a:r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0" y="0"/>
              <a:ext cx="3855614" cy="1059746"/>
            </a:xfrm>
            <a:custGeom>
              <a:avLst/>
              <a:gdLst/>
              <a:ahLst/>
              <a:cxnLst/>
              <a:rect l="l" t="t" r="r" b="b"/>
              <a:pathLst>
                <a:path w="3855614" h="1059746">
                  <a:moveTo>
                    <a:pt x="0" y="0"/>
                  </a:moveTo>
                  <a:lnTo>
                    <a:pt x="3855614" y="0"/>
                  </a:lnTo>
                  <a:lnTo>
                    <a:pt x="3855614" y="1059746"/>
                  </a:lnTo>
                  <a:lnTo>
                    <a:pt x="0" y="1059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5" name="Group 35"/>
            <p:cNvGrpSpPr/>
            <p:nvPr/>
          </p:nvGrpSpPr>
          <p:grpSpPr>
            <a:xfrm>
              <a:off x="61265" y="161491"/>
              <a:ext cx="3783948" cy="737222"/>
              <a:chOff x="0" y="0"/>
              <a:chExt cx="5091544" cy="9919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5091540" cy="991975"/>
              </a:xfrm>
              <a:custGeom>
                <a:avLst/>
                <a:gdLst/>
                <a:ahLst/>
                <a:cxnLst/>
                <a:rect l="l" t="t" r="r" b="b"/>
                <a:pathLst>
                  <a:path w="5091540" h="991975">
                    <a:moveTo>
                      <a:pt x="0" y="0"/>
                    </a:moveTo>
                    <a:lnTo>
                      <a:pt x="5091540" y="0"/>
                    </a:lnTo>
                    <a:lnTo>
                      <a:pt x="5091540" y="991975"/>
                    </a:lnTo>
                    <a:lnTo>
                      <a:pt x="0" y="991975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t="-50011" b="-50011"/>
                </a:stretch>
              </a:blip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57150"/>
                <a:ext cx="5091544" cy="9348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10"/>
                  </a:lnSpc>
                </a:pPr>
                <a:r>
                  <a:rPr lang="en-US" sz="1900" spc="-76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Hard to discover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621506" y="2529935"/>
            <a:ext cx="4601166" cy="58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6"/>
              </a:lnSpc>
            </a:pPr>
            <a:r>
              <a:rPr lang="en-US" sz="2600" b="1" spc="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BARRIERS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96647" y="6264481"/>
            <a:ext cx="2572179" cy="1785546"/>
            <a:chOff x="0" y="0"/>
            <a:chExt cx="3429572" cy="2380728"/>
          </a:xfrm>
        </p:grpSpPr>
        <p:sp>
          <p:nvSpPr>
            <p:cNvPr id="40" name="Freeform 40"/>
            <p:cNvSpPr/>
            <p:nvPr/>
          </p:nvSpPr>
          <p:spPr>
            <a:xfrm>
              <a:off x="0" y="30178"/>
              <a:ext cx="3429572" cy="2350550"/>
            </a:xfrm>
            <a:custGeom>
              <a:avLst/>
              <a:gdLst/>
              <a:ahLst/>
              <a:cxnLst/>
              <a:rect l="l" t="t" r="r" b="b"/>
              <a:pathLst>
                <a:path w="3429572" h="2350550">
                  <a:moveTo>
                    <a:pt x="0" y="0"/>
                  </a:moveTo>
                  <a:lnTo>
                    <a:pt x="3429572" y="0"/>
                  </a:lnTo>
                  <a:lnTo>
                    <a:pt x="3429572" y="2350550"/>
                  </a:lnTo>
                  <a:lnTo>
                    <a:pt x="0" y="235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1" name="Group 41"/>
            <p:cNvGrpSpPr/>
            <p:nvPr/>
          </p:nvGrpSpPr>
          <p:grpSpPr>
            <a:xfrm>
              <a:off x="45518" y="0"/>
              <a:ext cx="3338529" cy="1962622"/>
              <a:chOff x="0" y="0"/>
              <a:chExt cx="5091544" cy="299316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091540" cy="2993170"/>
              </a:xfrm>
              <a:custGeom>
                <a:avLst/>
                <a:gdLst/>
                <a:ahLst/>
                <a:cxnLst/>
                <a:rect l="l" t="t" r="r" b="b"/>
                <a:pathLst>
                  <a:path w="5091540" h="2993170">
                    <a:moveTo>
                      <a:pt x="0" y="0"/>
                    </a:moveTo>
                    <a:lnTo>
                      <a:pt x="5091540" y="0"/>
                    </a:lnTo>
                    <a:lnTo>
                      <a:pt x="5091540" y="2993170"/>
                    </a:lnTo>
                    <a:lnTo>
                      <a:pt x="0" y="299317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40334" r="-40334" b="-19765"/>
                </a:stretch>
              </a:blip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5091544" cy="304079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53"/>
                  </a:lnSpc>
                </a:pPr>
                <a:r>
                  <a:rPr lang="en-US" sz="1900" spc="-89">
                    <a:solidFill>
                      <a:srgbClr val="000000"/>
                    </a:solidFill>
                    <a:latin typeface="Garet"/>
                    <a:ea typeface="Garet"/>
                    <a:cs typeface="Garet"/>
                    <a:sym typeface="Garet"/>
                  </a:rPr>
                  <a:t>More unstructured time without trusted adults</a:t>
                </a:r>
              </a:p>
            </p:txBody>
          </p:sp>
        </p:grpSp>
      </p:grpSp>
      <p:sp>
        <p:nvSpPr>
          <p:cNvPr id="44" name="Freeform 44"/>
          <p:cNvSpPr/>
          <p:nvPr/>
        </p:nvSpPr>
        <p:spPr>
          <a:xfrm>
            <a:off x="4860369" y="2876169"/>
            <a:ext cx="1054780" cy="295338"/>
          </a:xfrm>
          <a:custGeom>
            <a:avLst/>
            <a:gdLst/>
            <a:ahLst/>
            <a:cxnLst/>
            <a:rect l="l" t="t" r="r" b="b"/>
            <a:pathLst>
              <a:path w="1054780" h="295338">
                <a:moveTo>
                  <a:pt x="0" y="0"/>
                </a:moveTo>
                <a:lnTo>
                  <a:pt x="1054780" y="0"/>
                </a:lnTo>
                <a:lnTo>
                  <a:pt x="1054780" y="295338"/>
                </a:lnTo>
                <a:lnTo>
                  <a:pt x="0" y="29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2040092" y="2876169"/>
            <a:ext cx="1054780" cy="295338"/>
          </a:xfrm>
          <a:custGeom>
            <a:avLst/>
            <a:gdLst/>
            <a:ahLst/>
            <a:cxnLst/>
            <a:rect l="l" t="t" r="r" b="b"/>
            <a:pathLst>
              <a:path w="1054780" h="295338">
                <a:moveTo>
                  <a:pt x="0" y="0"/>
                </a:moveTo>
                <a:lnTo>
                  <a:pt x="1054780" y="0"/>
                </a:lnTo>
                <a:lnTo>
                  <a:pt x="1054780" y="295338"/>
                </a:lnTo>
                <a:lnTo>
                  <a:pt x="0" y="29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rot="5412688">
            <a:off x="8533374" y="5498336"/>
            <a:ext cx="898725" cy="251643"/>
          </a:xfrm>
          <a:custGeom>
            <a:avLst/>
            <a:gdLst/>
            <a:ahLst/>
            <a:cxnLst/>
            <a:rect l="l" t="t" r="r" b="b"/>
            <a:pathLst>
              <a:path w="898725" h="251643">
                <a:moveTo>
                  <a:pt x="0" y="0"/>
                </a:moveTo>
                <a:lnTo>
                  <a:pt x="898725" y="0"/>
                </a:lnTo>
                <a:lnTo>
                  <a:pt x="898725" y="251642"/>
                </a:lnTo>
                <a:lnTo>
                  <a:pt x="0" y="251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2223571" y="8050027"/>
            <a:ext cx="1331139" cy="2079904"/>
          </a:xfrm>
          <a:custGeom>
            <a:avLst/>
            <a:gdLst/>
            <a:ahLst/>
            <a:cxnLst/>
            <a:rect l="l" t="t" r="r" b="b"/>
            <a:pathLst>
              <a:path w="1331139" h="2079904">
                <a:moveTo>
                  <a:pt x="0" y="0"/>
                </a:moveTo>
                <a:lnTo>
                  <a:pt x="1331139" y="0"/>
                </a:lnTo>
                <a:lnTo>
                  <a:pt x="1331139" y="2079904"/>
                </a:lnTo>
                <a:lnTo>
                  <a:pt x="0" y="2079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8050955" y="8050027"/>
            <a:ext cx="2118521" cy="2076151"/>
          </a:xfrm>
          <a:custGeom>
            <a:avLst/>
            <a:gdLst/>
            <a:ahLst/>
            <a:cxnLst/>
            <a:rect l="l" t="t" r="r" b="b"/>
            <a:pathLst>
              <a:path w="2118521" h="2076151">
                <a:moveTo>
                  <a:pt x="0" y="0"/>
                </a:moveTo>
                <a:lnTo>
                  <a:pt x="2118521" y="0"/>
                </a:lnTo>
                <a:lnTo>
                  <a:pt x="2118521" y="2076151"/>
                </a:lnTo>
                <a:lnTo>
                  <a:pt x="0" y="20761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5115547" y="5070247"/>
            <a:ext cx="1115021" cy="2822837"/>
          </a:xfrm>
          <a:custGeom>
            <a:avLst/>
            <a:gdLst/>
            <a:ahLst/>
            <a:cxnLst/>
            <a:rect l="l" t="t" r="r" b="b"/>
            <a:pathLst>
              <a:path w="1115021" h="2822837">
                <a:moveTo>
                  <a:pt x="0" y="0"/>
                </a:moveTo>
                <a:lnTo>
                  <a:pt x="1115020" y="0"/>
                </a:lnTo>
                <a:lnTo>
                  <a:pt x="1115020" y="2822837"/>
                </a:lnTo>
                <a:lnTo>
                  <a:pt x="0" y="28228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943404" y="1844135"/>
            <a:ext cx="1667798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1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BARRIERS KEEP YOUNG PEOPLE FROM PARTICIPATING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43285" y="857231"/>
            <a:ext cx="4471863" cy="47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b="1" spc="-23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 IT  EXISTS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898212" y="1143000"/>
            <a:ext cx="436108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000" spc="114">
                <a:solidFill>
                  <a:srgbClr val="FFFFFF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THE PARTICIPATION JOURNEY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292518" y="2755583"/>
            <a:ext cx="4601166" cy="50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THEORETICAL RISK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843417" y="2755583"/>
            <a:ext cx="4601166" cy="50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spc="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POTENTIAL EFFECT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29530" y="9814770"/>
            <a:ext cx="13298453" cy="39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599" spc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Sources: ASC (n.d.-a); QFCC (n.d.); Osgood et al. (1996)</a:t>
            </a:r>
          </a:p>
        </p:txBody>
      </p:sp>
      <p:sp>
        <p:nvSpPr>
          <p:cNvPr id="56" name="Freeform 56"/>
          <p:cNvSpPr/>
          <p:nvPr/>
        </p:nvSpPr>
        <p:spPr>
          <a:xfrm>
            <a:off x="961377" y="737228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4" y="0"/>
                </a:lnTo>
                <a:lnTo>
                  <a:pt x="490424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4020">
            <a:off x="1019165" y="1377410"/>
            <a:ext cx="1624966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870705" y="7082057"/>
            <a:ext cx="56197" cy="56197"/>
          </a:xfrm>
          <a:custGeom>
            <a:avLst/>
            <a:gdLst/>
            <a:ahLst/>
            <a:cxnLst/>
            <a:rect l="l" t="t" r="r" b="b"/>
            <a:pathLst>
              <a:path w="56197" h="56197">
                <a:moveTo>
                  <a:pt x="0" y="0"/>
                </a:moveTo>
                <a:lnTo>
                  <a:pt x="56198" y="0"/>
                </a:lnTo>
                <a:lnTo>
                  <a:pt x="56198" y="56197"/>
                </a:lnTo>
                <a:lnTo>
                  <a:pt x="0" y="56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61377" y="737228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4" y="0"/>
                </a:lnTo>
                <a:lnTo>
                  <a:pt x="490424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0173" y="2619884"/>
            <a:ext cx="9683504" cy="6785805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>
            <a:off x="249241" y="1657506"/>
            <a:ext cx="1454578" cy="1364858"/>
          </a:xfrm>
          <a:custGeom>
            <a:avLst/>
            <a:gdLst/>
            <a:ahLst/>
            <a:cxnLst/>
            <a:rect l="l" t="t" r="r" b="b"/>
            <a:pathLst>
              <a:path w="1454578" h="1364858">
                <a:moveTo>
                  <a:pt x="0" y="0"/>
                </a:moveTo>
                <a:lnTo>
                  <a:pt x="1454578" y="0"/>
                </a:lnTo>
                <a:lnTo>
                  <a:pt x="1454578" y="1364858"/>
                </a:lnTo>
                <a:lnTo>
                  <a:pt x="0" y="1364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1042" t="-45519" r="-72912" b="-3785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7793" y="5768025"/>
            <a:ext cx="819482" cy="819482"/>
          </a:xfrm>
          <a:custGeom>
            <a:avLst/>
            <a:gdLst/>
            <a:ahLst/>
            <a:cxnLst/>
            <a:rect l="l" t="t" r="r" b="b"/>
            <a:pathLst>
              <a:path w="819482" h="819482">
                <a:moveTo>
                  <a:pt x="0" y="0"/>
                </a:moveTo>
                <a:lnTo>
                  <a:pt x="819483" y="0"/>
                </a:lnTo>
                <a:lnTo>
                  <a:pt x="819483" y="819483"/>
                </a:lnTo>
                <a:lnTo>
                  <a:pt x="0" y="819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043340" y="5864963"/>
            <a:ext cx="699002" cy="625607"/>
          </a:xfrm>
          <a:custGeom>
            <a:avLst/>
            <a:gdLst/>
            <a:ahLst/>
            <a:cxnLst/>
            <a:rect l="l" t="t" r="r" b="b"/>
            <a:pathLst>
              <a:path w="699002" h="625607">
                <a:moveTo>
                  <a:pt x="0" y="0"/>
                </a:moveTo>
                <a:lnTo>
                  <a:pt x="699002" y="0"/>
                </a:lnTo>
                <a:lnTo>
                  <a:pt x="699002" y="625607"/>
                </a:lnTo>
                <a:lnTo>
                  <a:pt x="0" y="625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1066" y="8035622"/>
            <a:ext cx="576209" cy="636695"/>
          </a:xfrm>
          <a:custGeom>
            <a:avLst/>
            <a:gdLst/>
            <a:ahLst/>
            <a:cxnLst/>
            <a:rect l="l" t="t" r="r" b="b"/>
            <a:pathLst>
              <a:path w="576209" h="636695">
                <a:moveTo>
                  <a:pt x="0" y="0"/>
                </a:moveTo>
                <a:lnTo>
                  <a:pt x="576210" y="0"/>
                </a:lnTo>
                <a:lnTo>
                  <a:pt x="576210" y="636695"/>
                </a:lnTo>
                <a:lnTo>
                  <a:pt x="0" y="636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012179" y="8035622"/>
            <a:ext cx="730163" cy="756645"/>
          </a:xfrm>
          <a:custGeom>
            <a:avLst/>
            <a:gdLst/>
            <a:ahLst/>
            <a:cxnLst/>
            <a:rect l="l" t="t" r="r" b="b"/>
            <a:pathLst>
              <a:path w="730163" h="756645">
                <a:moveTo>
                  <a:pt x="0" y="0"/>
                </a:moveTo>
                <a:lnTo>
                  <a:pt x="730163" y="0"/>
                </a:lnTo>
                <a:lnTo>
                  <a:pt x="730163" y="756645"/>
                </a:lnTo>
                <a:lnTo>
                  <a:pt x="0" y="756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1829280" y="9180282"/>
            <a:ext cx="5107123" cy="971066"/>
            <a:chOff x="0" y="-19050"/>
            <a:chExt cx="942505" cy="1998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4614" cy="161708"/>
            </a:xfrm>
            <a:custGeom>
              <a:avLst/>
              <a:gdLst/>
              <a:ahLst/>
              <a:cxnLst/>
              <a:rect l="l" t="t" r="r" b="b"/>
              <a:pathLst>
                <a:path w="884614" h="161708">
                  <a:moveTo>
                    <a:pt x="35171" y="0"/>
                  </a:moveTo>
                  <a:lnTo>
                    <a:pt x="849443" y="0"/>
                  </a:lnTo>
                  <a:cubicBezTo>
                    <a:pt x="858771" y="0"/>
                    <a:pt x="867717" y="3706"/>
                    <a:pt x="874313" y="10301"/>
                  </a:cubicBezTo>
                  <a:cubicBezTo>
                    <a:pt x="880909" y="16897"/>
                    <a:pt x="884614" y="25843"/>
                    <a:pt x="884614" y="35171"/>
                  </a:cubicBezTo>
                  <a:lnTo>
                    <a:pt x="884614" y="126536"/>
                  </a:lnTo>
                  <a:cubicBezTo>
                    <a:pt x="884614" y="145961"/>
                    <a:pt x="868867" y="161708"/>
                    <a:pt x="849443" y="161708"/>
                  </a:cubicBezTo>
                  <a:lnTo>
                    <a:pt x="35171" y="161708"/>
                  </a:lnTo>
                  <a:cubicBezTo>
                    <a:pt x="15747" y="161708"/>
                    <a:pt x="0" y="145961"/>
                    <a:pt x="0" y="126536"/>
                  </a:cubicBezTo>
                  <a:lnTo>
                    <a:pt x="0" y="35171"/>
                  </a:lnTo>
                  <a:cubicBezTo>
                    <a:pt x="0" y="15747"/>
                    <a:pt x="15747" y="0"/>
                    <a:pt x="35171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57891" y="-19050"/>
              <a:ext cx="884614" cy="1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00"/>
                </a:lnSpc>
              </a:pPr>
              <a:r>
                <a:rPr lang="en-US" sz="2000" b="1" spc="-80" dirty="0">
                  <a:solidFill>
                    <a:srgbClr val="322D2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Familiar Microsoft 365 experience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0" y="1628181"/>
            <a:ext cx="3320239" cy="1006505"/>
            <a:chOff x="0" y="0"/>
            <a:chExt cx="683177" cy="207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3177" cy="207100"/>
            </a:xfrm>
            <a:custGeom>
              <a:avLst/>
              <a:gdLst/>
              <a:ahLst/>
              <a:cxnLst/>
              <a:rect l="l" t="t" r="r" b="b"/>
              <a:pathLst>
                <a:path w="683177" h="207100">
                  <a:moveTo>
                    <a:pt x="45542" y="0"/>
                  </a:moveTo>
                  <a:lnTo>
                    <a:pt x="637635" y="0"/>
                  </a:lnTo>
                  <a:cubicBezTo>
                    <a:pt x="662787" y="0"/>
                    <a:pt x="683177" y="20390"/>
                    <a:pt x="683177" y="45542"/>
                  </a:cubicBezTo>
                  <a:lnTo>
                    <a:pt x="683177" y="161558"/>
                  </a:lnTo>
                  <a:cubicBezTo>
                    <a:pt x="683177" y="186710"/>
                    <a:pt x="662787" y="207100"/>
                    <a:pt x="637635" y="207100"/>
                  </a:cubicBezTo>
                  <a:lnTo>
                    <a:pt x="45542" y="207100"/>
                  </a:lnTo>
                  <a:cubicBezTo>
                    <a:pt x="20390" y="207100"/>
                    <a:pt x="0" y="186710"/>
                    <a:pt x="0" y="161558"/>
                  </a:cubicBezTo>
                  <a:lnTo>
                    <a:pt x="0" y="45542"/>
                  </a:lnTo>
                  <a:cubicBezTo>
                    <a:pt x="0" y="20390"/>
                    <a:pt x="20390" y="0"/>
                    <a:pt x="45542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83177" cy="24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spc="-80">
                  <a:solidFill>
                    <a:srgbClr val="322D2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School-managed communities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948581" y="1657506"/>
            <a:ext cx="3320239" cy="1006505"/>
            <a:chOff x="0" y="0"/>
            <a:chExt cx="683177" cy="207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3177" cy="207100"/>
            </a:xfrm>
            <a:custGeom>
              <a:avLst/>
              <a:gdLst/>
              <a:ahLst/>
              <a:cxnLst/>
              <a:rect l="l" t="t" r="r" b="b"/>
              <a:pathLst>
                <a:path w="683177" h="207100">
                  <a:moveTo>
                    <a:pt x="45542" y="0"/>
                  </a:moveTo>
                  <a:lnTo>
                    <a:pt x="637635" y="0"/>
                  </a:lnTo>
                  <a:cubicBezTo>
                    <a:pt x="662787" y="0"/>
                    <a:pt x="683177" y="20390"/>
                    <a:pt x="683177" y="45542"/>
                  </a:cubicBezTo>
                  <a:lnTo>
                    <a:pt x="683177" y="161558"/>
                  </a:lnTo>
                  <a:cubicBezTo>
                    <a:pt x="683177" y="186710"/>
                    <a:pt x="662787" y="207100"/>
                    <a:pt x="637635" y="207100"/>
                  </a:cubicBezTo>
                  <a:lnTo>
                    <a:pt x="45542" y="207100"/>
                  </a:lnTo>
                  <a:cubicBezTo>
                    <a:pt x="20390" y="207100"/>
                    <a:pt x="0" y="186710"/>
                    <a:pt x="0" y="161558"/>
                  </a:cubicBezTo>
                  <a:lnTo>
                    <a:pt x="0" y="45542"/>
                  </a:lnTo>
                  <a:cubicBezTo>
                    <a:pt x="0" y="20390"/>
                    <a:pt x="20390" y="0"/>
                    <a:pt x="45542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83177" cy="24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spc="-80">
                  <a:solidFill>
                    <a:srgbClr val="322D2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Events and activities in one place</a:t>
              </a:r>
            </a:p>
          </p:txBody>
        </p:sp>
      </p:grpSp>
      <p:sp>
        <p:nvSpPr>
          <p:cNvPr id="24" name="Freeform 24"/>
          <p:cNvSpPr/>
          <p:nvPr/>
        </p:nvSpPr>
        <p:spPr>
          <a:xfrm rot="-1592523">
            <a:off x="9732736" y="2748059"/>
            <a:ext cx="752723" cy="1344148"/>
          </a:xfrm>
          <a:custGeom>
            <a:avLst/>
            <a:gdLst/>
            <a:ahLst/>
            <a:cxnLst/>
            <a:rect l="l" t="t" r="r" b="b"/>
            <a:pathLst>
              <a:path w="752723" h="1344148">
                <a:moveTo>
                  <a:pt x="0" y="0"/>
                </a:moveTo>
                <a:lnTo>
                  <a:pt x="752723" y="0"/>
                </a:lnTo>
                <a:lnTo>
                  <a:pt x="752723" y="1344149"/>
                </a:lnTo>
                <a:lnTo>
                  <a:pt x="0" y="13441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678501" y="2006036"/>
            <a:ext cx="4063841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VIVA ENGAGE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8501" y="796430"/>
            <a:ext cx="5484832" cy="47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3998" b="1" spc="-238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TECHNOLOGY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891904" y="1038321"/>
            <a:ext cx="1376916" cy="303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159"/>
              </a:lnSpc>
            </a:pPr>
            <a:r>
              <a:rPr lang="en-US" sz="2399" spc="-143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1152" y="3234761"/>
            <a:ext cx="9107198" cy="233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front door to after-school opportunities.</a:t>
            </a:r>
          </a:p>
          <a:p>
            <a:pPr algn="l">
              <a:lnSpc>
                <a:spcPts val="4500"/>
              </a:lnSpc>
            </a:pPr>
            <a:endParaRPr lang="en-US" sz="5000" b="1" spc="-300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430"/>
              </a:lnSpc>
            </a:pPr>
            <a:r>
              <a:rPr lang="en-US" sz="2700" spc="-16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A familiar , school-managed space where students can discover activities, connect with peers and stay informed.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1801" y="5915097"/>
            <a:ext cx="276593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8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Discover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See upcoming activites, events and opportuniities in one place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1801" y="8103643"/>
            <a:ext cx="276593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8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Stay informed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Get updates and reminders through a familiar Microsoft 365 experience.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26067" y="5963208"/>
            <a:ext cx="276593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8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Connect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Engage with peers, school groups and community organisations.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26067" y="8103643"/>
            <a:ext cx="2765933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8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Safe and trusted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Moderated by schools, with approved hosts and content</a:t>
            </a:r>
          </a:p>
        </p:txBody>
      </p:sp>
      <p:sp>
        <p:nvSpPr>
          <p:cNvPr id="33" name="Freeform 33"/>
          <p:cNvSpPr/>
          <p:nvPr/>
        </p:nvSpPr>
        <p:spPr>
          <a:xfrm rot="333076" flipH="1">
            <a:off x="17322549" y="2350290"/>
            <a:ext cx="752723" cy="1344148"/>
          </a:xfrm>
          <a:custGeom>
            <a:avLst/>
            <a:gdLst/>
            <a:ahLst/>
            <a:cxnLst/>
            <a:rect l="l" t="t" r="r" b="b"/>
            <a:pathLst>
              <a:path w="752723" h="1344148">
                <a:moveTo>
                  <a:pt x="752723" y="0"/>
                </a:moveTo>
                <a:lnTo>
                  <a:pt x="0" y="0"/>
                </a:lnTo>
                <a:lnTo>
                  <a:pt x="0" y="1344148"/>
                </a:lnTo>
                <a:lnTo>
                  <a:pt x="752723" y="1344148"/>
                </a:lnTo>
                <a:lnTo>
                  <a:pt x="752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1592523" flipV="1">
            <a:off x="10827559" y="8690635"/>
            <a:ext cx="652098" cy="1164460"/>
          </a:xfrm>
          <a:custGeom>
            <a:avLst/>
            <a:gdLst/>
            <a:ahLst/>
            <a:cxnLst/>
            <a:rect l="l" t="t" r="r" b="b"/>
            <a:pathLst>
              <a:path w="652098" h="1164460">
                <a:moveTo>
                  <a:pt x="0" y="1164461"/>
                </a:moveTo>
                <a:lnTo>
                  <a:pt x="652098" y="1164461"/>
                </a:lnTo>
                <a:lnTo>
                  <a:pt x="652098" y="0"/>
                </a:lnTo>
                <a:lnTo>
                  <a:pt x="0" y="0"/>
                </a:lnTo>
                <a:lnTo>
                  <a:pt x="0" y="11644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1291278" y="6049880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rot="4020">
            <a:off x="1019165" y="1377410"/>
            <a:ext cx="1624966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7774853" y="9386888"/>
            <a:ext cx="2064544" cy="37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02 / PARTICIPATE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90462" y="9391650"/>
            <a:ext cx="1513999" cy="37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03 / RETURN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69798"/>
            <a:ext cx="1607849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ONE AFTERNOON. A REASON TO SHOW UP AGAIN.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5740" y="852478"/>
            <a:ext cx="5358459" cy="500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b="1" spc="-238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HOW IT WORKS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84510" y="1000125"/>
            <a:ext cx="1174790" cy="27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69"/>
              </a:lnSpc>
            </a:pPr>
            <a:r>
              <a:rPr lang="en-US" sz="2299" spc="-137">
                <a:solidFill>
                  <a:srgbClr val="000000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84760" y="9391650"/>
            <a:ext cx="1739027" cy="37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01 / DISCOVER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32717" y="9847231"/>
            <a:ext cx="4148976" cy="40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599" spc="-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(n.d.-e).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57397" y="3117522"/>
            <a:ext cx="2793753" cy="6140778"/>
          </a:xfrm>
          <a:custGeom>
            <a:avLst/>
            <a:gdLst/>
            <a:ahLst/>
            <a:cxnLst/>
            <a:rect l="l" t="t" r="r" b="b"/>
            <a:pathLst>
              <a:path w="2793753" h="6140778">
                <a:moveTo>
                  <a:pt x="0" y="0"/>
                </a:moveTo>
                <a:lnTo>
                  <a:pt x="2793753" y="0"/>
                </a:lnTo>
                <a:lnTo>
                  <a:pt x="2793753" y="6140778"/>
                </a:lnTo>
                <a:lnTo>
                  <a:pt x="0" y="6140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1" t="-3237" r="-293148" b="-751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50429" y="2946072"/>
            <a:ext cx="4607689" cy="6312228"/>
          </a:xfrm>
          <a:custGeom>
            <a:avLst/>
            <a:gdLst/>
            <a:ahLst/>
            <a:cxnLst/>
            <a:rect l="l" t="t" r="r" b="b"/>
            <a:pathLst>
              <a:path w="4607689" h="6312228">
                <a:moveTo>
                  <a:pt x="0" y="0"/>
                </a:moveTo>
                <a:lnTo>
                  <a:pt x="4607689" y="0"/>
                </a:lnTo>
                <a:lnTo>
                  <a:pt x="4607689" y="6312228"/>
                </a:lnTo>
                <a:lnTo>
                  <a:pt x="0" y="6312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4" r="-58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282456" y="3092156"/>
            <a:ext cx="2913940" cy="6031470"/>
          </a:xfrm>
          <a:custGeom>
            <a:avLst/>
            <a:gdLst/>
            <a:ahLst/>
            <a:cxnLst/>
            <a:rect l="l" t="t" r="r" b="b"/>
            <a:pathLst>
              <a:path w="2913940" h="6031470">
                <a:moveTo>
                  <a:pt x="0" y="0"/>
                </a:moveTo>
                <a:lnTo>
                  <a:pt x="2913939" y="0"/>
                </a:lnTo>
                <a:lnTo>
                  <a:pt x="2913939" y="6031471"/>
                </a:lnTo>
                <a:lnTo>
                  <a:pt x="0" y="6031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4043" t="-3723" r="-152463" b="-946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091668" y="2941310"/>
            <a:ext cx="3952559" cy="6312228"/>
          </a:xfrm>
          <a:custGeom>
            <a:avLst/>
            <a:gdLst/>
            <a:ahLst/>
            <a:cxnLst/>
            <a:rect l="l" t="t" r="r" b="b"/>
            <a:pathLst>
              <a:path w="3952559" h="6312228">
                <a:moveTo>
                  <a:pt x="0" y="0"/>
                </a:moveTo>
                <a:lnTo>
                  <a:pt x="3952559" y="0"/>
                </a:lnTo>
                <a:lnTo>
                  <a:pt x="3952559" y="6312228"/>
                </a:lnTo>
                <a:lnTo>
                  <a:pt x="0" y="6312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097" r="-67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041333" y="3072805"/>
            <a:ext cx="2812256" cy="6050822"/>
          </a:xfrm>
          <a:custGeom>
            <a:avLst/>
            <a:gdLst/>
            <a:ahLst/>
            <a:cxnLst/>
            <a:rect l="l" t="t" r="r" b="b"/>
            <a:pathLst>
              <a:path w="2812256" h="6050822">
                <a:moveTo>
                  <a:pt x="0" y="0"/>
                </a:moveTo>
                <a:lnTo>
                  <a:pt x="2812256" y="0"/>
                </a:lnTo>
                <a:lnTo>
                  <a:pt x="2812256" y="6050822"/>
                </a:lnTo>
                <a:lnTo>
                  <a:pt x="0" y="60508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511" t="-1796" r="-29257" b="-9775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778949" y="3001210"/>
            <a:ext cx="4030948" cy="6312228"/>
          </a:xfrm>
          <a:custGeom>
            <a:avLst/>
            <a:gdLst/>
            <a:ahLst/>
            <a:cxnLst/>
            <a:rect l="l" t="t" r="r" b="b"/>
            <a:pathLst>
              <a:path w="4030948" h="6312228">
                <a:moveTo>
                  <a:pt x="0" y="0"/>
                </a:moveTo>
                <a:lnTo>
                  <a:pt x="4030948" y="0"/>
                </a:lnTo>
                <a:lnTo>
                  <a:pt x="4030948" y="6312229"/>
                </a:lnTo>
                <a:lnTo>
                  <a:pt x="0" y="6312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81" r="-66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61377" y="737228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4" y="0"/>
                </a:lnTo>
                <a:lnTo>
                  <a:pt x="490424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1291278" y="6049880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rot="4020">
            <a:off x="1019165" y="1377410"/>
            <a:ext cx="1624966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85770" y="2317876"/>
            <a:ext cx="2916536" cy="1601524"/>
            <a:chOff x="0" y="0"/>
            <a:chExt cx="3888715" cy="21353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8715" cy="2135365"/>
            </a:xfrm>
            <a:custGeom>
              <a:avLst/>
              <a:gdLst/>
              <a:ahLst/>
              <a:cxnLst/>
              <a:rect l="l" t="t" r="r" b="b"/>
              <a:pathLst>
                <a:path w="3888715" h="2135365">
                  <a:moveTo>
                    <a:pt x="0" y="0"/>
                  </a:moveTo>
                  <a:lnTo>
                    <a:pt x="3888715" y="0"/>
                  </a:lnTo>
                  <a:lnTo>
                    <a:pt x="3888715" y="2135365"/>
                  </a:lnTo>
                  <a:lnTo>
                    <a:pt x="0" y="2135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67714" y="326832"/>
              <a:ext cx="2965540" cy="1379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spc="-7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SAME DAY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spc="-7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+10 Torch Points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spc="-7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Verified session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5308570" y="2293991"/>
            <a:ext cx="2916536" cy="1601524"/>
          </a:xfrm>
          <a:custGeom>
            <a:avLst/>
            <a:gdLst/>
            <a:ahLst/>
            <a:cxnLst/>
            <a:rect l="l" t="t" r="r" b="b"/>
            <a:pathLst>
              <a:path w="2916536" h="1601524">
                <a:moveTo>
                  <a:pt x="0" y="0"/>
                </a:moveTo>
                <a:lnTo>
                  <a:pt x="2916535" y="0"/>
                </a:lnTo>
                <a:lnTo>
                  <a:pt x="2916535" y="1601524"/>
                </a:lnTo>
                <a:lnTo>
                  <a:pt x="0" y="1601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16806" y="2447996"/>
            <a:ext cx="2100062" cy="114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000" b="1" spc="-8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SAME WEEK</a:t>
            </a:r>
          </a:p>
          <a:p>
            <a:pPr algn="ctr">
              <a:lnSpc>
                <a:spcPts val="2944"/>
              </a:lnSpc>
            </a:pPr>
            <a:r>
              <a:rPr lang="en-US" sz="2000" spc="-8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Local voucher</a:t>
            </a:r>
          </a:p>
          <a:p>
            <a:pPr algn="ctr">
              <a:lnSpc>
                <a:spcPts val="2944"/>
              </a:lnSpc>
            </a:pPr>
            <a:r>
              <a:rPr lang="en-US" sz="2000" spc="-8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Return incentive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79163" y="2306342"/>
            <a:ext cx="2916536" cy="1601524"/>
            <a:chOff x="0" y="0"/>
            <a:chExt cx="3888715" cy="21353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88715" cy="2135365"/>
            </a:xfrm>
            <a:custGeom>
              <a:avLst/>
              <a:gdLst/>
              <a:ahLst/>
              <a:cxnLst/>
              <a:rect l="l" t="t" r="r" b="b"/>
              <a:pathLst>
                <a:path w="3888715" h="2135365">
                  <a:moveTo>
                    <a:pt x="0" y="0"/>
                  </a:moveTo>
                  <a:lnTo>
                    <a:pt x="3888715" y="0"/>
                  </a:lnTo>
                  <a:lnTo>
                    <a:pt x="3888715" y="2135365"/>
                  </a:lnTo>
                  <a:lnTo>
                    <a:pt x="0" y="2135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90925" y="207624"/>
              <a:ext cx="3506864" cy="1852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2"/>
                </a:lnSpc>
              </a:pPr>
              <a:r>
                <a:rPr lang="en-US" sz="1944" b="1" spc="-76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EACH TERM</a:t>
              </a:r>
            </a:p>
            <a:p>
              <a:pPr algn="ctr">
                <a:lnSpc>
                  <a:spcPts val="2722"/>
                </a:lnSpc>
              </a:pPr>
              <a:r>
                <a:rPr lang="en-US" sz="1944" spc="-7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Group rewards</a:t>
              </a:r>
            </a:p>
            <a:p>
              <a:pPr algn="ctr">
                <a:lnSpc>
                  <a:spcPts val="2722"/>
                </a:lnSpc>
              </a:pPr>
              <a:r>
                <a:rPr lang="en-US" sz="1944" spc="-7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Consistent participation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86726" y="2293991"/>
            <a:ext cx="2916536" cy="1601524"/>
            <a:chOff x="0" y="0"/>
            <a:chExt cx="3888715" cy="21353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88715" cy="2135365"/>
            </a:xfrm>
            <a:custGeom>
              <a:avLst/>
              <a:gdLst/>
              <a:ahLst/>
              <a:cxnLst/>
              <a:rect l="l" t="t" r="r" b="b"/>
              <a:pathLst>
                <a:path w="3888715" h="2135365">
                  <a:moveTo>
                    <a:pt x="0" y="0"/>
                  </a:moveTo>
                  <a:lnTo>
                    <a:pt x="3888715" y="0"/>
                  </a:lnTo>
                  <a:lnTo>
                    <a:pt x="3888715" y="2135365"/>
                  </a:lnTo>
                  <a:lnTo>
                    <a:pt x="0" y="2135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93795" y="213679"/>
              <a:ext cx="3301124" cy="1743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85"/>
                </a:lnSpc>
              </a:pPr>
              <a:r>
                <a:rPr lang="en-US" sz="1845" b="1" spc="-72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LONG TERM</a:t>
              </a:r>
            </a:p>
            <a:p>
              <a:pPr algn="ctr">
                <a:lnSpc>
                  <a:spcPts val="2585"/>
                </a:lnSpc>
              </a:pPr>
              <a:r>
                <a:rPr lang="en-US" sz="1845" spc="-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Youth Champion</a:t>
              </a:r>
            </a:p>
            <a:p>
              <a:pPr algn="ctr">
                <a:lnSpc>
                  <a:spcPts val="2585"/>
                </a:lnSpc>
              </a:pPr>
              <a:r>
                <a:rPr lang="en-US" sz="1845" spc="-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Leadership opportunity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45547" y="4453701"/>
            <a:ext cx="4490132" cy="4490132"/>
          </a:xfrm>
          <a:custGeom>
            <a:avLst/>
            <a:gdLst/>
            <a:ahLst/>
            <a:cxnLst/>
            <a:rect l="l" t="t" r="r" b="b"/>
            <a:pathLst>
              <a:path w="4490132" h="4490132">
                <a:moveTo>
                  <a:pt x="0" y="0"/>
                </a:moveTo>
                <a:lnTo>
                  <a:pt x="4490131" y="0"/>
                </a:lnTo>
                <a:lnTo>
                  <a:pt x="4490131" y="4490131"/>
                </a:lnTo>
                <a:lnTo>
                  <a:pt x="0" y="4490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735678" y="4453701"/>
            <a:ext cx="4278411" cy="4278411"/>
          </a:xfrm>
          <a:custGeom>
            <a:avLst/>
            <a:gdLst/>
            <a:ahLst/>
            <a:cxnLst/>
            <a:rect l="l" t="t" r="r" b="b"/>
            <a:pathLst>
              <a:path w="4278411" h="4278411">
                <a:moveTo>
                  <a:pt x="0" y="0"/>
                </a:moveTo>
                <a:lnTo>
                  <a:pt x="4278411" y="0"/>
                </a:lnTo>
                <a:lnTo>
                  <a:pt x="4278411" y="4278411"/>
                </a:lnTo>
                <a:lnTo>
                  <a:pt x="0" y="4278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4735678" y="2123554"/>
            <a:ext cx="0" cy="726673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9296337" y="2123530"/>
            <a:ext cx="34433" cy="726676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H="1">
            <a:off x="13938649" y="2123554"/>
            <a:ext cx="19050" cy="746999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9616520" y="4827325"/>
            <a:ext cx="3742882" cy="3742882"/>
          </a:xfrm>
          <a:custGeom>
            <a:avLst/>
            <a:gdLst/>
            <a:ahLst/>
            <a:cxnLst/>
            <a:rect l="l" t="t" r="r" b="b"/>
            <a:pathLst>
              <a:path w="3742882" h="3742882">
                <a:moveTo>
                  <a:pt x="0" y="0"/>
                </a:moveTo>
                <a:lnTo>
                  <a:pt x="3742882" y="0"/>
                </a:lnTo>
                <a:lnTo>
                  <a:pt x="3742882" y="3742882"/>
                </a:lnTo>
                <a:lnTo>
                  <a:pt x="0" y="3742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427277" y="5015787"/>
            <a:ext cx="3457254" cy="3457254"/>
          </a:xfrm>
          <a:custGeom>
            <a:avLst/>
            <a:gdLst/>
            <a:ahLst/>
            <a:cxnLst/>
            <a:rect l="l" t="t" r="r" b="b"/>
            <a:pathLst>
              <a:path w="3457254" h="3457254">
                <a:moveTo>
                  <a:pt x="0" y="0"/>
                </a:moveTo>
                <a:lnTo>
                  <a:pt x="3457254" y="0"/>
                </a:lnTo>
                <a:lnTo>
                  <a:pt x="3457254" y="3457254"/>
                </a:lnTo>
                <a:lnTo>
                  <a:pt x="0" y="345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26192" y="801986"/>
            <a:ext cx="4417408" cy="500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b="1" spc="-238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HOW IT WORKS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084510" y="1000125"/>
            <a:ext cx="1174790" cy="27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69"/>
              </a:lnSpc>
            </a:pPr>
            <a:r>
              <a:rPr lang="en-US" sz="2299" spc="-137">
                <a:solidFill>
                  <a:srgbClr val="000000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32717" y="9847231"/>
            <a:ext cx="4148976" cy="40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599" spc="-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(n.d.-e).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6905" y="1667568"/>
            <a:ext cx="4119229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2598" b="1" spc="-154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THE REWARD PATHWAY</a:t>
            </a:r>
          </a:p>
        </p:txBody>
      </p:sp>
      <p:sp>
        <p:nvSpPr>
          <p:cNvPr id="29" name="Freeform 29"/>
          <p:cNvSpPr/>
          <p:nvPr/>
        </p:nvSpPr>
        <p:spPr>
          <a:xfrm>
            <a:off x="961377" y="737228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4" y="0"/>
                </a:lnTo>
                <a:lnTo>
                  <a:pt x="490424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028700" y="3176378"/>
            <a:ext cx="3412627" cy="5317836"/>
          </a:xfrm>
          <a:custGeom>
            <a:avLst/>
            <a:gdLst/>
            <a:ahLst/>
            <a:cxnLst/>
            <a:rect l="l" t="t" r="r" b="b"/>
            <a:pathLst>
              <a:path w="3412627" h="5317836">
                <a:moveTo>
                  <a:pt x="0" y="0"/>
                </a:moveTo>
                <a:lnTo>
                  <a:pt x="3412627" y="0"/>
                </a:lnTo>
                <a:lnTo>
                  <a:pt x="3412627" y="5317836"/>
                </a:lnTo>
                <a:lnTo>
                  <a:pt x="0" y="5317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00751" y="3176378"/>
            <a:ext cx="3412627" cy="5317836"/>
          </a:xfrm>
          <a:custGeom>
            <a:avLst/>
            <a:gdLst/>
            <a:ahLst/>
            <a:cxnLst/>
            <a:rect l="l" t="t" r="r" b="b"/>
            <a:pathLst>
              <a:path w="3412627" h="5317836">
                <a:moveTo>
                  <a:pt x="0" y="0"/>
                </a:moveTo>
                <a:lnTo>
                  <a:pt x="3412627" y="0"/>
                </a:lnTo>
                <a:lnTo>
                  <a:pt x="3412627" y="5317836"/>
                </a:lnTo>
                <a:lnTo>
                  <a:pt x="0" y="5317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162857" y="3176378"/>
            <a:ext cx="3412627" cy="5317836"/>
          </a:xfrm>
          <a:custGeom>
            <a:avLst/>
            <a:gdLst/>
            <a:ahLst/>
            <a:cxnLst/>
            <a:rect l="l" t="t" r="r" b="b"/>
            <a:pathLst>
              <a:path w="3412627" h="5317836">
                <a:moveTo>
                  <a:pt x="0" y="0"/>
                </a:moveTo>
                <a:lnTo>
                  <a:pt x="3412627" y="0"/>
                </a:lnTo>
                <a:lnTo>
                  <a:pt x="3412627" y="5317836"/>
                </a:lnTo>
                <a:lnTo>
                  <a:pt x="0" y="5317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3781" y="3259826"/>
            <a:ext cx="2112493" cy="745065"/>
          </a:xfrm>
          <a:custGeom>
            <a:avLst/>
            <a:gdLst/>
            <a:ahLst/>
            <a:cxnLst/>
            <a:rect l="l" t="t" r="r" b="b"/>
            <a:pathLst>
              <a:path w="2112493" h="745065">
                <a:moveTo>
                  <a:pt x="0" y="0"/>
                </a:moveTo>
                <a:lnTo>
                  <a:pt x="2112493" y="0"/>
                </a:lnTo>
                <a:lnTo>
                  <a:pt x="2112493" y="745065"/>
                </a:lnTo>
                <a:lnTo>
                  <a:pt x="0" y="745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68468" y="3344947"/>
            <a:ext cx="3362877" cy="444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6"/>
              </a:lnSpc>
            </a:pPr>
            <a:r>
              <a:rPr lang="en-US" sz="2391" b="1" spc="-94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1. DISCOVER</a:t>
            </a:r>
          </a:p>
          <a:p>
            <a:pPr algn="l">
              <a:lnSpc>
                <a:spcPts val="2909"/>
              </a:lnSpc>
            </a:pPr>
            <a:r>
              <a:rPr lang="en-US" sz="2079" b="1" spc="-82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front door</a:t>
            </a:r>
          </a:p>
          <a:p>
            <a:pPr algn="l">
              <a:lnSpc>
                <a:spcPts val="2909"/>
              </a:lnSpc>
            </a:pPr>
            <a:endParaRPr lang="en-US" sz="2079" b="1" spc="-82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909"/>
              </a:lnSpc>
            </a:pPr>
            <a:r>
              <a:rPr lang="en-US" sz="2079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Viva Engage</a:t>
            </a:r>
          </a:p>
          <a:p>
            <a:pPr algn="l">
              <a:lnSpc>
                <a:spcPts val="2909"/>
              </a:lnSpc>
            </a:pPr>
            <a:r>
              <a:rPr lang="en-US" sz="2079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Microsoft Teams</a:t>
            </a:r>
          </a:p>
          <a:p>
            <a:pPr algn="l">
              <a:lnSpc>
                <a:spcPts val="2909"/>
              </a:lnSpc>
            </a:pPr>
            <a:endParaRPr lang="en-US" sz="2079" spc="-82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09"/>
              </a:lnSpc>
            </a:pPr>
            <a:endParaRPr lang="en-US" sz="2079" spc="-82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09"/>
              </a:lnSpc>
            </a:pPr>
            <a:endParaRPr lang="en-US" sz="2079" spc="-82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09"/>
              </a:lnSpc>
            </a:pPr>
            <a:r>
              <a:rPr lang="en-US" sz="2079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Find activities through school-managed Microsoft 365</a:t>
            </a:r>
          </a:p>
        </p:txBody>
      </p:sp>
      <p:sp>
        <p:nvSpPr>
          <p:cNvPr id="11" name="Freeform 11"/>
          <p:cNvSpPr/>
          <p:nvPr/>
        </p:nvSpPr>
        <p:spPr>
          <a:xfrm>
            <a:off x="7269023" y="3285192"/>
            <a:ext cx="2581075" cy="745065"/>
          </a:xfrm>
          <a:custGeom>
            <a:avLst/>
            <a:gdLst/>
            <a:ahLst/>
            <a:cxnLst/>
            <a:rect l="l" t="t" r="r" b="b"/>
            <a:pathLst>
              <a:path w="2581075" h="745065">
                <a:moveTo>
                  <a:pt x="0" y="0"/>
                </a:moveTo>
                <a:lnTo>
                  <a:pt x="2581075" y="0"/>
                </a:lnTo>
                <a:lnTo>
                  <a:pt x="2581075" y="745064"/>
                </a:lnTo>
                <a:lnTo>
                  <a:pt x="0" y="745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62818" y="3432229"/>
            <a:ext cx="3306461" cy="46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2376" b="1" spc="-9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2. PARTICIPATE</a:t>
            </a:r>
          </a:p>
          <a:p>
            <a:pPr algn="l">
              <a:lnSpc>
                <a:spcPts val="2892"/>
              </a:lnSpc>
            </a:pPr>
            <a:r>
              <a:rPr lang="en-US" sz="2066" b="1" spc="-82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engine</a:t>
            </a:r>
          </a:p>
          <a:p>
            <a:pPr algn="l">
              <a:lnSpc>
                <a:spcPts val="2892"/>
              </a:lnSpc>
            </a:pPr>
            <a:endParaRPr lang="en-US" sz="2066" b="1" spc="-82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92"/>
              </a:lnSpc>
            </a:pPr>
            <a:r>
              <a:rPr lang="en-US" sz="2066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Power Apps </a:t>
            </a:r>
          </a:p>
          <a:p>
            <a:pPr algn="l">
              <a:lnSpc>
                <a:spcPts val="2892"/>
              </a:lnSpc>
            </a:pPr>
            <a:r>
              <a:rPr lang="en-US" sz="2066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+ Dataverse</a:t>
            </a:r>
          </a:p>
          <a:p>
            <a:pPr algn="l">
              <a:lnSpc>
                <a:spcPts val="2892"/>
              </a:lnSpc>
            </a:pPr>
            <a:r>
              <a:rPr lang="en-US" sz="2066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Power Automate </a:t>
            </a:r>
          </a:p>
          <a:p>
            <a:pPr algn="l">
              <a:lnSpc>
                <a:spcPts val="2892"/>
              </a:lnSpc>
            </a:pPr>
            <a:r>
              <a:rPr lang="en-US" sz="2066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+ Pages</a:t>
            </a:r>
          </a:p>
          <a:p>
            <a:pPr algn="l">
              <a:lnSpc>
                <a:spcPts val="2892"/>
              </a:lnSpc>
            </a:pPr>
            <a:endParaRPr lang="en-US" sz="2066" spc="-82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92"/>
              </a:lnSpc>
            </a:pPr>
            <a:endParaRPr lang="en-US" sz="2066" spc="-82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92"/>
              </a:lnSpc>
            </a:pPr>
            <a:r>
              <a:rPr lang="en-US" sz="2066" spc="-8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Register, verify attendance and award points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498204" y="3259826"/>
            <a:ext cx="1834648" cy="745065"/>
          </a:xfrm>
          <a:custGeom>
            <a:avLst/>
            <a:gdLst/>
            <a:ahLst/>
            <a:cxnLst/>
            <a:rect l="l" t="t" r="r" b="b"/>
            <a:pathLst>
              <a:path w="1834648" h="745065">
                <a:moveTo>
                  <a:pt x="0" y="0"/>
                </a:moveTo>
                <a:lnTo>
                  <a:pt x="1834648" y="0"/>
                </a:lnTo>
                <a:lnTo>
                  <a:pt x="1834648" y="745065"/>
                </a:lnTo>
                <a:lnTo>
                  <a:pt x="0" y="745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593454" y="3346504"/>
            <a:ext cx="3139869" cy="473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sz="2472" b="1" spc="-97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3. GOVERN</a:t>
            </a:r>
          </a:p>
          <a:p>
            <a:pPr algn="l">
              <a:lnSpc>
                <a:spcPts val="3009"/>
              </a:lnSpc>
            </a:pPr>
            <a:r>
              <a:rPr lang="en-US" sz="2148" b="1" spc="-84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oversight</a:t>
            </a:r>
          </a:p>
          <a:p>
            <a:pPr algn="l">
              <a:lnSpc>
                <a:spcPts val="3009"/>
              </a:lnSpc>
            </a:pPr>
            <a:endParaRPr lang="en-US" sz="2148" b="1" spc="-84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009"/>
              </a:lnSpc>
            </a:pPr>
            <a:r>
              <a:rPr lang="en-US" sz="2148" spc="-84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Power BI + Purview</a:t>
            </a:r>
          </a:p>
          <a:p>
            <a:pPr algn="l">
              <a:lnSpc>
                <a:spcPts val="3009"/>
              </a:lnSpc>
            </a:pPr>
            <a:r>
              <a:rPr lang="en-US" sz="2148" spc="-84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Copilot Studio (proposed)</a:t>
            </a:r>
          </a:p>
          <a:p>
            <a:pPr algn="l">
              <a:lnSpc>
                <a:spcPts val="3009"/>
              </a:lnSpc>
            </a:pPr>
            <a:endParaRPr lang="en-US" sz="2148" spc="-84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09"/>
              </a:lnSpc>
            </a:pPr>
            <a:endParaRPr lang="en-US" sz="2148" spc="-84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09"/>
              </a:lnSpc>
            </a:pPr>
            <a:r>
              <a:rPr lang="en-US" sz="2148" spc="-84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Aggregate reporting, moderation and guided support</a:t>
            </a:r>
          </a:p>
        </p:txBody>
      </p:sp>
      <p:sp>
        <p:nvSpPr>
          <p:cNvPr id="15" name="AutoShape 15"/>
          <p:cNvSpPr/>
          <p:nvPr/>
        </p:nvSpPr>
        <p:spPr>
          <a:xfrm rot="-22260">
            <a:off x="1197045" y="6379550"/>
            <a:ext cx="2945197" cy="0"/>
          </a:xfrm>
          <a:prstGeom prst="line">
            <a:avLst/>
          </a:prstGeom>
          <a:ln w="19050" cap="rnd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-22260">
            <a:off x="13680986" y="6398600"/>
            <a:ext cx="2945197" cy="0"/>
          </a:xfrm>
          <a:prstGeom prst="line">
            <a:avLst/>
          </a:prstGeom>
          <a:ln w="19050" cap="rnd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-22260">
            <a:off x="7449655" y="6389075"/>
            <a:ext cx="2945197" cy="0"/>
          </a:xfrm>
          <a:prstGeom prst="line">
            <a:avLst/>
          </a:prstGeom>
          <a:ln w="19050" cap="rnd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161582" y="8581939"/>
            <a:ext cx="11126381" cy="1360694"/>
          </a:xfrm>
          <a:custGeom>
            <a:avLst/>
            <a:gdLst/>
            <a:ahLst/>
            <a:cxnLst/>
            <a:rect l="l" t="t" r="r" b="b"/>
            <a:pathLst>
              <a:path w="11126381" h="1360694">
                <a:moveTo>
                  <a:pt x="0" y="0"/>
                </a:moveTo>
                <a:lnTo>
                  <a:pt x="11126381" y="0"/>
                </a:lnTo>
                <a:lnTo>
                  <a:pt x="11126381" y="1360694"/>
                </a:lnTo>
                <a:lnTo>
                  <a:pt x="0" y="1360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511313" y="5356993"/>
            <a:ext cx="873995" cy="873995"/>
            <a:chOff x="0" y="0"/>
            <a:chExt cx="1165327" cy="116532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65352" cy="1165352"/>
            </a:xfrm>
            <a:custGeom>
              <a:avLst/>
              <a:gdLst/>
              <a:ahLst/>
              <a:cxnLst/>
              <a:rect l="l" t="t" r="r" b="b"/>
              <a:pathLst>
                <a:path w="1165352" h="1165352">
                  <a:moveTo>
                    <a:pt x="0" y="0"/>
                  </a:moveTo>
                  <a:lnTo>
                    <a:pt x="1165352" y="0"/>
                  </a:lnTo>
                  <a:lnTo>
                    <a:pt x="1165352" y="1165352"/>
                  </a:lnTo>
                  <a:lnTo>
                    <a:pt x="0" y="1165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5715326" y="5384635"/>
            <a:ext cx="901313" cy="901313"/>
            <a:chOff x="0" y="0"/>
            <a:chExt cx="1201750" cy="12017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01801" cy="1201801"/>
            </a:xfrm>
            <a:custGeom>
              <a:avLst/>
              <a:gdLst/>
              <a:ahLst/>
              <a:cxnLst/>
              <a:rect l="l" t="t" r="r" b="b"/>
              <a:pathLst>
                <a:path w="1201801" h="1201801">
                  <a:moveTo>
                    <a:pt x="0" y="0"/>
                  </a:moveTo>
                  <a:lnTo>
                    <a:pt x="1201801" y="0"/>
                  </a:lnTo>
                  <a:lnTo>
                    <a:pt x="1201801" y="1201801"/>
                  </a:lnTo>
                  <a:lnTo>
                    <a:pt x="0" y="1201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4" b="4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3110027" y="5219424"/>
            <a:ext cx="1331300" cy="873995"/>
            <a:chOff x="0" y="0"/>
            <a:chExt cx="1775066" cy="116532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75079" cy="1165352"/>
            </a:xfrm>
            <a:custGeom>
              <a:avLst/>
              <a:gdLst/>
              <a:ahLst/>
              <a:cxnLst/>
              <a:rect l="l" t="t" r="r" b="b"/>
              <a:pathLst>
                <a:path w="1775079" h="1165352">
                  <a:moveTo>
                    <a:pt x="0" y="0"/>
                  </a:moveTo>
                  <a:lnTo>
                    <a:pt x="1775079" y="0"/>
                  </a:lnTo>
                  <a:lnTo>
                    <a:pt x="1775079" y="1165352"/>
                  </a:lnTo>
                  <a:lnTo>
                    <a:pt x="0" y="1165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6778" r="-6777" b="2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0" y="1524800"/>
            <a:ext cx="14897100" cy="96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spc="-200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Built on technology schools already use.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2128" y="2475424"/>
            <a:ext cx="8973226" cy="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One connected Microsoft ecosystem. Three jobs to solve.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4800" y="8776668"/>
            <a:ext cx="10461784" cy="47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Existing school sign-in + configurable tools + measurable participation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72600" y="9807683"/>
            <a:ext cx="10749201" cy="39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599" spc="-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(n.d.-a, n.d.-c–f); Queensland Department of Education (2026).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61377" y="672605"/>
            <a:ext cx="16307454" cy="733357"/>
            <a:chOff x="0" y="0"/>
            <a:chExt cx="21743272" cy="977809"/>
          </a:xfrm>
        </p:grpSpPr>
        <p:sp>
          <p:nvSpPr>
            <p:cNvPr id="30" name="AutoShape 30"/>
            <p:cNvSpPr/>
            <p:nvPr/>
          </p:nvSpPr>
          <p:spPr>
            <a:xfrm>
              <a:off x="77059" y="939773"/>
              <a:ext cx="21666198" cy="25336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6165" y="123825"/>
              <a:ext cx="6187499" cy="676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8"/>
                </a:lnSpc>
              </a:pPr>
              <a:r>
                <a:rPr lang="en-US" sz="3998" b="1" spc="-238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THE TECHNOLOGY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000578" y="538453"/>
              <a:ext cx="2742679" cy="401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sz="2399" spc="-143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MICROSOFT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86165"/>
              <a:ext cx="653900" cy="627744"/>
            </a:xfrm>
            <a:custGeom>
              <a:avLst/>
              <a:gdLst/>
              <a:ahLst/>
              <a:cxnLst/>
              <a:rect l="l" t="t" r="r" b="b"/>
              <a:pathLst>
                <a:path w="653900" h="627744">
                  <a:moveTo>
                    <a:pt x="0" y="0"/>
                  </a:moveTo>
                  <a:lnTo>
                    <a:pt x="653900" y="0"/>
                  </a:lnTo>
                  <a:lnTo>
                    <a:pt x="653900" y="627743"/>
                  </a:lnTo>
                  <a:lnTo>
                    <a:pt x="0" y="627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238" y="3103369"/>
            <a:ext cx="7717365" cy="6191098"/>
          </a:xfrm>
          <a:custGeom>
            <a:avLst/>
            <a:gdLst/>
            <a:ahLst/>
            <a:cxnLst/>
            <a:rect l="l" t="t" r="r" b="b"/>
            <a:pathLst>
              <a:path w="7717365" h="6191098">
                <a:moveTo>
                  <a:pt x="0" y="0"/>
                </a:moveTo>
                <a:lnTo>
                  <a:pt x="7717365" y="0"/>
                </a:lnTo>
                <a:lnTo>
                  <a:pt x="7717365" y="6191097"/>
                </a:lnTo>
                <a:lnTo>
                  <a:pt x="0" y="6191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4" name="Freeform 4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479180">
            <a:off x="11010357" y="5926598"/>
            <a:ext cx="9707432" cy="6265707"/>
            <a:chOff x="0" y="0"/>
            <a:chExt cx="12943243" cy="83542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786985"/>
            <a:ext cx="1573542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5000" b="1" spc="-3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BEACON CONNECTS WHAT OTHERS DELIVER SEPARATELY.</a:t>
            </a:r>
          </a:p>
        </p:txBody>
      </p:sp>
      <p:sp>
        <p:nvSpPr>
          <p:cNvPr id="8" name="Freeform 8"/>
          <p:cNvSpPr/>
          <p:nvPr/>
        </p:nvSpPr>
        <p:spPr>
          <a:xfrm>
            <a:off x="5291204" y="3858139"/>
            <a:ext cx="1440513" cy="1450553"/>
          </a:xfrm>
          <a:custGeom>
            <a:avLst/>
            <a:gdLst/>
            <a:ahLst/>
            <a:cxnLst/>
            <a:rect l="l" t="t" r="r" b="b"/>
            <a:pathLst>
              <a:path w="1440513" h="1450553">
                <a:moveTo>
                  <a:pt x="0" y="0"/>
                </a:moveTo>
                <a:lnTo>
                  <a:pt x="1440514" y="0"/>
                </a:lnTo>
                <a:lnTo>
                  <a:pt x="1440514" y="1450553"/>
                </a:lnTo>
                <a:lnTo>
                  <a:pt x="0" y="1450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7644" y="5727344"/>
            <a:ext cx="1823666" cy="74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NARROWER</a:t>
            </a:r>
          </a:p>
          <a:p>
            <a:pPr algn="l">
              <a:lnSpc>
                <a:spcPts val="2800"/>
              </a:lnSpc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DISCOVERY              </a:t>
            </a:r>
          </a:p>
        </p:txBody>
      </p:sp>
      <p:sp>
        <p:nvSpPr>
          <p:cNvPr id="10" name="Freeform 10"/>
          <p:cNvSpPr/>
          <p:nvPr/>
        </p:nvSpPr>
        <p:spPr>
          <a:xfrm>
            <a:off x="9650778" y="6059976"/>
            <a:ext cx="6806327" cy="3035646"/>
          </a:xfrm>
          <a:custGeom>
            <a:avLst/>
            <a:gdLst/>
            <a:ahLst/>
            <a:cxnLst/>
            <a:rect l="l" t="t" r="r" b="b"/>
            <a:pathLst>
              <a:path w="6806327" h="3035646">
                <a:moveTo>
                  <a:pt x="0" y="0"/>
                </a:moveTo>
                <a:lnTo>
                  <a:pt x="6806326" y="0"/>
                </a:lnTo>
                <a:lnTo>
                  <a:pt x="6806326" y="3035647"/>
                </a:lnTo>
                <a:lnTo>
                  <a:pt x="0" y="3035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268386" y="2890037"/>
            <a:ext cx="2899334" cy="2712949"/>
          </a:xfrm>
          <a:custGeom>
            <a:avLst/>
            <a:gdLst/>
            <a:ahLst/>
            <a:cxnLst/>
            <a:rect l="l" t="t" r="r" b="b"/>
            <a:pathLst>
              <a:path w="2899334" h="2712949">
                <a:moveTo>
                  <a:pt x="0" y="0"/>
                </a:moveTo>
                <a:lnTo>
                  <a:pt x="2899334" y="0"/>
                </a:lnTo>
                <a:lnTo>
                  <a:pt x="2899334" y="2712949"/>
                </a:lnTo>
                <a:lnTo>
                  <a:pt x="0" y="2712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504638" y="2890037"/>
            <a:ext cx="3098597" cy="2712949"/>
          </a:xfrm>
          <a:custGeom>
            <a:avLst/>
            <a:gdLst/>
            <a:ahLst/>
            <a:cxnLst/>
            <a:rect l="l" t="t" r="r" b="b"/>
            <a:pathLst>
              <a:path w="3098597" h="2712949">
                <a:moveTo>
                  <a:pt x="0" y="0"/>
                </a:moveTo>
                <a:lnTo>
                  <a:pt x="3098597" y="0"/>
                </a:lnTo>
                <a:lnTo>
                  <a:pt x="3098597" y="2712949"/>
                </a:lnTo>
                <a:lnTo>
                  <a:pt x="0" y="2712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003285" y="2890037"/>
            <a:ext cx="2899334" cy="2712949"/>
          </a:xfrm>
          <a:custGeom>
            <a:avLst/>
            <a:gdLst/>
            <a:ahLst/>
            <a:cxnLst/>
            <a:rect l="l" t="t" r="r" b="b"/>
            <a:pathLst>
              <a:path w="2899334" h="2712949">
                <a:moveTo>
                  <a:pt x="0" y="0"/>
                </a:moveTo>
                <a:lnTo>
                  <a:pt x="2899334" y="0"/>
                </a:lnTo>
                <a:lnTo>
                  <a:pt x="2899334" y="2712949"/>
                </a:lnTo>
                <a:lnTo>
                  <a:pt x="0" y="2712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19318" y="6756511"/>
            <a:ext cx="1081402" cy="1024490"/>
            <a:chOff x="0" y="0"/>
            <a:chExt cx="1441869" cy="13659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1831" cy="1366012"/>
            </a:xfrm>
            <a:custGeom>
              <a:avLst/>
              <a:gdLst/>
              <a:ahLst/>
              <a:cxnLst/>
              <a:rect l="l" t="t" r="r" b="b"/>
              <a:pathLst>
                <a:path w="1441831" h="1366012">
                  <a:moveTo>
                    <a:pt x="0" y="0"/>
                  </a:moveTo>
                  <a:lnTo>
                    <a:pt x="1441831" y="0"/>
                  </a:lnTo>
                  <a:lnTo>
                    <a:pt x="1441831" y="1366012"/>
                  </a:lnTo>
                  <a:lnTo>
                    <a:pt x="0" y="136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777" r="-2" b="-277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073035" y="6882555"/>
            <a:ext cx="1020023" cy="986695"/>
            <a:chOff x="0" y="0"/>
            <a:chExt cx="1360030" cy="13155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60043" cy="1315593"/>
            </a:xfrm>
            <a:custGeom>
              <a:avLst/>
              <a:gdLst/>
              <a:ahLst/>
              <a:cxnLst/>
              <a:rect l="l" t="t" r="r" b="b"/>
              <a:pathLst>
                <a:path w="1360043" h="1315593">
                  <a:moveTo>
                    <a:pt x="0" y="0"/>
                  </a:moveTo>
                  <a:lnTo>
                    <a:pt x="1360043" y="0"/>
                  </a:lnTo>
                  <a:lnTo>
                    <a:pt x="1360043" y="1315593"/>
                  </a:lnTo>
                  <a:lnTo>
                    <a:pt x="0" y="1315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8" name="AutoShape 18"/>
          <p:cNvSpPr/>
          <p:nvPr/>
        </p:nvSpPr>
        <p:spPr>
          <a:xfrm rot="24420">
            <a:off x="1482061" y="6128737"/>
            <a:ext cx="4847654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64240">
            <a:off x="1728054" y="6280975"/>
            <a:ext cx="42250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1943999" y="5132536"/>
            <a:ext cx="1687944" cy="632908"/>
          </a:xfrm>
          <a:custGeom>
            <a:avLst/>
            <a:gdLst/>
            <a:ahLst/>
            <a:cxnLst/>
            <a:rect l="l" t="t" r="r" b="b"/>
            <a:pathLst>
              <a:path w="1687944" h="632908">
                <a:moveTo>
                  <a:pt x="0" y="0"/>
                </a:moveTo>
                <a:lnTo>
                  <a:pt x="1687944" y="0"/>
                </a:lnTo>
                <a:lnTo>
                  <a:pt x="1687944" y="632908"/>
                </a:lnTo>
                <a:lnTo>
                  <a:pt x="0" y="6329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4629" t="-141104" r="-79800" b="-142983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101310" y="6551576"/>
            <a:ext cx="1716922" cy="1716922"/>
          </a:xfrm>
          <a:custGeom>
            <a:avLst/>
            <a:gdLst/>
            <a:ahLst/>
            <a:cxnLst/>
            <a:rect l="l" t="t" r="r" b="b"/>
            <a:pathLst>
              <a:path w="1716922" h="1716922">
                <a:moveTo>
                  <a:pt x="0" y="0"/>
                </a:moveTo>
                <a:lnTo>
                  <a:pt x="1716922" y="0"/>
                </a:lnTo>
                <a:lnTo>
                  <a:pt x="1716922" y="1716922"/>
                </a:lnTo>
                <a:lnTo>
                  <a:pt x="0" y="1716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61377" y="672605"/>
            <a:ext cx="16862887" cy="733357"/>
            <a:chOff x="0" y="0"/>
            <a:chExt cx="22483849" cy="977809"/>
          </a:xfrm>
        </p:grpSpPr>
        <p:sp>
          <p:nvSpPr>
            <p:cNvPr id="23" name="AutoShape 23"/>
            <p:cNvSpPr/>
            <p:nvPr/>
          </p:nvSpPr>
          <p:spPr>
            <a:xfrm>
              <a:off x="77059" y="939773"/>
              <a:ext cx="21666198" cy="25336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6165" y="123825"/>
              <a:ext cx="9249616" cy="676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8"/>
                </a:lnSpc>
              </a:pPr>
              <a:r>
                <a:rPr lang="en-US" sz="3998" b="1" spc="-238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STRATEGIC POSITIONING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46237" y="423994"/>
              <a:ext cx="7337612" cy="401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2399" spc="-143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BEACON - STRATEGIC POSITIONING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86165"/>
              <a:ext cx="653900" cy="627744"/>
            </a:xfrm>
            <a:custGeom>
              <a:avLst/>
              <a:gdLst/>
              <a:ahLst/>
              <a:cxnLst/>
              <a:rect l="l" t="t" r="r" b="b"/>
              <a:pathLst>
                <a:path w="653900" h="627744">
                  <a:moveTo>
                    <a:pt x="0" y="0"/>
                  </a:moveTo>
                  <a:lnTo>
                    <a:pt x="653900" y="0"/>
                  </a:lnTo>
                  <a:lnTo>
                    <a:pt x="653900" y="627743"/>
                  </a:lnTo>
                  <a:lnTo>
                    <a:pt x="0" y="627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>
            <a:off x="752080" y="4178084"/>
            <a:ext cx="909018" cy="909018"/>
          </a:xfrm>
          <a:custGeom>
            <a:avLst/>
            <a:gdLst/>
            <a:ahLst/>
            <a:cxnLst/>
            <a:rect l="l" t="t" r="r" b="b"/>
            <a:pathLst>
              <a:path w="909018" h="909018">
                <a:moveTo>
                  <a:pt x="0" y="0"/>
                </a:moveTo>
                <a:lnTo>
                  <a:pt x="909018" y="0"/>
                </a:lnTo>
                <a:lnTo>
                  <a:pt x="909018" y="909018"/>
                </a:lnTo>
                <a:lnTo>
                  <a:pt x="0" y="9090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5316112" y="4261695"/>
            <a:ext cx="2952274" cy="50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spc="-104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BEACON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84619" y="3014229"/>
            <a:ext cx="2532316" cy="2517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S · SEGMENTATION</a:t>
            </a:r>
          </a:p>
          <a:p>
            <a:pPr algn="ctr">
              <a:lnSpc>
                <a:spcPts val="2800"/>
              </a:lnSpc>
            </a:pPr>
            <a:endParaRPr lang="en-US" sz="2100" b="1" spc="-84">
              <a:solidFill>
                <a:srgbClr val="9EB28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Young people aged 12–16, segmented by location, interests and participation barriers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10089" y="3030464"/>
            <a:ext cx="2887704" cy="25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T · TARGETING</a:t>
            </a:r>
          </a:p>
          <a:p>
            <a:pPr algn="ctr">
              <a:lnSpc>
                <a:spcPts val="2940"/>
              </a:lnSpc>
            </a:pPr>
            <a:endParaRPr lang="en-US" sz="2100" b="1" spc="-84">
              <a:solidFill>
                <a:srgbClr val="9EB28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Five-school pilot catchment, prioritising students facing access and engagement barriers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144698" y="3014229"/>
            <a:ext cx="2624814" cy="25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P · POSITIONING</a:t>
            </a:r>
          </a:p>
          <a:p>
            <a:pPr algn="ctr">
              <a:lnSpc>
                <a:spcPts val="2940"/>
              </a:lnSpc>
            </a:pPr>
            <a:endParaRPr lang="en-US" sz="2100" b="1" spc="-84">
              <a:solidFill>
                <a:srgbClr val="9EB28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School-linked activity discovery with verified attendance and participation rewards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6589" y="3302994"/>
            <a:ext cx="5886479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HIGH SCHOOL-LINKED ENGAGEMENT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1655" y="8498224"/>
            <a:ext cx="5837482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LOW SCHOOL-LINKED ENGAGEMENT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75015" y="6354175"/>
            <a:ext cx="6385798" cy="237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115" b="1" spc="-8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DIFFERENTIATION</a:t>
            </a:r>
          </a:p>
          <a:p>
            <a:pPr algn="l">
              <a:lnSpc>
                <a:spcPts val="2962"/>
              </a:lnSpc>
            </a:pPr>
            <a:endParaRPr lang="en-US" sz="2115" b="1" spc="-83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24200" lvl="2" indent="-174733" algn="l">
              <a:lnSpc>
                <a:spcPts val="3209"/>
              </a:lnSpc>
              <a:buAutoNum type="arabicPeriod"/>
            </a:pPr>
            <a:r>
              <a:rPr lang="en-US" sz="2292" spc="-9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Cross-provider activity discovery</a:t>
            </a:r>
          </a:p>
          <a:p>
            <a:pPr marL="524200" lvl="2" indent="-174733" algn="l">
              <a:lnSpc>
                <a:spcPts val="3209"/>
              </a:lnSpc>
              <a:buAutoNum type="arabicPeriod"/>
            </a:pPr>
            <a:r>
              <a:rPr lang="en-US" sz="2292" spc="-9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Trusted school connection</a:t>
            </a:r>
          </a:p>
          <a:p>
            <a:pPr marL="524200" lvl="2" indent="-174733" algn="l">
              <a:lnSpc>
                <a:spcPts val="3209"/>
              </a:lnSpc>
              <a:buAutoNum type="arabicPeriod"/>
            </a:pPr>
            <a:r>
              <a:rPr lang="en-US" sz="2292" spc="-9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Rewards for consistent attendance</a:t>
            </a:r>
          </a:p>
          <a:p>
            <a:pPr marL="524200" lvl="2" indent="-174733" algn="l">
              <a:lnSpc>
                <a:spcPts val="3209"/>
              </a:lnSpc>
              <a:buAutoNum type="arabicPeriod"/>
            </a:pPr>
            <a:r>
              <a:rPr lang="en-US" sz="2292" spc="-9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Verified engagement reporting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45982" y="9745837"/>
            <a:ext cx="9067800" cy="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Beacon Competitor Analysis. Illustrative positioning.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966353" y="2414178"/>
            <a:ext cx="2125370" cy="37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-8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STP STRATEGY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73035" y="5808159"/>
            <a:ext cx="1643863" cy="74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BROADER </a:t>
            </a:r>
          </a:p>
          <a:p>
            <a:pPr algn="ctr">
              <a:lnSpc>
                <a:spcPts val="2800"/>
              </a:lnSpc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DISCOVERY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43874" y="2075396"/>
            <a:ext cx="5544981" cy="7182904"/>
            <a:chOff x="0" y="0"/>
            <a:chExt cx="1460406" cy="18917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0406" cy="1891794"/>
            </a:xfrm>
            <a:custGeom>
              <a:avLst/>
              <a:gdLst/>
              <a:ahLst/>
              <a:cxnLst/>
              <a:rect l="l" t="t" r="r" b="b"/>
              <a:pathLst>
                <a:path w="1460406" h="1891794">
                  <a:moveTo>
                    <a:pt x="71206" y="0"/>
                  </a:moveTo>
                  <a:lnTo>
                    <a:pt x="1389200" y="0"/>
                  </a:lnTo>
                  <a:cubicBezTo>
                    <a:pt x="1428526" y="0"/>
                    <a:pt x="1460406" y="31880"/>
                    <a:pt x="1460406" y="71206"/>
                  </a:cubicBezTo>
                  <a:lnTo>
                    <a:pt x="1460406" y="1820587"/>
                  </a:lnTo>
                  <a:cubicBezTo>
                    <a:pt x="1460406" y="1859913"/>
                    <a:pt x="1428526" y="1891794"/>
                    <a:pt x="1389200" y="1891794"/>
                  </a:cubicBezTo>
                  <a:lnTo>
                    <a:pt x="71206" y="1891794"/>
                  </a:lnTo>
                  <a:cubicBezTo>
                    <a:pt x="31880" y="1891794"/>
                    <a:pt x="0" y="1859913"/>
                    <a:pt x="0" y="1820587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66675"/>
              <a:ext cx="1460406" cy="1825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7909" y="3206887"/>
            <a:ext cx="4796911" cy="2260217"/>
            <a:chOff x="0" y="0"/>
            <a:chExt cx="7612240" cy="3586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12253" cy="3586713"/>
            </a:xfrm>
            <a:custGeom>
              <a:avLst/>
              <a:gdLst/>
              <a:ahLst/>
              <a:cxnLst/>
              <a:rect l="l" t="t" r="r" b="b"/>
              <a:pathLst>
                <a:path w="7612253" h="3586713">
                  <a:moveTo>
                    <a:pt x="0" y="0"/>
                  </a:moveTo>
                  <a:lnTo>
                    <a:pt x="7612253" y="0"/>
                  </a:lnTo>
                  <a:lnTo>
                    <a:pt x="7612253" y="3586713"/>
                  </a:lnTo>
                  <a:lnTo>
                    <a:pt x="0" y="358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767" b="-20769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299222" y="9467307"/>
            <a:ext cx="7217512" cy="75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599" spc="-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Australian Sports Commission (n.d.); Queensland Family and Child Commission (n.d.); Strategyzer (n.d.).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312133" y="2075396"/>
            <a:ext cx="5544981" cy="7182904"/>
            <a:chOff x="0" y="0"/>
            <a:chExt cx="1460406" cy="18917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0406" cy="1891794"/>
            </a:xfrm>
            <a:custGeom>
              <a:avLst/>
              <a:gdLst/>
              <a:ahLst/>
              <a:cxnLst/>
              <a:rect l="l" t="t" r="r" b="b"/>
              <a:pathLst>
                <a:path w="1460406" h="1891794">
                  <a:moveTo>
                    <a:pt x="71206" y="0"/>
                  </a:moveTo>
                  <a:lnTo>
                    <a:pt x="1389200" y="0"/>
                  </a:lnTo>
                  <a:cubicBezTo>
                    <a:pt x="1428526" y="0"/>
                    <a:pt x="1460406" y="31880"/>
                    <a:pt x="1460406" y="71206"/>
                  </a:cubicBezTo>
                  <a:lnTo>
                    <a:pt x="1460406" y="1820587"/>
                  </a:lnTo>
                  <a:cubicBezTo>
                    <a:pt x="1460406" y="1859913"/>
                    <a:pt x="1428526" y="1891794"/>
                    <a:pt x="1389200" y="1891794"/>
                  </a:cubicBezTo>
                  <a:lnTo>
                    <a:pt x="71206" y="1891794"/>
                  </a:lnTo>
                  <a:cubicBezTo>
                    <a:pt x="31880" y="1891794"/>
                    <a:pt x="0" y="1859913"/>
                    <a:pt x="0" y="1820587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66675"/>
              <a:ext cx="1460406" cy="1825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80989" y="2075396"/>
            <a:ext cx="5544981" cy="7182904"/>
            <a:chOff x="0" y="0"/>
            <a:chExt cx="1460406" cy="18917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0406" cy="1891794"/>
            </a:xfrm>
            <a:custGeom>
              <a:avLst/>
              <a:gdLst/>
              <a:ahLst/>
              <a:cxnLst/>
              <a:rect l="l" t="t" r="r" b="b"/>
              <a:pathLst>
                <a:path w="1460406" h="1891794">
                  <a:moveTo>
                    <a:pt x="71206" y="0"/>
                  </a:moveTo>
                  <a:lnTo>
                    <a:pt x="1389200" y="0"/>
                  </a:lnTo>
                  <a:cubicBezTo>
                    <a:pt x="1428526" y="0"/>
                    <a:pt x="1460406" y="31880"/>
                    <a:pt x="1460406" y="71206"/>
                  </a:cubicBezTo>
                  <a:lnTo>
                    <a:pt x="1460406" y="1820587"/>
                  </a:lnTo>
                  <a:cubicBezTo>
                    <a:pt x="1460406" y="1859913"/>
                    <a:pt x="1428526" y="1891794"/>
                    <a:pt x="1389200" y="1891794"/>
                  </a:cubicBezTo>
                  <a:lnTo>
                    <a:pt x="71206" y="1891794"/>
                  </a:lnTo>
                  <a:cubicBezTo>
                    <a:pt x="31880" y="1891794"/>
                    <a:pt x="0" y="1859913"/>
                    <a:pt x="0" y="1820587"/>
                  </a:cubicBezTo>
                  <a:lnTo>
                    <a:pt x="0" y="71206"/>
                  </a:lnTo>
                  <a:cubicBezTo>
                    <a:pt x="0" y="31880"/>
                    <a:pt x="31880" y="0"/>
                    <a:pt x="71206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66675"/>
              <a:ext cx="1460406" cy="1825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3785" y="9345563"/>
            <a:ext cx="10605437" cy="666837"/>
            <a:chOff x="0" y="0"/>
            <a:chExt cx="2793202" cy="1756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93202" cy="175628"/>
            </a:xfrm>
            <a:custGeom>
              <a:avLst/>
              <a:gdLst/>
              <a:ahLst/>
              <a:cxnLst/>
              <a:rect l="l" t="t" r="r" b="b"/>
              <a:pathLst>
                <a:path w="2793202" h="175628">
                  <a:moveTo>
                    <a:pt x="37230" y="0"/>
                  </a:moveTo>
                  <a:lnTo>
                    <a:pt x="2755972" y="0"/>
                  </a:lnTo>
                  <a:cubicBezTo>
                    <a:pt x="2765846" y="0"/>
                    <a:pt x="2775315" y="3922"/>
                    <a:pt x="2782297" y="10904"/>
                  </a:cubicBezTo>
                  <a:cubicBezTo>
                    <a:pt x="2789279" y="17886"/>
                    <a:pt x="2793202" y="27356"/>
                    <a:pt x="2793202" y="37230"/>
                  </a:cubicBezTo>
                  <a:lnTo>
                    <a:pt x="2793202" y="138398"/>
                  </a:lnTo>
                  <a:cubicBezTo>
                    <a:pt x="2793202" y="148272"/>
                    <a:pt x="2789279" y="157742"/>
                    <a:pt x="2782297" y="164724"/>
                  </a:cubicBezTo>
                  <a:cubicBezTo>
                    <a:pt x="2775315" y="171706"/>
                    <a:pt x="2765846" y="175628"/>
                    <a:pt x="2755972" y="175628"/>
                  </a:cubicBezTo>
                  <a:lnTo>
                    <a:pt x="37230" y="175628"/>
                  </a:lnTo>
                  <a:cubicBezTo>
                    <a:pt x="27356" y="175628"/>
                    <a:pt x="17886" y="171706"/>
                    <a:pt x="10904" y="164724"/>
                  </a:cubicBezTo>
                  <a:cubicBezTo>
                    <a:pt x="3922" y="157742"/>
                    <a:pt x="0" y="148272"/>
                    <a:pt x="0" y="138398"/>
                  </a:cubicBezTo>
                  <a:lnTo>
                    <a:pt x="0" y="37230"/>
                  </a:lnTo>
                  <a:cubicBezTo>
                    <a:pt x="0" y="27356"/>
                    <a:pt x="3922" y="17886"/>
                    <a:pt x="10904" y="10904"/>
                  </a:cubicBezTo>
                  <a:cubicBezTo>
                    <a:pt x="17886" y="3922"/>
                    <a:pt x="27356" y="0"/>
                    <a:pt x="372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93202" cy="223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17909" y="2267086"/>
            <a:ext cx="4607554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spc="-119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STUDENTS AGED  12 - 16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86136" y="5638554"/>
            <a:ext cx="4928684" cy="3294896"/>
            <a:chOff x="0" y="0"/>
            <a:chExt cx="1298090" cy="8677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98090" cy="867792"/>
            </a:xfrm>
            <a:custGeom>
              <a:avLst/>
              <a:gdLst/>
              <a:ahLst/>
              <a:cxnLst/>
              <a:rect l="l" t="t" r="r" b="b"/>
              <a:pathLst>
                <a:path w="1298090" h="867792">
                  <a:moveTo>
                    <a:pt x="80110" y="0"/>
                  </a:moveTo>
                  <a:lnTo>
                    <a:pt x="1217979" y="0"/>
                  </a:lnTo>
                  <a:cubicBezTo>
                    <a:pt x="1262223" y="0"/>
                    <a:pt x="1298090" y="35867"/>
                    <a:pt x="1298090" y="80110"/>
                  </a:cubicBezTo>
                  <a:lnTo>
                    <a:pt x="1298090" y="787681"/>
                  </a:lnTo>
                  <a:cubicBezTo>
                    <a:pt x="1298090" y="831925"/>
                    <a:pt x="1262223" y="867792"/>
                    <a:pt x="1217979" y="867792"/>
                  </a:cubicBezTo>
                  <a:lnTo>
                    <a:pt x="80110" y="867792"/>
                  </a:lnTo>
                  <a:cubicBezTo>
                    <a:pt x="35867" y="867792"/>
                    <a:pt x="0" y="831925"/>
                    <a:pt x="0" y="787681"/>
                  </a:cubicBezTo>
                  <a:lnTo>
                    <a:pt x="0" y="80110"/>
                  </a:lnTo>
                  <a:cubicBezTo>
                    <a:pt x="0" y="35867"/>
                    <a:pt x="35867" y="0"/>
                    <a:pt x="80110" y="0"/>
                  </a:cubicBezTo>
                  <a:close/>
                </a:path>
              </a:pathLst>
            </a:custGeom>
            <a:solidFill>
              <a:srgbClr val="E7E5D7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298090" cy="91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752464" y="5638554"/>
            <a:ext cx="4928684" cy="3294896"/>
            <a:chOff x="0" y="0"/>
            <a:chExt cx="1298090" cy="8677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98090" cy="867792"/>
            </a:xfrm>
            <a:custGeom>
              <a:avLst/>
              <a:gdLst/>
              <a:ahLst/>
              <a:cxnLst/>
              <a:rect l="l" t="t" r="r" b="b"/>
              <a:pathLst>
                <a:path w="1298090" h="867792">
                  <a:moveTo>
                    <a:pt x="80110" y="0"/>
                  </a:moveTo>
                  <a:lnTo>
                    <a:pt x="1217979" y="0"/>
                  </a:lnTo>
                  <a:cubicBezTo>
                    <a:pt x="1262223" y="0"/>
                    <a:pt x="1298090" y="35867"/>
                    <a:pt x="1298090" y="80110"/>
                  </a:cubicBezTo>
                  <a:lnTo>
                    <a:pt x="1298090" y="787681"/>
                  </a:lnTo>
                  <a:cubicBezTo>
                    <a:pt x="1298090" y="831925"/>
                    <a:pt x="1262223" y="867792"/>
                    <a:pt x="1217979" y="867792"/>
                  </a:cubicBezTo>
                  <a:lnTo>
                    <a:pt x="80110" y="867792"/>
                  </a:lnTo>
                  <a:cubicBezTo>
                    <a:pt x="35867" y="867792"/>
                    <a:pt x="0" y="831925"/>
                    <a:pt x="0" y="787681"/>
                  </a:cubicBezTo>
                  <a:lnTo>
                    <a:pt x="0" y="80110"/>
                  </a:lnTo>
                  <a:cubicBezTo>
                    <a:pt x="0" y="35867"/>
                    <a:pt x="35867" y="0"/>
                    <a:pt x="80110" y="0"/>
                  </a:cubicBezTo>
                  <a:close/>
                </a:path>
              </a:pathLst>
            </a:custGeom>
            <a:solidFill>
              <a:srgbClr val="E7E5D7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298090" cy="91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20282" y="5638554"/>
            <a:ext cx="4928684" cy="3294896"/>
            <a:chOff x="0" y="0"/>
            <a:chExt cx="1298090" cy="8677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98090" cy="867792"/>
            </a:xfrm>
            <a:custGeom>
              <a:avLst/>
              <a:gdLst/>
              <a:ahLst/>
              <a:cxnLst/>
              <a:rect l="l" t="t" r="r" b="b"/>
              <a:pathLst>
                <a:path w="1298090" h="867792">
                  <a:moveTo>
                    <a:pt x="80110" y="0"/>
                  </a:moveTo>
                  <a:lnTo>
                    <a:pt x="1217979" y="0"/>
                  </a:lnTo>
                  <a:cubicBezTo>
                    <a:pt x="1262223" y="0"/>
                    <a:pt x="1298090" y="35867"/>
                    <a:pt x="1298090" y="80110"/>
                  </a:cubicBezTo>
                  <a:lnTo>
                    <a:pt x="1298090" y="787681"/>
                  </a:lnTo>
                  <a:cubicBezTo>
                    <a:pt x="1298090" y="831925"/>
                    <a:pt x="1262223" y="867792"/>
                    <a:pt x="1217979" y="867792"/>
                  </a:cubicBezTo>
                  <a:lnTo>
                    <a:pt x="80110" y="867792"/>
                  </a:lnTo>
                  <a:cubicBezTo>
                    <a:pt x="35867" y="867792"/>
                    <a:pt x="0" y="831925"/>
                    <a:pt x="0" y="787681"/>
                  </a:cubicBezTo>
                  <a:lnTo>
                    <a:pt x="0" y="80110"/>
                  </a:lnTo>
                  <a:cubicBezTo>
                    <a:pt x="0" y="35867"/>
                    <a:pt x="35867" y="0"/>
                    <a:pt x="80110" y="0"/>
                  </a:cubicBezTo>
                  <a:close/>
                </a:path>
              </a:pathLst>
            </a:custGeom>
            <a:solidFill>
              <a:srgbClr val="E7E5D7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298090" cy="91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984844" y="2267086"/>
            <a:ext cx="2225956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SCHOOLS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b="1" spc="-119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52464" y="2267086"/>
            <a:ext cx="4897020" cy="133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spc="-99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LOCAL COUNCILS &amp;2032 PARTNERS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 spc="-99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07265" y="5783850"/>
            <a:ext cx="4418198" cy="264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NEED  </a:t>
            </a:r>
          </a:p>
          <a:p>
            <a:pPr algn="l">
              <a:lnSpc>
                <a:spcPts val="2660"/>
              </a:lnSpc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Safe, enjoyable activities after school.</a:t>
            </a:r>
          </a:p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BEACON OFFERS</a:t>
            </a:r>
          </a:p>
          <a:p>
            <a:pPr algn="l">
              <a:lnSpc>
                <a:spcPts val="2660"/>
              </a:lnSpc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Verified activity feed, Beacon Pass, Torch Points and Youth Champions.</a:t>
            </a:r>
          </a:p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VALUE CREATED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makes the first visit easier and gives students a reason to come back.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34901" y="5783850"/>
            <a:ext cx="441819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NEED  </a:t>
            </a:r>
          </a:p>
          <a:p>
            <a:pPr algn="l">
              <a:lnSpc>
                <a:spcPts val="2660"/>
              </a:lnSpc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 wellbeing, manage safeguarding and show outcomes.</a:t>
            </a:r>
          </a:p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BEACON OFFERS</a:t>
            </a:r>
          </a:p>
          <a:p>
            <a:pPr algn="l">
              <a:lnSpc>
                <a:spcPts val="2660"/>
              </a:lnSpc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School-linked activites, approval worksflows, verified attendance.</a:t>
            </a:r>
          </a:p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VALUE CREATED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Extends support beyond the school gate with visible outcomes.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066789" y="5798892"/>
            <a:ext cx="441819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NEED  </a:t>
            </a:r>
          </a:p>
          <a:p>
            <a:pPr algn="l">
              <a:lnSpc>
                <a:spcPts val="2660"/>
              </a:lnSpc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 community impact &amp; show measurable legacy.</a:t>
            </a:r>
          </a:p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BEACON OFFERS</a:t>
            </a:r>
          </a:p>
          <a:p>
            <a:pPr algn="l">
              <a:lnSpc>
                <a:spcPts val="2660"/>
              </a:lnSpc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Partner activity portal, moderated listing &amp; impact reporting.</a:t>
            </a:r>
          </a:p>
          <a:p>
            <a:pPr algn="l">
              <a:lnSpc>
                <a:spcPts val="2660"/>
              </a:lnSpc>
            </a:pPr>
            <a:r>
              <a:rPr lang="en-US" sz="1900" b="1" spc="-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VALUE CREATED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-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Turns community legacy into evidence and not just sponsorship.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0681" y="9374226"/>
            <a:ext cx="993164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 spc="-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From first visits, to school-supported participation, to community impact -Beacon aligns value across all the three groups.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675994" y="3206887"/>
            <a:ext cx="4817259" cy="2318263"/>
            <a:chOff x="0" y="0"/>
            <a:chExt cx="8502510" cy="409175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502523" cy="4091808"/>
            </a:xfrm>
            <a:custGeom>
              <a:avLst/>
              <a:gdLst/>
              <a:ahLst/>
              <a:cxnLst/>
              <a:rect l="l" t="t" r="r" b="b"/>
              <a:pathLst>
                <a:path w="8502523" h="4091808">
                  <a:moveTo>
                    <a:pt x="0" y="0"/>
                  </a:moveTo>
                  <a:lnTo>
                    <a:pt x="8502523" y="0"/>
                  </a:lnTo>
                  <a:lnTo>
                    <a:pt x="8502523" y="4091808"/>
                  </a:lnTo>
                  <a:lnTo>
                    <a:pt x="0" y="4091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9265" b="-19264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2742939" y="3206887"/>
            <a:ext cx="4938209" cy="2370676"/>
            <a:chOff x="0" y="0"/>
            <a:chExt cx="9083781" cy="436083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083832" cy="4360845"/>
            </a:xfrm>
            <a:custGeom>
              <a:avLst/>
              <a:gdLst/>
              <a:ahLst/>
              <a:cxnLst/>
              <a:rect l="l" t="t" r="r" b="b"/>
              <a:pathLst>
                <a:path w="9083832" h="4360845">
                  <a:moveTo>
                    <a:pt x="0" y="0"/>
                  </a:moveTo>
                  <a:lnTo>
                    <a:pt x="9083832" y="0"/>
                  </a:lnTo>
                  <a:lnTo>
                    <a:pt x="9083832" y="4360845"/>
                  </a:lnTo>
                  <a:lnTo>
                    <a:pt x="0" y="436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9435" b="-19435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961377" y="672605"/>
            <a:ext cx="16307454" cy="733357"/>
            <a:chOff x="0" y="0"/>
            <a:chExt cx="21743272" cy="977809"/>
          </a:xfrm>
        </p:grpSpPr>
        <p:sp>
          <p:nvSpPr>
            <p:cNvPr id="42" name="AutoShape 42"/>
            <p:cNvSpPr/>
            <p:nvPr/>
          </p:nvSpPr>
          <p:spPr>
            <a:xfrm>
              <a:off x="77059" y="939773"/>
              <a:ext cx="21666198" cy="25336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6165" y="123825"/>
              <a:ext cx="14020418" cy="676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8"/>
                </a:lnSpc>
              </a:pPr>
              <a:r>
                <a:rPr lang="en-US" sz="3998" b="1" spc="-238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VALUE PROPOSITION CANVAS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86165"/>
              <a:ext cx="653900" cy="627744"/>
            </a:xfrm>
            <a:custGeom>
              <a:avLst/>
              <a:gdLst/>
              <a:ahLst/>
              <a:cxnLst/>
              <a:rect l="l" t="t" r="r" b="b"/>
              <a:pathLst>
                <a:path w="653900" h="627744">
                  <a:moveTo>
                    <a:pt x="0" y="0"/>
                  </a:moveTo>
                  <a:lnTo>
                    <a:pt x="653900" y="0"/>
                  </a:lnTo>
                  <a:lnTo>
                    <a:pt x="653900" y="627743"/>
                  </a:lnTo>
                  <a:lnTo>
                    <a:pt x="0" y="627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9" b="-2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61378" y="8631326"/>
            <a:ext cx="10336397" cy="1253957"/>
          </a:xfrm>
          <a:custGeom>
            <a:avLst/>
            <a:gdLst/>
            <a:ahLst/>
            <a:cxnLst/>
            <a:rect l="l" t="t" r="r" b="b"/>
            <a:pathLst>
              <a:path w="10336397" h="1253957">
                <a:moveTo>
                  <a:pt x="0" y="0"/>
                </a:moveTo>
                <a:lnTo>
                  <a:pt x="10336397" y="0"/>
                </a:lnTo>
                <a:lnTo>
                  <a:pt x="10336397" y="1253957"/>
                </a:lnTo>
                <a:lnTo>
                  <a:pt x="0" y="1253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019171" y="1377434"/>
            <a:ext cx="16249648" cy="19002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61377" y="737228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4" y="0"/>
                </a:lnTo>
                <a:lnTo>
                  <a:pt x="490424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39867" y="3083799"/>
            <a:ext cx="4928684" cy="5312623"/>
            <a:chOff x="0" y="0"/>
            <a:chExt cx="1298090" cy="13992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98090" cy="1399209"/>
            </a:xfrm>
            <a:custGeom>
              <a:avLst/>
              <a:gdLst/>
              <a:ahLst/>
              <a:cxnLst/>
              <a:rect l="l" t="t" r="r" b="b"/>
              <a:pathLst>
                <a:path w="1298090" h="1399209">
                  <a:moveTo>
                    <a:pt x="80110" y="0"/>
                  </a:moveTo>
                  <a:lnTo>
                    <a:pt x="1217979" y="0"/>
                  </a:lnTo>
                  <a:cubicBezTo>
                    <a:pt x="1262223" y="0"/>
                    <a:pt x="1298090" y="35867"/>
                    <a:pt x="1298090" y="80110"/>
                  </a:cubicBezTo>
                  <a:lnTo>
                    <a:pt x="1298090" y="1319099"/>
                  </a:lnTo>
                  <a:cubicBezTo>
                    <a:pt x="1298090" y="1363343"/>
                    <a:pt x="1262223" y="1399209"/>
                    <a:pt x="1217979" y="1399209"/>
                  </a:cubicBezTo>
                  <a:lnTo>
                    <a:pt x="80110" y="1399209"/>
                  </a:lnTo>
                  <a:cubicBezTo>
                    <a:pt x="35867" y="1399209"/>
                    <a:pt x="0" y="1363343"/>
                    <a:pt x="0" y="1319099"/>
                  </a:cubicBezTo>
                  <a:lnTo>
                    <a:pt x="0" y="80110"/>
                  </a:lnTo>
                  <a:cubicBezTo>
                    <a:pt x="0" y="35867"/>
                    <a:pt x="35867" y="0"/>
                    <a:pt x="80110" y="0"/>
                  </a:cubicBezTo>
                  <a:close/>
                </a:path>
              </a:pathLst>
            </a:custGeom>
            <a:solidFill>
              <a:srgbClr val="E7E5D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98090" cy="1446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55384" y="3470268"/>
            <a:ext cx="2697650" cy="2023238"/>
          </a:xfrm>
          <a:custGeom>
            <a:avLst/>
            <a:gdLst/>
            <a:ahLst/>
            <a:cxnLst/>
            <a:rect l="l" t="t" r="r" b="b"/>
            <a:pathLst>
              <a:path w="2697650" h="2023238">
                <a:moveTo>
                  <a:pt x="0" y="0"/>
                </a:moveTo>
                <a:lnTo>
                  <a:pt x="2697650" y="0"/>
                </a:lnTo>
                <a:lnTo>
                  <a:pt x="2697650" y="2023238"/>
                </a:lnTo>
                <a:lnTo>
                  <a:pt x="0" y="20232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695160" y="3044840"/>
            <a:ext cx="4928684" cy="5312623"/>
            <a:chOff x="0" y="0"/>
            <a:chExt cx="1298090" cy="13992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8090" cy="1399209"/>
            </a:xfrm>
            <a:custGeom>
              <a:avLst/>
              <a:gdLst/>
              <a:ahLst/>
              <a:cxnLst/>
              <a:rect l="l" t="t" r="r" b="b"/>
              <a:pathLst>
                <a:path w="1298090" h="1399209">
                  <a:moveTo>
                    <a:pt x="80110" y="0"/>
                  </a:moveTo>
                  <a:lnTo>
                    <a:pt x="1217979" y="0"/>
                  </a:lnTo>
                  <a:cubicBezTo>
                    <a:pt x="1262223" y="0"/>
                    <a:pt x="1298090" y="35867"/>
                    <a:pt x="1298090" y="80110"/>
                  </a:cubicBezTo>
                  <a:lnTo>
                    <a:pt x="1298090" y="1319099"/>
                  </a:lnTo>
                  <a:cubicBezTo>
                    <a:pt x="1298090" y="1363343"/>
                    <a:pt x="1262223" y="1399209"/>
                    <a:pt x="1217979" y="1399209"/>
                  </a:cubicBezTo>
                  <a:lnTo>
                    <a:pt x="80110" y="1399209"/>
                  </a:lnTo>
                  <a:cubicBezTo>
                    <a:pt x="35867" y="1399209"/>
                    <a:pt x="0" y="1363343"/>
                    <a:pt x="0" y="1319099"/>
                  </a:cubicBezTo>
                  <a:lnTo>
                    <a:pt x="0" y="80110"/>
                  </a:lnTo>
                  <a:cubicBezTo>
                    <a:pt x="0" y="35867"/>
                    <a:pt x="35867" y="0"/>
                    <a:pt x="80110" y="0"/>
                  </a:cubicBezTo>
                  <a:close/>
                </a:path>
              </a:pathLst>
            </a:custGeom>
            <a:solidFill>
              <a:srgbClr val="E7E5D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98090" cy="1446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80858" y="3073110"/>
            <a:ext cx="4928684" cy="5312623"/>
            <a:chOff x="0" y="0"/>
            <a:chExt cx="1298090" cy="13992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8090" cy="1399209"/>
            </a:xfrm>
            <a:custGeom>
              <a:avLst/>
              <a:gdLst/>
              <a:ahLst/>
              <a:cxnLst/>
              <a:rect l="l" t="t" r="r" b="b"/>
              <a:pathLst>
                <a:path w="1298090" h="1399209">
                  <a:moveTo>
                    <a:pt x="80110" y="0"/>
                  </a:moveTo>
                  <a:lnTo>
                    <a:pt x="1217979" y="0"/>
                  </a:lnTo>
                  <a:cubicBezTo>
                    <a:pt x="1262223" y="0"/>
                    <a:pt x="1298090" y="35867"/>
                    <a:pt x="1298090" y="80110"/>
                  </a:cubicBezTo>
                  <a:lnTo>
                    <a:pt x="1298090" y="1319099"/>
                  </a:lnTo>
                  <a:cubicBezTo>
                    <a:pt x="1298090" y="1363343"/>
                    <a:pt x="1262223" y="1399209"/>
                    <a:pt x="1217979" y="1399209"/>
                  </a:cubicBezTo>
                  <a:lnTo>
                    <a:pt x="80110" y="1399209"/>
                  </a:lnTo>
                  <a:cubicBezTo>
                    <a:pt x="35867" y="1399209"/>
                    <a:pt x="0" y="1363343"/>
                    <a:pt x="0" y="1319099"/>
                  </a:cubicBezTo>
                  <a:lnTo>
                    <a:pt x="0" y="80110"/>
                  </a:lnTo>
                  <a:cubicBezTo>
                    <a:pt x="0" y="35867"/>
                    <a:pt x="35867" y="0"/>
                    <a:pt x="80110" y="0"/>
                  </a:cubicBezTo>
                  <a:close/>
                </a:path>
              </a:pathLst>
            </a:custGeom>
            <a:solidFill>
              <a:srgbClr val="E7E5D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98090" cy="1446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661889" y="3504557"/>
            <a:ext cx="2964212" cy="1977685"/>
          </a:xfrm>
          <a:custGeom>
            <a:avLst/>
            <a:gdLst/>
            <a:ahLst/>
            <a:cxnLst/>
            <a:rect l="l" t="t" r="r" b="b"/>
            <a:pathLst>
              <a:path w="2964212" h="1977685">
                <a:moveTo>
                  <a:pt x="0" y="0"/>
                </a:moveTo>
                <a:lnTo>
                  <a:pt x="2964212" y="0"/>
                </a:lnTo>
                <a:lnTo>
                  <a:pt x="2964212" y="1977686"/>
                </a:lnTo>
                <a:lnTo>
                  <a:pt x="0" y="1977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Freeform 20"/>
          <p:cNvSpPr/>
          <p:nvPr/>
        </p:nvSpPr>
        <p:spPr>
          <a:xfrm>
            <a:off x="13772357" y="3646080"/>
            <a:ext cx="3403333" cy="1891686"/>
          </a:xfrm>
          <a:custGeom>
            <a:avLst/>
            <a:gdLst/>
            <a:ahLst/>
            <a:cxnLst/>
            <a:rect l="l" t="t" r="r" b="b"/>
            <a:pathLst>
              <a:path w="3403333" h="1891686">
                <a:moveTo>
                  <a:pt x="0" y="0"/>
                </a:moveTo>
                <a:lnTo>
                  <a:pt x="3403333" y="0"/>
                </a:lnTo>
                <a:lnTo>
                  <a:pt x="3403333" y="1891686"/>
                </a:lnTo>
                <a:lnTo>
                  <a:pt x="0" y="1891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2269798"/>
            <a:ext cx="1555473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TRUSTED NETWORK MAKES BEACON POSSIBLE.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8458" y="3092525"/>
            <a:ext cx="4651503" cy="529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1" b="1" spc="-9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Partners</a:t>
            </a:r>
          </a:p>
          <a:p>
            <a:pPr algn="l">
              <a:lnSpc>
                <a:spcPts val="2740"/>
              </a:lnSpc>
            </a:pPr>
            <a:endParaRPr lang="en-US" sz="2251" b="1" spc="-9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740"/>
              </a:lnSpc>
            </a:pPr>
            <a:endParaRPr lang="en-US" sz="2251" b="1" spc="-9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740"/>
              </a:lnSpc>
            </a:pPr>
            <a:endParaRPr lang="en-US" sz="2251" b="1" spc="-9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740"/>
              </a:lnSpc>
            </a:pPr>
            <a:endParaRPr lang="en-US" sz="2251" b="1" spc="-9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740"/>
              </a:lnSpc>
            </a:pPr>
            <a:endParaRPr lang="en-US" sz="2251" b="1" spc="-9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740"/>
              </a:lnSpc>
            </a:pPr>
            <a:endParaRPr lang="en-US" sz="2251" b="1" spc="-9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r>
              <a:rPr lang="en-US" sz="2300" b="1" spc="-92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Who enables participation?</a:t>
            </a:r>
          </a:p>
          <a:p>
            <a:pPr algn="l">
              <a:lnSpc>
                <a:spcPts val="2740"/>
              </a:lnSpc>
            </a:pPr>
            <a:endParaRPr lang="en-US" sz="2300" b="1" spc="-92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Schools and Department of Education</a:t>
            </a:r>
          </a:p>
          <a:p>
            <a:pPr algn="l">
              <a:lnSpc>
                <a:spcPts val="2800"/>
              </a:lnSpc>
            </a:pPr>
            <a:endParaRPr lang="en-US" sz="2000" spc="-8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Councils, PCYC and local providers</a:t>
            </a:r>
          </a:p>
          <a:p>
            <a:pPr algn="l">
              <a:lnSpc>
                <a:spcPts val="2800"/>
              </a:lnSpc>
            </a:pPr>
            <a:endParaRPr lang="en-US" sz="2000" spc="-8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and evaluation partners</a:t>
            </a:r>
          </a:p>
          <a:p>
            <a:pPr algn="l">
              <a:lnSpc>
                <a:spcPts val="2800"/>
              </a:lnSpc>
            </a:pPr>
            <a:endParaRPr lang="en-US" sz="2000" spc="-8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920917" y="3073110"/>
            <a:ext cx="4543339" cy="530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Activities</a:t>
            </a: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r>
              <a:rPr lang="en-US" sz="2300" b="1" spc="-92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What must Beacon do?</a:t>
            </a: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Approve and coordinate activities</a:t>
            </a:r>
          </a:p>
          <a:p>
            <a:pPr algn="l">
              <a:lnSpc>
                <a:spcPts val="2800"/>
              </a:lnSpc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Verify sessions and moderate</a:t>
            </a:r>
          </a:p>
          <a:p>
            <a:pPr algn="l">
              <a:lnSpc>
                <a:spcPts val="2800"/>
              </a:lnSpc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Manage rewards and impact reports</a:t>
            </a:r>
          </a:p>
          <a:p>
            <a:pPr algn="l">
              <a:lnSpc>
                <a:spcPts val="2800"/>
              </a:lnSpc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221614" y="3121978"/>
            <a:ext cx="4504820" cy="530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Resources</a:t>
            </a: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</a:pPr>
            <a:r>
              <a:rPr lang="en-US" sz="2300" b="1" spc="-92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What supports delivery?</a:t>
            </a:r>
          </a:p>
          <a:p>
            <a:pPr algn="l">
              <a:lnSpc>
                <a:spcPts val="3220"/>
              </a:lnSpc>
            </a:pPr>
            <a:endParaRPr lang="en-US" sz="2300" b="1" spc="-92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platform and</a:t>
            </a: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data systems</a:t>
            </a:r>
          </a:p>
          <a:p>
            <a:pPr algn="l">
              <a:lnSpc>
                <a:spcPts val="2800"/>
              </a:lnSpc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Verified venue and activity network</a:t>
            </a:r>
          </a:p>
          <a:p>
            <a:pPr algn="l">
              <a:lnSpc>
                <a:spcPts val="2800"/>
              </a:lnSpc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Coordinators and moderators</a:t>
            </a:r>
          </a:p>
          <a:p>
            <a:pPr algn="l">
              <a:lnSpc>
                <a:spcPts val="2800"/>
              </a:lnSpc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61378" y="8902322"/>
            <a:ext cx="10072507" cy="81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-8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Partners supply opportunities. Beacon coordinates safe, verified participation.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16633" y="9696726"/>
            <a:ext cx="6475695" cy="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Osterwalder &amp; Pigneur (2010)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8501" y="796430"/>
            <a:ext cx="10515313" cy="47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3998" b="1" spc="-23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BUSINESS MODEL CANVAS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98948" y="775970"/>
            <a:ext cx="3255651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1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HOW WE DELIVER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9" b="-2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313182" y="8547805"/>
            <a:ext cx="12774692" cy="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-8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Osterwalder &amp; Pigneur (2010); Stakeholder arrangements are proposed.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481" y="9027408"/>
            <a:ext cx="11828565" cy="1023775"/>
            <a:chOff x="0" y="0"/>
            <a:chExt cx="2433861" cy="2106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3861" cy="210653"/>
            </a:xfrm>
            <a:custGeom>
              <a:avLst/>
              <a:gdLst/>
              <a:ahLst/>
              <a:cxnLst/>
              <a:rect l="l" t="t" r="r" b="b"/>
              <a:pathLst>
                <a:path w="2433861" h="210653">
                  <a:moveTo>
                    <a:pt x="12783" y="0"/>
                  </a:moveTo>
                  <a:lnTo>
                    <a:pt x="2421078" y="0"/>
                  </a:lnTo>
                  <a:cubicBezTo>
                    <a:pt x="2428138" y="0"/>
                    <a:pt x="2433861" y="5723"/>
                    <a:pt x="2433861" y="12783"/>
                  </a:cubicBezTo>
                  <a:lnTo>
                    <a:pt x="2433861" y="197870"/>
                  </a:lnTo>
                  <a:cubicBezTo>
                    <a:pt x="2433861" y="204930"/>
                    <a:pt x="2428138" y="210653"/>
                    <a:pt x="2421078" y="210653"/>
                  </a:cubicBezTo>
                  <a:lnTo>
                    <a:pt x="12783" y="210653"/>
                  </a:lnTo>
                  <a:cubicBezTo>
                    <a:pt x="9393" y="210653"/>
                    <a:pt x="6142" y="209306"/>
                    <a:pt x="3744" y="206909"/>
                  </a:cubicBezTo>
                  <a:cubicBezTo>
                    <a:pt x="1347" y="204512"/>
                    <a:pt x="0" y="201260"/>
                    <a:pt x="0" y="197870"/>
                  </a:cubicBezTo>
                  <a:lnTo>
                    <a:pt x="0" y="12783"/>
                  </a:lnTo>
                  <a:cubicBezTo>
                    <a:pt x="0" y="5723"/>
                    <a:pt x="5723" y="0"/>
                    <a:pt x="127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66675"/>
              <a:ext cx="2433861" cy="143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9171" y="3650923"/>
            <a:ext cx="16894696" cy="830632"/>
            <a:chOff x="0" y="0"/>
            <a:chExt cx="22526261" cy="110750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2173252" cy="1107509"/>
              <a:chOff x="0" y="0"/>
              <a:chExt cx="3421798" cy="17091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421798" cy="170912"/>
              </a:xfrm>
              <a:custGeom>
                <a:avLst/>
                <a:gdLst/>
                <a:ahLst/>
                <a:cxnLst/>
                <a:rect l="l" t="t" r="r" b="b"/>
                <a:pathLst>
                  <a:path w="3421798" h="170912">
                    <a:moveTo>
                      <a:pt x="9093" y="0"/>
                    </a:moveTo>
                    <a:lnTo>
                      <a:pt x="3412706" y="0"/>
                    </a:lnTo>
                    <a:cubicBezTo>
                      <a:pt x="3417727" y="0"/>
                      <a:pt x="3421798" y="4071"/>
                      <a:pt x="3421798" y="9093"/>
                    </a:cubicBezTo>
                    <a:lnTo>
                      <a:pt x="3421798" y="161819"/>
                    </a:lnTo>
                    <a:cubicBezTo>
                      <a:pt x="3421798" y="164231"/>
                      <a:pt x="3420840" y="166544"/>
                      <a:pt x="3419135" y="168249"/>
                    </a:cubicBezTo>
                    <a:cubicBezTo>
                      <a:pt x="3417430" y="169954"/>
                      <a:pt x="3415117" y="170912"/>
                      <a:pt x="3412706" y="170912"/>
                    </a:cubicBezTo>
                    <a:lnTo>
                      <a:pt x="9093" y="170912"/>
                    </a:lnTo>
                    <a:cubicBezTo>
                      <a:pt x="4071" y="170912"/>
                      <a:pt x="0" y="166841"/>
                      <a:pt x="0" y="161819"/>
                    </a:cubicBezTo>
                    <a:lnTo>
                      <a:pt x="0" y="9093"/>
                    </a:lnTo>
                    <a:cubicBezTo>
                      <a:pt x="0" y="6681"/>
                      <a:pt x="958" y="4368"/>
                      <a:pt x="2663" y="2663"/>
                    </a:cubicBezTo>
                    <a:cubicBezTo>
                      <a:pt x="4368" y="958"/>
                      <a:pt x="6681" y="0"/>
                      <a:pt x="909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66675"/>
                <a:ext cx="3421798" cy="1042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11471" y="235814"/>
              <a:ext cx="21814790" cy="578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Students                                 </a:t>
              </a:r>
              <a:r>
                <a:rPr lang="en-US" sz="2598" spc="-1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Safe activites and rewards                   Viva Engage/Teams                           </a:t>
              </a: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Youth Champions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4624430"/>
            <a:ext cx="16894696" cy="830632"/>
            <a:chOff x="0" y="0"/>
            <a:chExt cx="22526261" cy="110750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2173252" cy="1107509"/>
              <a:chOff x="0" y="0"/>
              <a:chExt cx="3421798" cy="17091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421798" cy="170912"/>
              </a:xfrm>
              <a:custGeom>
                <a:avLst/>
                <a:gdLst/>
                <a:ahLst/>
                <a:cxnLst/>
                <a:rect l="l" t="t" r="r" b="b"/>
                <a:pathLst>
                  <a:path w="3421798" h="170912">
                    <a:moveTo>
                      <a:pt x="9093" y="0"/>
                    </a:moveTo>
                    <a:lnTo>
                      <a:pt x="3412706" y="0"/>
                    </a:lnTo>
                    <a:cubicBezTo>
                      <a:pt x="3417727" y="0"/>
                      <a:pt x="3421798" y="4071"/>
                      <a:pt x="3421798" y="9093"/>
                    </a:cubicBezTo>
                    <a:lnTo>
                      <a:pt x="3421798" y="161819"/>
                    </a:lnTo>
                    <a:cubicBezTo>
                      <a:pt x="3421798" y="164231"/>
                      <a:pt x="3420840" y="166544"/>
                      <a:pt x="3419135" y="168249"/>
                    </a:cubicBezTo>
                    <a:cubicBezTo>
                      <a:pt x="3417430" y="169954"/>
                      <a:pt x="3415117" y="170912"/>
                      <a:pt x="3412706" y="170912"/>
                    </a:cubicBezTo>
                    <a:lnTo>
                      <a:pt x="9093" y="170912"/>
                    </a:lnTo>
                    <a:cubicBezTo>
                      <a:pt x="4071" y="170912"/>
                      <a:pt x="0" y="166841"/>
                      <a:pt x="0" y="161819"/>
                    </a:cubicBezTo>
                    <a:lnTo>
                      <a:pt x="0" y="9093"/>
                    </a:lnTo>
                    <a:cubicBezTo>
                      <a:pt x="0" y="6681"/>
                      <a:pt x="958" y="4368"/>
                      <a:pt x="2663" y="2663"/>
                    </a:cubicBezTo>
                    <a:cubicBezTo>
                      <a:pt x="4368" y="958"/>
                      <a:pt x="6681" y="0"/>
                      <a:pt x="909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66675"/>
                <a:ext cx="3421798" cy="1042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11471" y="235814"/>
              <a:ext cx="21814790" cy="578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Schools                               </a:t>
              </a:r>
              <a:r>
                <a:rPr lang="en-US" sz="2598" spc="-1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Wellbeing engagement evidence        School Well being teams            </a:t>
              </a: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School coordinator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19171" y="6640129"/>
            <a:ext cx="16894696" cy="830632"/>
            <a:chOff x="0" y="0"/>
            <a:chExt cx="22526261" cy="1107509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2173252" cy="1107509"/>
              <a:chOff x="0" y="0"/>
              <a:chExt cx="3421798" cy="17091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421798" cy="170912"/>
              </a:xfrm>
              <a:custGeom>
                <a:avLst/>
                <a:gdLst/>
                <a:ahLst/>
                <a:cxnLst/>
                <a:rect l="l" t="t" r="r" b="b"/>
                <a:pathLst>
                  <a:path w="3421798" h="170912">
                    <a:moveTo>
                      <a:pt x="9093" y="0"/>
                    </a:moveTo>
                    <a:lnTo>
                      <a:pt x="3412706" y="0"/>
                    </a:lnTo>
                    <a:cubicBezTo>
                      <a:pt x="3417727" y="0"/>
                      <a:pt x="3421798" y="4071"/>
                      <a:pt x="3421798" y="9093"/>
                    </a:cubicBezTo>
                    <a:lnTo>
                      <a:pt x="3421798" y="161819"/>
                    </a:lnTo>
                    <a:cubicBezTo>
                      <a:pt x="3421798" y="164231"/>
                      <a:pt x="3420840" y="166544"/>
                      <a:pt x="3419135" y="168249"/>
                    </a:cubicBezTo>
                    <a:cubicBezTo>
                      <a:pt x="3417430" y="169954"/>
                      <a:pt x="3415117" y="170912"/>
                      <a:pt x="3412706" y="170912"/>
                    </a:cubicBezTo>
                    <a:lnTo>
                      <a:pt x="9093" y="170912"/>
                    </a:lnTo>
                    <a:cubicBezTo>
                      <a:pt x="4071" y="170912"/>
                      <a:pt x="0" y="166841"/>
                      <a:pt x="0" y="161819"/>
                    </a:cubicBezTo>
                    <a:lnTo>
                      <a:pt x="0" y="9093"/>
                    </a:lnTo>
                    <a:cubicBezTo>
                      <a:pt x="0" y="6681"/>
                      <a:pt x="958" y="4368"/>
                      <a:pt x="2663" y="2663"/>
                    </a:cubicBezTo>
                    <a:cubicBezTo>
                      <a:pt x="4368" y="958"/>
                      <a:pt x="6681" y="0"/>
                      <a:pt x="909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66675"/>
                <a:ext cx="3421798" cy="1042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11471" y="235814"/>
              <a:ext cx="21814790" cy="578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Local Venues                       </a:t>
              </a:r>
              <a:r>
                <a:rPr lang="en-US" sz="2598" spc="-1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Community participation                       Venue portal/QR                                  </a:t>
              </a: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Partner support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5590421"/>
            <a:ext cx="16894696" cy="830632"/>
            <a:chOff x="0" y="0"/>
            <a:chExt cx="22526261" cy="1107509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2173252" cy="1107509"/>
              <a:chOff x="0" y="0"/>
              <a:chExt cx="3421798" cy="17091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421798" cy="170912"/>
              </a:xfrm>
              <a:custGeom>
                <a:avLst/>
                <a:gdLst/>
                <a:ahLst/>
                <a:cxnLst/>
                <a:rect l="l" t="t" r="r" b="b"/>
                <a:pathLst>
                  <a:path w="3421798" h="170912">
                    <a:moveTo>
                      <a:pt x="9093" y="0"/>
                    </a:moveTo>
                    <a:lnTo>
                      <a:pt x="3412706" y="0"/>
                    </a:lnTo>
                    <a:cubicBezTo>
                      <a:pt x="3417727" y="0"/>
                      <a:pt x="3421798" y="4071"/>
                      <a:pt x="3421798" y="9093"/>
                    </a:cubicBezTo>
                    <a:lnTo>
                      <a:pt x="3421798" y="161819"/>
                    </a:lnTo>
                    <a:cubicBezTo>
                      <a:pt x="3421798" y="164231"/>
                      <a:pt x="3420840" y="166544"/>
                      <a:pt x="3419135" y="168249"/>
                    </a:cubicBezTo>
                    <a:cubicBezTo>
                      <a:pt x="3417430" y="169954"/>
                      <a:pt x="3415117" y="170912"/>
                      <a:pt x="3412706" y="170912"/>
                    </a:cubicBezTo>
                    <a:lnTo>
                      <a:pt x="9093" y="170912"/>
                    </a:lnTo>
                    <a:cubicBezTo>
                      <a:pt x="4071" y="170912"/>
                      <a:pt x="0" y="166841"/>
                      <a:pt x="0" y="161819"/>
                    </a:cubicBezTo>
                    <a:lnTo>
                      <a:pt x="0" y="9093"/>
                    </a:lnTo>
                    <a:cubicBezTo>
                      <a:pt x="0" y="6681"/>
                      <a:pt x="958" y="4368"/>
                      <a:pt x="2663" y="2663"/>
                    </a:cubicBezTo>
                    <a:cubicBezTo>
                      <a:pt x="4368" y="958"/>
                      <a:pt x="6681" y="0"/>
                      <a:pt x="909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66675"/>
                <a:ext cx="3421798" cy="1042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711471" y="235814"/>
              <a:ext cx="21814790" cy="578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Councils                               </a:t>
              </a:r>
              <a:r>
                <a:rPr lang="en-US" sz="2598" spc="-1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Reach &amp; participation data                         partner portal                                      </a:t>
              </a: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Impact reporting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7632686"/>
            <a:ext cx="16894696" cy="830632"/>
            <a:chOff x="0" y="0"/>
            <a:chExt cx="22526261" cy="1107509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22173252" cy="1107509"/>
              <a:chOff x="0" y="0"/>
              <a:chExt cx="3421798" cy="17091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421798" cy="170912"/>
              </a:xfrm>
              <a:custGeom>
                <a:avLst/>
                <a:gdLst/>
                <a:ahLst/>
                <a:cxnLst/>
                <a:rect l="l" t="t" r="r" b="b"/>
                <a:pathLst>
                  <a:path w="3421798" h="170912">
                    <a:moveTo>
                      <a:pt x="9093" y="0"/>
                    </a:moveTo>
                    <a:lnTo>
                      <a:pt x="3412706" y="0"/>
                    </a:lnTo>
                    <a:cubicBezTo>
                      <a:pt x="3417727" y="0"/>
                      <a:pt x="3421798" y="4071"/>
                      <a:pt x="3421798" y="9093"/>
                    </a:cubicBezTo>
                    <a:lnTo>
                      <a:pt x="3421798" y="161819"/>
                    </a:lnTo>
                    <a:cubicBezTo>
                      <a:pt x="3421798" y="164231"/>
                      <a:pt x="3420840" y="166544"/>
                      <a:pt x="3419135" y="168249"/>
                    </a:cubicBezTo>
                    <a:cubicBezTo>
                      <a:pt x="3417430" y="169954"/>
                      <a:pt x="3415117" y="170912"/>
                      <a:pt x="3412706" y="170912"/>
                    </a:cubicBezTo>
                    <a:lnTo>
                      <a:pt x="9093" y="170912"/>
                    </a:lnTo>
                    <a:cubicBezTo>
                      <a:pt x="4071" y="170912"/>
                      <a:pt x="0" y="166841"/>
                      <a:pt x="0" y="161819"/>
                    </a:cubicBezTo>
                    <a:lnTo>
                      <a:pt x="0" y="9093"/>
                    </a:lnTo>
                    <a:cubicBezTo>
                      <a:pt x="0" y="6681"/>
                      <a:pt x="958" y="4368"/>
                      <a:pt x="2663" y="2663"/>
                    </a:cubicBezTo>
                    <a:cubicBezTo>
                      <a:pt x="4368" y="958"/>
                      <a:pt x="6681" y="0"/>
                      <a:pt x="909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66675"/>
                <a:ext cx="3421798" cy="1042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711471" y="235814"/>
              <a:ext cx="21814790" cy="578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2032 partners                     </a:t>
              </a:r>
              <a:r>
                <a:rPr lang="en-US" sz="2598" spc="-1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Measurable youth legacy                  partnership outreach                             </a:t>
              </a:r>
              <a:r>
                <a:rPr lang="en-US" sz="2598" b="1" spc="-154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Legacy reports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0" y="3837570"/>
            <a:ext cx="896741" cy="457338"/>
          </a:xfrm>
          <a:custGeom>
            <a:avLst/>
            <a:gdLst/>
            <a:ahLst/>
            <a:cxnLst/>
            <a:rect l="l" t="t" r="r" b="b"/>
            <a:pathLst>
              <a:path w="896741" h="457338">
                <a:moveTo>
                  <a:pt x="0" y="0"/>
                </a:moveTo>
                <a:lnTo>
                  <a:pt x="896741" y="0"/>
                </a:lnTo>
                <a:lnTo>
                  <a:pt x="896741" y="457338"/>
                </a:lnTo>
                <a:lnTo>
                  <a:pt x="0" y="457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0153" y="4534201"/>
            <a:ext cx="896741" cy="860872"/>
          </a:xfrm>
          <a:custGeom>
            <a:avLst/>
            <a:gdLst/>
            <a:ahLst/>
            <a:cxnLst/>
            <a:rect l="l" t="t" r="r" b="b"/>
            <a:pathLst>
              <a:path w="896741" h="860872">
                <a:moveTo>
                  <a:pt x="0" y="0"/>
                </a:moveTo>
                <a:lnTo>
                  <a:pt x="896741" y="0"/>
                </a:lnTo>
                <a:lnTo>
                  <a:pt x="896741" y="860871"/>
                </a:lnTo>
                <a:lnTo>
                  <a:pt x="0" y="860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2704" y="5487418"/>
            <a:ext cx="842161" cy="910445"/>
          </a:xfrm>
          <a:custGeom>
            <a:avLst/>
            <a:gdLst/>
            <a:ahLst/>
            <a:cxnLst/>
            <a:rect l="l" t="t" r="r" b="b"/>
            <a:pathLst>
              <a:path w="842161" h="910445">
                <a:moveTo>
                  <a:pt x="0" y="0"/>
                </a:moveTo>
                <a:lnTo>
                  <a:pt x="842161" y="0"/>
                </a:lnTo>
                <a:lnTo>
                  <a:pt x="842161" y="910445"/>
                </a:lnTo>
                <a:lnTo>
                  <a:pt x="0" y="910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7481" y="6690477"/>
            <a:ext cx="874645" cy="708463"/>
          </a:xfrm>
          <a:custGeom>
            <a:avLst/>
            <a:gdLst/>
            <a:ahLst/>
            <a:cxnLst/>
            <a:rect l="l" t="t" r="r" b="b"/>
            <a:pathLst>
              <a:path w="874645" h="708463">
                <a:moveTo>
                  <a:pt x="0" y="0"/>
                </a:moveTo>
                <a:lnTo>
                  <a:pt x="874646" y="0"/>
                </a:lnTo>
                <a:lnTo>
                  <a:pt x="874646" y="708463"/>
                </a:lnTo>
                <a:lnTo>
                  <a:pt x="0" y="7084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53313" y="7632686"/>
            <a:ext cx="782982" cy="910445"/>
          </a:xfrm>
          <a:custGeom>
            <a:avLst/>
            <a:gdLst/>
            <a:ahLst/>
            <a:cxnLst/>
            <a:rect l="l" t="t" r="r" b="b"/>
            <a:pathLst>
              <a:path w="782982" h="910445">
                <a:moveTo>
                  <a:pt x="0" y="0"/>
                </a:moveTo>
                <a:lnTo>
                  <a:pt x="782982" y="0"/>
                </a:lnTo>
                <a:lnTo>
                  <a:pt x="782982" y="910444"/>
                </a:lnTo>
                <a:lnTo>
                  <a:pt x="0" y="910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28700" y="1729811"/>
            <a:ext cx="1651092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DIFFERENT STAKEHOLDERS. ONE CONNECTED PLATFORM.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8998" y="9179808"/>
            <a:ext cx="11305532" cy="77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5"/>
              </a:lnSpc>
            </a:pPr>
            <a:r>
              <a:rPr lang="en-US" sz="2225" b="1" spc="-8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Students participate free. Schools and councils are the modelled payers; partners supply activities and potential in-kind value.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3118768"/>
            <a:ext cx="2608142" cy="38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  <a:spcBef>
                <a:spcPct val="0"/>
              </a:spcBef>
            </a:pPr>
            <a:r>
              <a:rPr lang="en-US" sz="2299" b="1" spc="-137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STAKEHOLDER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305725" y="3118768"/>
            <a:ext cx="2608142" cy="38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  <a:spcBef>
                <a:spcPct val="0"/>
              </a:spcBef>
            </a:pPr>
            <a:r>
              <a:rPr lang="en-US" sz="2299" b="1" spc="-137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STAKEHOLDER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24656" y="3118768"/>
            <a:ext cx="2608142" cy="38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  <a:spcBef>
                <a:spcPct val="0"/>
              </a:spcBef>
            </a:pPr>
            <a:r>
              <a:rPr lang="en-US" sz="2299" b="1" spc="-137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STAKEHOLDER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25789" y="3118768"/>
            <a:ext cx="2608142" cy="38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  <a:spcBef>
                <a:spcPct val="0"/>
              </a:spcBef>
            </a:pPr>
            <a:r>
              <a:rPr lang="en-US" sz="2299" b="1" spc="-137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STAKEHOLDER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61377" y="672605"/>
            <a:ext cx="16307454" cy="733357"/>
            <a:chOff x="0" y="0"/>
            <a:chExt cx="21743272" cy="977809"/>
          </a:xfrm>
        </p:grpSpPr>
        <p:sp>
          <p:nvSpPr>
            <p:cNvPr id="47" name="AutoShape 47"/>
            <p:cNvSpPr/>
            <p:nvPr/>
          </p:nvSpPr>
          <p:spPr>
            <a:xfrm>
              <a:off x="77059" y="939773"/>
              <a:ext cx="21666198" cy="25336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6165" y="123825"/>
              <a:ext cx="14020418" cy="676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8"/>
                </a:lnSpc>
              </a:pPr>
              <a:r>
                <a:rPr lang="en-US" sz="3998" b="1" spc="-238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BUSINESS MODEL CANVAS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86165"/>
              <a:ext cx="653900" cy="627744"/>
            </a:xfrm>
            <a:custGeom>
              <a:avLst/>
              <a:gdLst/>
              <a:ahLst/>
              <a:cxnLst/>
              <a:rect l="l" t="t" r="r" b="b"/>
              <a:pathLst>
                <a:path w="653900" h="627744">
                  <a:moveTo>
                    <a:pt x="0" y="0"/>
                  </a:moveTo>
                  <a:lnTo>
                    <a:pt x="653900" y="0"/>
                  </a:lnTo>
                  <a:lnTo>
                    <a:pt x="653900" y="627743"/>
                  </a:lnTo>
                  <a:lnTo>
                    <a:pt x="0" y="627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0" name="TextBox 50"/>
          <p:cNvSpPr txBox="1"/>
          <p:nvPr/>
        </p:nvSpPr>
        <p:spPr>
          <a:xfrm>
            <a:off x="14787561" y="775970"/>
            <a:ext cx="2752059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104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WHO WE SERVE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89848" y="9233586"/>
            <a:ext cx="17637775" cy="726212"/>
            <a:chOff x="0" y="0"/>
            <a:chExt cx="4645340" cy="1912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45340" cy="191266"/>
            </a:xfrm>
            <a:custGeom>
              <a:avLst/>
              <a:gdLst/>
              <a:ahLst/>
              <a:cxnLst/>
              <a:rect l="l" t="t" r="r" b="b"/>
              <a:pathLst>
                <a:path w="4645340" h="191266">
                  <a:moveTo>
                    <a:pt x="22386" y="0"/>
                  </a:moveTo>
                  <a:lnTo>
                    <a:pt x="4622954" y="0"/>
                  </a:lnTo>
                  <a:cubicBezTo>
                    <a:pt x="4635317" y="0"/>
                    <a:pt x="4645340" y="10023"/>
                    <a:pt x="4645340" y="22386"/>
                  </a:cubicBezTo>
                  <a:lnTo>
                    <a:pt x="4645340" y="168880"/>
                  </a:lnTo>
                  <a:cubicBezTo>
                    <a:pt x="4645340" y="174817"/>
                    <a:pt x="4642981" y="180511"/>
                    <a:pt x="4638783" y="184709"/>
                  </a:cubicBezTo>
                  <a:cubicBezTo>
                    <a:pt x="4634585" y="188907"/>
                    <a:pt x="4628891" y="191266"/>
                    <a:pt x="4622954" y="191266"/>
                  </a:cubicBezTo>
                  <a:lnTo>
                    <a:pt x="22386" y="191266"/>
                  </a:lnTo>
                  <a:cubicBezTo>
                    <a:pt x="16449" y="191266"/>
                    <a:pt x="10755" y="188907"/>
                    <a:pt x="6557" y="184709"/>
                  </a:cubicBezTo>
                  <a:cubicBezTo>
                    <a:pt x="2359" y="180511"/>
                    <a:pt x="0" y="174817"/>
                    <a:pt x="0" y="168880"/>
                  </a:cubicBezTo>
                  <a:lnTo>
                    <a:pt x="0" y="22386"/>
                  </a:lnTo>
                  <a:cubicBezTo>
                    <a:pt x="0" y="16449"/>
                    <a:pt x="2359" y="10755"/>
                    <a:pt x="6557" y="6557"/>
                  </a:cubicBezTo>
                  <a:cubicBezTo>
                    <a:pt x="10755" y="2359"/>
                    <a:pt x="16449" y="0"/>
                    <a:pt x="2238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66675"/>
              <a:ext cx="4645340" cy="124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19171" y="1729811"/>
            <a:ext cx="16609075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EVERY LINE IS A QUANTITY  </a:t>
            </a:r>
            <a:r>
              <a:rPr lang="en-US" sz="5000" b="1" spc="-30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MULTIPLIED BY A PRICE.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8172" y="9345168"/>
            <a:ext cx="16301128" cy="45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spc="-10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Total Year 1 cash cost                                                                                                                                                                    </a:t>
            </a:r>
            <a:r>
              <a:rPr lang="en-US" sz="2700" b="1" spc="-108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 $180,814</a:t>
            </a:r>
            <a:r>
              <a:rPr lang="en-US" sz="2700" b="1" spc="-10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8775" y="9902647"/>
            <a:ext cx="7563888" cy="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Beacon Financial Model v3, Base scenario.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74485" y="2520386"/>
            <a:ext cx="7018621" cy="398634"/>
            <a:chOff x="0" y="0"/>
            <a:chExt cx="1848526" cy="1049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48526" cy="104990"/>
            </a:xfrm>
            <a:custGeom>
              <a:avLst/>
              <a:gdLst/>
              <a:ahLst/>
              <a:cxnLst/>
              <a:rect l="l" t="t" r="r" b="b"/>
              <a:pathLst>
                <a:path w="1848526" h="104990">
                  <a:moveTo>
                    <a:pt x="52495" y="0"/>
                  </a:moveTo>
                  <a:lnTo>
                    <a:pt x="1796031" y="0"/>
                  </a:lnTo>
                  <a:cubicBezTo>
                    <a:pt x="1809953" y="0"/>
                    <a:pt x="1823306" y="5531"/>
                    <a:pt x="1833150" y="15375"/>
                  </a:cubicBezTo>
                  <a:cubicBezTo>
                    <a:pt x="1842995" y="25220"/>
                    <a:pt x="1848526" y="38572"/>
                    <a:pt x="1848526" y="52495"/>
                  </a:cubicBezTo>
                  <a:lnTo>
                    <a:pt x="1848526" y="52495"/>
                  </a:lnTo>
                  <a:cubicBezTo>
                    <a:pt x="1848526" y="81487"/>
                    <a:pt x="1825023" y="104990"/>
                    <a:pt x="1796031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66675"/>
              <a:ext cx="1848526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8172" y="2358461"/>
            <a:ext cx="9931473" cy="722484"/>
            <a:chOff x="0" y="0"/>
            <a:chExt cx="13241963" cy="96331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Staff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$100,620 loaded × 0.6 FTE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4485" y="3409816"/>
            <a:ext cx="6831450" cy="398634"/>
            <a:chOff x="0" y="0"/>
            <a:chExt cx="1799230" cy="1049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99230" cy="104990"/>
            </a:xfrm>
            <a:custGeom>
              <a:avLst/>
              <a:gdLst/>
              <a:ahLst/>
              <a:cxnLst/>
              <a:rect l="l" t="t" r="r" b="b"/>
              <a:pathLst>
                <a:path w="1799230" h="104990">
                  <a:moveTo>
                    <a:pt x="52495" y="0"/>
                  </a:moveTo>
                  <a:lnTo>
                    <a:pt x="1746735" y="0"/>
                  </a:lnTo>
                  <a:cubicBezTo>
                    <a:pt x="1760657" y="0"/>
                    <a:pt x="1774010" y="5531"/>
                    <a:pt x="1783854" y="15375"/>
                  </a:cubicBezTo>
                  <a:cubicBezTo>
                    <a:pt x="1793699" y="25220"/>
                    <a:pt x="1799230" y="38572"/>
                    <a:pt x="1799230" y="52495"/>
                  </a:cubicBezTo>
                  <a:lnTo>
                    <a:pt x="1799230" y="52495"/>
                  </a:lnTo>
                  <a:cubicBezTo>
                    <a:pt x="1799230" y="81487"/>
                    <a:pt x="1775727" y="104990"/>
                    <a:pt x="1746735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55712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66675"/>
              <a:ext cx="1799230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8172" y="3223820"/>
            <a:ext cx="9931473" cy="722484"/>
            <a:chOff x="0" y="0"/>
            <a:chExt cx="13241963" cy="963312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Platform build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50 developer days × $1,200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4485" y="4251104"/>
            <a:ext cx="3509310" cy="398634"/>
            <a:chOff x="0" y="0"/>
            <a:chExt cx="924263" cy="1049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4263" cy="104990"/>
            </a:xfrm>
            <a:custGeom>
              <a:avLst/>
              <a:gdLst/>
              <a:ahLst/>
              <a:cxnLst/>
              <a:rect l="l" t="t" r="r" b="b"/>
              <a:pathLst>
                <a:path w="924263" h="104990">
                  <a:moveTo>
                    <a:pt x="52495" y="0"/>
                  </a:moveTo>
                  <a:lnTo>
                    <a:pt x="871768" y="0"/>
                  </a:lnTo>
                  <a:cubicBezTo>
                    <a:pt x="885690" y="0"/>
                    <a:pt x="899043" y="5531"/>
                    <a:pt x="908887" y="15375"/>
                  </a:cubicBezTo>
                  <a:cubicBezTo>
                    <a:pt x="918732" y="25220"/>
                    <a:pt x="924263" y="38572"/>
                    <a:pt x="924263" y="52495"/>
                  </a:cubicBezTo>
                  <a:lnTo>
                    <a:pt x="924263" y="52495"/>
                  </a:lnTo>
                  <a:cubicBezTo>
                    <a:pt x="924263" y="81487"/>
                    <a:pt x="900760" y="104990"/>
                    <a:pt x="871768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66675"/>
              <a:ext cx="924263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8172" y="4089179"/>
            <a:ext cx="9931473" cy="722484"/>
            <a:chOff x="0" y="0"/>
            <a:chExt cx="13241963" cy="963312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Contingency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10% of $164,376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4485" y="5116462"/>
            <a:ext cx="3191120" cy="398634"/>
            <a:chOff x="0" y="0"/>
            <a:chExt cx="840460" cy="1049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40460" cy="104990"/>
            </a:xfrm>
            <a:custGeom>
              <a:avLst/>
              <a:gdLst/>
              <a:ahLst/>
              <a:cxnLst/>
              <a:rect l="l" t="t" r="r" b="b"/>
              <a:pathLst>
                <a:path w="840460" h="104990">
                  <a:moveTo>
                    <a:pt x="52495" y="0"/>
                  </a:moveTo>
                  <a:lnTo>
                    <a:pt x="787965" y="0"/>
                  </a:lnTo>
                  <a:cubicBezTo>
                    <a:pt x="801887" y="0"/>
                    <a:pt x="815239" y="5531"/>
                    <a:pt x="825084" y="15375"/>
                  </a:cubicBezTo>
                  <a:cubicBezTo>
                    <a:pt x="834929" y="25220"/>
                    <a:pt x="840460" y="38572"/>
                    <a:pt x="840460" y="52495"/>
                  </a:cubicBezTo>
                  <a:lnTo>
                    <a:pt x="840460" y="52495"/>
                  </a:lnTo>
                  <a:cubicBezTo>
                    <a:pt x="840460" y="81487"/>
                    <a:pt x="816957" y="104990"/>
                    <a:pt x="787965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66675"/>
              <a:ext cx="840460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8172" y="4954537"/>
            <a:ext cx="9931473" cy="722484"/>
            <a:chOff x="0" y="0"/>
            <a:chExt cx="13241963" cy="963312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Evaluation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100 hours × $150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74485" y="5981821"/>
            <a:ext cx="2816778" cy="398634"/>
            <a:chOff x="0" y="0"/>
            <a:chExt cx="741868" cy="10499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41868" cy="104990"/>
            </a:xfrm>
            <a:custGeom>
              <a:avLst/>
              <a:gdLst/>
              <a:ahLst/>
              <a:cxnLst/>
              <a:rect l="l" t="t" r="r" b="b"/>
              <a:pathLst>
                <a:path w="741868" h="104990">
                  <a:moveTo>
                    <a:pt x="52495" y="0"/>
                  </a:moveTo>
                  <a:lnTo>
                    <a:pt x="689373" y="0"/>
                  </a:lnTo>
                  <a:cubicBezTo>
                    <a:pt x="718365" y="0"/>
                    <a:pt x="741868" y="23503"/>
                    <a:pt x="741868" y="52495"/>
                  </a:cubicBezTo>
                  <a:lnTo>
                    <a:pt x="741868" y="52495"/>
                  </a:lnTo>
                  <a:cubicBezTo>
                    <a:pt x="741868" y="66417"/>
                    <a:pt x="736337" y="79770"/>
                    <a:pt x="726492" y="89615"/>
                  </a:cubicBezTo>
                  <a:cubicBezTo>
                    <a:pt x="716647" y="99459"/>
                    <a:pt x="703295" y="104990"/>
                    <a:pt x="689373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66675"/>
              <a:ext cx="741868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8172" y="5819896"/>
            <a:ext cx="9931473" cy="722484"/>
            <a:chOff x="0" y="0"/>
            <a:chExt cx="13241963" cy="963312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Licences, net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$24,328 gross − 50% Microsoft credit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574485" y="6847180"/>
            <a:ext cx="2315159" cy="398634"/>
            <a:chOff x="0" y="0"/>
            <a:chExt cx="609754" cy="10499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09754" cy="104990"/>
            </a:xfrm>
            <a:custGeom>
              <a:avLst/>
              <a:gdLst/>
              <a:ahLst/>
              <a:cxnLst/>
              <a:rect l="l" t="t" r="r" b="b"/>
              <a:pathLst>
                <a:path w="609754" h="104990">
                  <a:moveTo>
                    <a:pt x="52495" y="0"/>
                  </a:moveTo>
                  <a:lnTo>
                    <a:pt x="557259" y="0"/>
                  </a:lnTo>
                  <a:cubicBezTo>
                    <a:pt x="571181" y="0"/>
                    <a:pt x="584534" y="5531"/>
                    <a:pt x="594378" y="15375"/>
                  </a:cubicBezTo>
                  <a:cubicBezTo>
                    <a:pt x="604223" y="25220"/>
                    <a:pt x="609754" y="38572"/>
                    <a:pt x="609754" y="52495"/>
                  </a:cubicBezTo>
                  <a:lnTo>
                    <a:pt x="609754" y="52495"/>
                  </a:lnTo>
                  <a:cubicBezTo>
                    <a:pt x="609754" y="81487"/>
                    <a:pt x="586251" y="104990"/>
                    <a:pt x="557259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66675"/>
              <a:ext cx="609754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58172" y="6685255"/>
            <a:ext cx="9931473" cy="722484"/>
            <a:chOff x="0" y="0"/>
            <a:chExt cx="13241963" cy="963312"/>
          </a:xfrm>
        </p:grpSpPr>
        <p:grpSp>
          <p:nvGrpSpPr>
            <p:cNvPr id="56" name="Group 56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Co-design and comms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 schools × $2,000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574485" y="7712538"/>
            <a:ext cx="1754655" cy="398634"/>
            <a:chOff x="0" y="0"/>
            <a:chExt cx="462131" cy="10499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62131" cy="104990"/>
            </a:xfrm>
            <a:custGeom>
              <a:avLst/>
              <a:gdLst/>
              <a:ahLst/>
              <a:cxnLst/>
              <a:rect l="l" t="t" r="r" b="b"/>
              <a:pathLst>
                <a:path w="462131" h="104990">
                  <a:moveTo>
                    <a:pt x="52495" y="0"/>
                  </a:moveTo>
                  <a:lnTo>
                    <a:pt x="409636" y="0"/>
                  </a:lnTo>
                  <a:cubicBezTo>
                    <a:pt x="423559" y="0"/>
                    <a:pt x="436911" y="5531"/>
                    <a:pt x="446756" y="15375"/>
                  </a:cubicBezTo>
                  <a:cubicBezTo>
                    <a:pt x="456601" y="25220"/>
                    <a:pt x="462131" y="38572"/>
                    <a:pt x="462131" y="52495"/>
                  </a:cubicBezTo>
                  <a:lnTo>
                    <a:pt x="462131" y="52495"/>
                  </a:lnTo>
                  <a:cubicBezTo>
                    <a:pt x="462131" y="81487"/>
                    <a:pt x="438629" y="104990"/>
                    <a:pt x="409636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66675"/>
              <a:ext cx="462131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58172" y="7550613"/>
            <a:ext cx="9931473" cy="722484"/>
            <a:chOff x="0" y="0"/>
            <a:chExt cx="13241963" cy="963312"/>
          </a:xfrm>
        </p:grpSpPr>
        <p:grpSp>
          <p:nvGrpSpPr>
            <p:cNvPr id="64" name="Group 64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Legal and privacy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PIA $3,500 + agreements $2,500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574485" y="8577897"/>
            <a:ext cx="1024689" cy="398634"/>
            <a:chOff x="0" y="0"/>
            <a:chExt cx="269877" cy="10499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69877" cy="104990"/>
            </a:xfrm>
            <a:custGeom>
              <a:avLst/>
              <a:gdLst/>
              <a:ahLst/>
              <a:cxnLst/>
              <a:rect l="l" t="t" r="r" b="b"/>
              <a:pathLst>
                <a:path w="269877" h="104990">
                  <a:moveTo>
                    <a:pt x="52495" y="0"/>
                  </a:moveTo>
                  <a:lnTo>
                    <a:pt x="217382" y="0"/>
                  </a:lnTo>
                  <a:cubicBezTo>
                    <a:pt x="231304" y="0"/>
                    <a:pt x="244657" y="5531"/>
                    <a:pt x="254501" y="15375"/>
                  </a:cubicBezTo>
                  <a:cubicBezTo>
                    <a:pt x="264346" y="25220"/>
                    <a:pt x="269877" y="38572"/>
                    <a:pt x="269877" y="52495"/>
                  </a:cubicBezTo>
                  <a:lnTo>
                    <a:pt x="269877" y="52495"/>
                  </a:lnTo>
                  <a:cubicBezTo>
                    <a:pt x="269877" y="66417"/>
                    <a:pt x="264346" y="79770"/>
                    <a:pt x="254501" y="89615"/>
                  </a:cubicBezTo>
                  <a:cubicBezTo>
                    <a:pt x="244657" y="99459"/>
                    <a:pt x="231304" y="104990"/>
                    <a:pt x="217382" y="104990"/>
                  </a:cubicBezTo>
                  <a:lnTo>
                    <a:pt x="52495" y="104990"/>
                  </a:lnTo>
                  <a:cubicBezTo>
                    <a:pt x="38572" y="104990"/>
                    <a:pt x="25220" y="99459"/>
                    <a:pt x="15375" y="89615"/>
                  </a:cubicBezTo>
                  <a:cubicBezTo>
                    <a:pt x="5531" y="79770"/>
                    <a:pt x="0" y="66417"/>
                    <a:pt x="0" y="52495"/>
                  </a:cubicBezTo>
                  <a:lnTo>
                    <a:pt x="0" y="52495"/>
                  </a:lnTo>
                  <a:cubicBezTo>
                    <a:pt x="0" y="38572"/>
                    <a:pt x="5531" y="25220"/>
                    <a:pt x="15375" y="15375"/>
                  </a:cubicBezTo>
                  <a:cubicBezTo>
                    <a:pt x="25220" y="5531"/>
                    <a:pt x="38572" y="0"/>
                    <a:pt x="52495" y="0"/>
                  </a:cubicBezTo>
                  <a:close/>
                </a:path>
              </a:pathLst>
            </a:custGeom>
            <a:solidFill>
              <a:srgbClr val="A2B687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66675"/>
              <a:ext cx="269877" cy="38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8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8172" y="8415972"/>
            <a:ext cx="9931473" cy="722484"/>
            <a:chOff x="0" y="0"/>
            <a:chExt cx="13241963" cy="963312"/>
          </a:xfrm>
        </p:grpSpPr>
        <p:grpSp>
          <p:nvGrpSpPr>
            <p:cNvPr id="72" name="Group 72"/>
            <p:cNvGrpSpPr/>
            <p:nvPr/>
          </p:nvGrpSpPr>
          <p:grpSpPr>
            <a:xfrm>
              <a:off x="0" y="0"/>
              <a:ext cx="10770973" cy="963312"/>
              <a:chOff x="0" y="0"/>
              <a:chExt cx="1662187" cy="148659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1662187" cy="148659"/>
              </a:xfrm>
              <a:custGeom>
                <a:avLst/>
                <a:gdLst/>
                <a:ahLst/>
                <a:cxnLst/>
                <a:rect l="l" t="t" r="r" b="b"/>
                <a:pathLst>
                  <a:path w="1662187" h="148659">
                    <a:moveTo>
                      <a:pt x="18718" y="0"/>
                    </a:moveTo>
                    <a:lnTo>
                      <a:pt x="1643469" y="0"/>
                    </a:lnTo>
                    <a:cubicBezTo>
                      <a:pt x="1653807" y="0"/>
                      <a:pt x="1662187" y="8380"/>
                      <a:pt x="1662187" y="18718"/>
                    </a:cubicBezTo>
                    <a:lnTo>
                      <a:pt x="1662187" y="129941"/>
                    </a:lnTo>
                    <a:cubicBezTo>
                      <a:pt x="1662187" y="134905"/>
                      <a:pt x="1660215" y="139666"/>
                      <a:pt x="1656705" y="143177"/>
                    </a:cubicBezTo>
                    <a:cubicBezTo>
                      <a:pt x="1653195" y="146687"/>
                      <a:pt x="1648433" y="148659"/>
                      <a:pt x="1643469" y="148659"/>
                    </a:cubicBezTo>
                    <a:lnTo>
                      <a:pt x="18718" y="148659"/>
                    </a:lnTo>
                    <a:cubicBezTo>
                      <a:pt x="13754" y="148659"/>
                      <a:pt x="8993" y="146687"/>
                      <a:pt x="5482" y="143177"/>
                    </a:cubicBezTo>
                    <a:cubicBezTo>
                      <a:pt x="1972" y="139666"/>
                      <a:pt x="0" y="134905"/>
                      <a:pt x="0" y="129941"/>
                    </a:cubicBezTo>
                    <a:lnTo>
                      <a:pt x="0" y="18718"/>
                    </a:lnTo>
                    <a:cubicBezTo>
                      <a:pt x="0" y="13754"/>
                      <a:pt x="1972" y="8993"/>
                      <a:pt x="5482" y="5482"/>
                    </a:cubicBezTo>
                    <a:cubicBezTo>
                      <a:pt x="8993" y="1972"/>
                      <a:pt x="13754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66675"/>
                <a:ext cx="1662187" cy="81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75" name="TextBox 75"/>
            <p:cNvSpPr txBox="1"/>
            <p:nvPr/>
          </p:nvSpPr>
          <p:spPr>
            <a:xfrm>
              <a:off x="36695" y="67768"/>
              <a:ext cx="13205268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Rewards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spc="16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$2,100 face value × 40%</a:t>
              </a:r>
            </a:p>
          </p:txBody>
        </p:sp>
      </p:grpSp>
      <p:sp>
        <p:nvSpPr>
          <p:cNvPr id="76" name="AutoShape 76"/>
          <p:cNvSpPr/>
          <p:nvPr/>
        </p:nvSpPr>
        <p:spPr>
          <a:xfrm>
            <a:off x="9002227" y="2375508"/>
            <a:ext cx="0" cy="6839632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TextBox 77"/>
          <p:cNvSpPr txBox="1"/>
          <p:nvPr/>
        </p:nvSpPr>
        <p:spPr>
          <a:xfrm>
            <a:off x="15660025" y="2638755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$60,372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5660025" y="3579877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$60,000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517333" y="4377501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$16,438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083796" y="5238825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$15,000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650259" y="6100149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$12,164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216722" y="6961473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$10,000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783185" y="7822798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$6,000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349648" y="8684122"/>
            <a:ext cx="1608794" cy="22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999" b="1" spc="-11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$840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961377" y="737229"/>
            <a:ext cx="16307443" cy="659208"/>
            <a:chOff x="0" y="86165"/>
            <a:chExt cx="21743257" cy="878944"/>
          </a:xfrm>
        </p:grpSpPr>
        <p:sp>
          <p:nvSpPr>
            <p:cNvPr id="86" name="AutoShape 86"/>
            <p:cNvSpPr/>
            <p:nvPr/>
          </p:nvSpPr>
          <p:spPr>
            <a:xfrm>
              <a:off x="77059" y="939773"/>
              <a:ext cx="21666198" cy="25336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56165" y="123825"/>
              <a:ext cx="6666926" cy="676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8"/>
                </a:lnSpc>
              </a:pPr>
              <a:r>
                <a:rPr lang="en-US" sz="3998" b="1" spc="-238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COST STRUCTURE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9853640" y="393105"/>
              <a:ext cx="1889616" cy="4013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sz="2399" spc="-143" dirty="0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BEACON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0" y="86165"/>
              <a:ext cx="653900" cy="627744"/>
            </a:xfrm>
            <a:custGeom>
              <a:avLst/>
              <a:gdLst/>
              <a:ahLst/>
              <a:cxnLst/>
              <a:rect l="l" t="t" r="r" b="b"/>
              <a:pathLst>
                <a:path w="653900" h="627744">
                  <a:moveTo>
                    <a:pt x="0" y="0"/>
                  </a:moveTo>
                  <a:lnTo>
                    <a:pt x="653900" y="0"/>
                  </a:lnTo>
                  <a:lnTo>
                    <a:pt x="653900" y="627743"/>
                  </a:lnTo>
                  <a:lnTo>
                    <a:pt x="0" y="627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4020">
            <a:off x="1019165" y="1377410"/>
            <a:ext cx="1624966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29" b="-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870705" y="7082057"/>
            <a:ext cx="56197" cy="56197"/>
          </a:xfrm>
          <a:custGeom>
            <a:avLst/>
            <a:gdLst/>
            <a:ahLst/>
            <a:cxnLst/>
            <a:rect l="l" t="t" r="r" b="b"/>
            <a:pathLst>
              <a:path w="56197" h="56197">
                <a:moveTo>
                  <a:pt x="0" y="0"/>
                </a:moveTo>
                <a:lnTo>
                  <a:pt x="56198" y="0"/>
                </a:lnTo>
                <a:lnTo>
                  <a:pt x="56198" y="56197"/>
                </a:lnTo>
                <a:lnTo>
                  <a:pt x="0" y="56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61377" y="737228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4" y="0"/>
                </a:lnTo>
                <a:lnTo>
                  <a:pt x="490424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3301436"/>
            <a:ext cx="3832174" cy="1155586"/>
            <a:chOff x="0" y="0"/>
            <a:chExt cx="788513" cy="237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8513" cy="237775"/>
            </a:xfrm>
            <a:custGeom>
              <a:avLst/>
              <a:gdLst/>
              <a:ahLst/>
              <a:cxnLst/>
              <a:rect l="l" t="t" r="r" b="b"/>
              <a:pathLst>
                <a:path w="788513" h="237775">
                  <a:moveTo>
                    <a:pt x="39458" y="0"/>
                  </a:moveTo>
                  <a:lnTo>
                    <a:pt x="749055" y="0"/>
                  </a:lnTo>
                  <a:cubicBezTo>
                    <a:pt x="759520" y="0"/>
                    <a:pt x="769557" y="4157"/>
                    <a:pt x="776956" y="11557"/>
                  </a:cubicBezTo>
                  <a:cubicBezTo>
                    <a:pt x="784356" y="18957"/>
                    <a:pt x="788513" y="28993"/>
                    <a:pt x="788513" y="39458"/>
                  </a:cubicBezTo>
                  <a:lnTo>
                    <a:pt x="788513" y="198317"/>
                  </a:lnTo>
                  <a:cubicBezTo>
                    <a:pt x="788513" y="220109"/>
                    <a:pt x="770847" y="237775"/>
                    <a:pt x="749055" y="237775"/>
                  </a:cubicBezTo>
                  <a:lnTo>
                    <a:pt x="39458" y="237775"/>
                  </a:lnTo>
                  <a:cubicBezTo>
                    <a:pt x="17666" y="237775"/>
                    <a:pt x="0" y="220109"/>
                    <a:pt x="0" y="198317"/>
                  </a:cubicBezTo>
                  <a:lnTo>
                    <a:pt x="0" y="39458"/>
                  </a:lnTo>
                  <a:cubicBezTo>
                    <a:pt x="0" y="17666"/>
                    <a:pt x="17666" y="0"/>
                    <a:pt x="39458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59728"/>
              <a:ext cx="788513" cy="142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b="1" spc="-119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$ 40,000 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spc="-11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22% of cost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9171" y="5081086"/>
            <a:ext cx="5435262" cy="3161166"/>
            <a:chOff x="0" y="0"/>
            <a:chExt cx="1118367" cy="6504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8367" cy="650446"/>
            </a:xfrm>
            <a:custGeom>
              <a:avLst/>
              <a:gdLst/>
              <a:ahLst/>
              <a:cxnLst/>
              <a:rect l="l" t="t" r="r" b="b"/>
              <a:pathLst>
                <a:path w="1118367" h="650446">
                  <a:moveTo>
                    <a:pt x="27820" y="0"/>
                  </a:moveTo>
                  <a:lnTo>
                    <a:pt x="1090547" y="0"/>
                  </a:lnTo>
                  <a:cubicBezTo>
                    <a:pt x="1105911" y="0"/>
                    <a:pt x="1118367" y="12455"/>
                    <a:pt x="1118367" y="27820"/>
                  </a:cubicBezTo>
                  <a:lnTo>
                    <a:pt x="1118367" y="622626"/>
                  </a:lnTo>
                  <a:cubicBezTo>
                    <a:pt x="1118367" y="637990"/>
                    <a:pt x="1105911" y="650446"/>
                    <a:pt x="1090547" y="650446"/>
                  </a:cubicBezTo>
                  <a:lnTo>
                    <a:pt x="27820" y="650446"/>
                  </a:lnTo>
                  <a:cubicBezTo>
                    <a:pt x="12455" y="650446"/>
                    <a:pt x="0" y="637990"/>
                    <a:pt x="0" y="622626"/>
                  </a:cubicBezTo>
                  <a:lnTo>
                    <a:pt x="0" y="27820"/>
                  </a:lnTo>
                  <a:cubicBezTo>
                    <a:pt x="0" y="12455"/>
                    <a:pt x="12455" y="0"/>
                    <a:pt x="278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66675"/>
              <a:ext cx="1118367" cy="583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8557963"/>
            <a:ext cx="5882832" cy="1490655"/>
            <a:chOff x="0" y="0"/>
            <a:chExt cx="1210459" cy="3067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0459" cy="306719"/>
            </a:xfrm>
            <a:custGeom>
              <a:avLst/>
              <a:gdLst/>
              <a:ahLst/>
              <a:cxnLst/>
              <a:rect l="l" t="t" r="r" b="b"/>
              <a:pathLst>
                <a:path w="1210459" h="306719">
                  <a:moveTo>
                    <a:pt x="25704" y="0"/>
                  </a:moveTo>
                  <a:lnTo>
                    <a:pt x="1184756" y="0"/>
                  </a:lnTo>
                  <a:cubicBezTo>
                    <a:pt x="1191573" y="0"/>
                    <a:pt x="1198111" y="2708"/>
                    <a:pt x="1202931" y="7528"/>
                  </a:cubicBezTo>
                  <a:cubicBezTo>
                    <a:pt x="1207751" y="12349"/>
                    <a:pt x="1210459" y="18887"/>
                    <a:pt x="1210459" y="25704"/>
                  </a:cubicBezTo>
                  <a:lnTo>
                    <a:pt x="1210459" y="281016"/>
                  </a:lnTo>
                  <a:cubicBezTo>
                    <a:pt x="1210459" y="287833"/>
                    <a:pt x="1207751" y="294370"/>
                    <a:pt x="1202931" y="299191"/>
                  </a:cubicBezTo>
                  <a:cubicBezTo>
                    <a:pt x="1198111" y="304011"/>
                    <a:pt x="1191573" y="306719"/>
                    <a:pt x="1184756" y="306719"/>
                  </a:cubicBezTo>
                  <a:lnTo>
                    <a:pt x="25704" y="306719"/>
                  </a:lnTo>
                  <a:cubicBezTo>
                    <a:pt x="18887" y="306719"/>
                    <a:pt x="12349" y="304011"/>
                    <a:pt x="7528" y="299191"/>
                  </a:cubicBezTo>
                  <a:cubicBezTo>
                    <a:pt x="2708" y="294370"/>
                    <a:pt x="0" y="287833"/>
                    <a:pt x="0" y="281016"/>
                  </a:cubicBezTo>
                  <a:lnTo>
                    <a:pt x="0" y="25704"/>
                  </a:lnTo>
                  <a:cubicBezTo>
                    <a:pt x="0" y="18887"/>
                    <a:pt x="2708" y="12349"/>
                    <a:pt x="7528" y="7528"/>
                  </a:cubicBezTo>
                  <a:cubicBezTo>
                    <a:pt x="12349" y="2708"/>
                    <a:pt x="18887" y="0"/>
                    <a:pt x="257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66675"/>
              <a:ext cx="1210459" cy="240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2006036"/>
            <a:ext cx="11390829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SCHOOLS AND COUNCILS COVER 40%</a:t>
            </a:r>
          </a:p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THE REST BUILDS IT ONCE.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8501" y="796430"/>
            <a:ext cx="6364748" cy="47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3998" b="1" spc="-238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REVENUE STREAMS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59404" y="1053956"/>
            <a:ext cx="3733800" cy="303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159"/>
              </a:lnSpc>
            </a:pPr>
            <a:r>
              <a:rPr lang="en-US" sz="2399" spc="-143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YEAR 1 - 5 SCHOOL PILOT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11826" y="3301436"/>
            <a:ext cx="3862656" cy="1155586"/>
            <a:chOff x="0" y="0"/>
            <a:chExt cx="794785" cy="2377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8513" cy="237775"/>
            </a:xfrm>
            <a:custGeom>
              <a:avLst/>
              <a:gdLst/>
              <a:ahLst/>
              <a:cxnLst/>
              <a:rect l="l" t="t" r="r" b="b"/>
              <a:pathLst>
                <a:path w="788513" h="237775">
                  <a:moveTo>
                    <a:pt x="39458" y="0"/>
                  </a:moveTo>
                  <a:lnTo>
                    <a:pt x="749055" y="0"/>
                  </a:lnTo>
                  <a:cubicBezTo>
                    <a:pt x="759520" y="0"/>
                    <a:pt x="769557" y="4157"/>
                    <a:pt x="776956" y="11557"/>
                  </a:cubicBezTo>
                  <a:cubicBezTo>
                    <a:pt x="784356" y="18957"/>
                    <a:pt x="788513" y="28993"/>
                    <a:pt x="788513" y="39458"/>
                  </a:cubicBezTo>
                  <a:lnTo>
                    <a:pt x="788513" y="198317"/>
                  </a:lnTo>
                  <a:cubicBezTo>
                    <a:pt x="788513" y="220109"/>
                    <a:pt x="770847" y="237775"/>
                    <a:pt x="749055" y="237775"/>
                  </a:cubicBezTo>
                  <a:lnTo>
                    <a:pt x="39458" y="237775"/>
                  </a:lnTo>
                  <a:cubicBezTo>
                    <a:pt x="17666" y="237775"/>
                    <a:pt x="0" y="220109"/>
                    <a:pt x="0" y="198317"/>
                  </a:cubicBezTo>
                  <a:lnTo>
                    <a:pt x="0" y="39458"/>
                  </a:lnTo>
                  <a:cubicBezTo>
                    <a:pt x="0" y="17666"/>
                    <a:pt x="17666" y="0"/>
                    <a:pt x="39458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6272" y="47625"/>
              <a:ext cx="788513" cy="142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b="1" spc="-119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$ 30,000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spc="-11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17% of cost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30201" y="3301436"/>
            <a:ext cx="8046914" cy="1155586"/>
            <a:chOff x="0" y="0"/>
            <a:chExt cx="1655744" cy="2377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55744" cy="237775"/>
            </a:xfrm>
            <a:custGeom>
              <a:avLst/>
              <a:gdLst/>
              <a:ahLst/>
              <a:cxnLst/>
              <a:rect l="l" t="t" r="r" b="b"/>
              <a:pathLst>
                <a:path w="1655744" h="237775">
                  <a:moveTo>
                    <a:pt x="18791" y="0"/>
                  </a:moveTo>
                  <a:lnTo>
                    <a:pt x="1636953" y="0"/>
                  </a:lnTo>
                  <a:cubicBezTo>
                    <a:pt x="1641936" y="0"/>
                    <a:pt x="1646716" y="1980"/>
                    <a:pt x="1650240" y="5504"/>
                  </a:cubicBezTo>
                  <a:cubicBezTo>
                    <a:pt x="1653764" y="9028"/>
                    <a:pt x="1655744" y="13807"/>
                    <a:pt x="1655744" y="18791"/>
                  </a:cubicBezTo>
                  <a:lnTo>
                    <a:pt x="1655744" y="218984"/>
                  </a:lnTo>
                  <a:cubicBezTo>
                    <a:pt x="1655744" y="229362"/>
                    <a:pt x="1647331" y="237775"/>
                    <a:pt x="1636953" y="237775"/>
                  </a:cubicBezTo>
                  <a:lnTo>
                    <a:pt x="18791" y="237775"/>
                  </a:lnTo>
                  <a:cubicBezTo>
                    <a:pt x="8413" y="237775"/>
                    <a:pt x="0" y="229362"/>
                    <a:pt x="0" y="218984"/>
                  </a:cubicBezTo>
                  <a:lnTo>
                    <a:pt x="0" y="18791"/>
                  </a:lnTo>
                  <a:cubicBezTo>
                    <a:pt x="0" y="8413"/>
                    <a:pt x="8413" y="0"/>
                    <a:pt x="18791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63738"/>
              <a:ext cx="1655744" cy="142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b="1" spc="-119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$ 110,814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spc="-119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61% of cost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11168" y="4552273"/>
            <a:ext cx="4856985" cy="36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</a:pPr>
            <a:r>
              <a:rPr lang="en-US" sz="1999" b="1" spc="-88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EARNED REVENUE $ 70,000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1015" y="4530549"/>
            <a:ext cx="4856985" cy="36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</a:pPr>
            <a:r>
              <a:rPr lang="en-US" sz="1999" b="1" spc="-8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TOTAL COST TO COVER $ 180,814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6589" y="5185861"/>
            <a:ext cx="5247844" cy="294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b="1" spc="-1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 SCHOOL SUBSCRIPTIONS</a:t>
            </a:r>
          </a:p>
          <a:p>
            <a:pPr algn="ctr">
              <a:lnSpc>
                <a:spcPts val="7997"/>
              </a:lnSpc>
              <a:spcBef>
                <a:spcPct val="0"/>
              </a:spcBef>
            </a:pPr>
            <a:r>
              <a:rPr lang="en-US" sz="3198" b="1" spc="-19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$40,000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spc="-1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 schools × 800 students × $10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spc="-1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 annual whole-school licence, $8,000 a school , inside a wellbeing budget line, no new approval needed.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125098" y="8581604"/>
            <a:ext cx="6528560" cy="1467014"/>
            <a:chOff x="0" y="0"/>
            <a:chExt cx="1343325" cy="30185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43325" cy="301855"/>
            </a:xfrm>
            <a:custGeom>
              <a:avLst/>
              <a:gdLst/>
              <a:ahLst/>
              <a:cxnLst/>
              <a:rect l="l" t="t" r="r" b="b"/>
              <a:pathLst>
                <a:path w="1343325" h="301855">
                  <a:moveTo>
                    <a:pt x="23161" y="0"/>
                  </a:moveTo>
                  <a:lnTo>
                    <a:pt x="1320164" y="0"/>
                  </a:lnTo>
                  <a:cubicBezTo>
                    <a:pt x="1332956" y="0"/>
                    <a:pt x="1343325" y="10370"/>
                    <a:pt x="1343325" y="23161"/>
                  </a:cubicBezTo>
                  <a:lnTo>
                    <a:pt x="1343325" y="278694"/>
                  </a:lnTo>
                  <a:cubicBezTo>
                    <a:pt x="1343325" y="284836"/>
                    <a:pt x="1340885" y="290727"/>
                    <a:pt x="1336541" y="295071"/>
                  </a:cubicBezTo>
                  <a:cubicBezTo>
                    <a:pt x="1332198" y="299415"/>
                    <a:pt x="1326307" y="301855"/>
                    <a:pt x="1320164" y="301855"/>
                  </a:cubicBezTo>
                  <a:lnTo>
                    <a:pt x="23161" y="301855"/>
                  </a:lnTo>
                  <a:cubicBezTo>
                    <a:pt x="17018" y="301855"/>
                    <a:pt x="11127" y="299415"/>
                    <a:pt x="6784" y="295071"/>
                  </a:cubicBezTo>
                  <a:cubicBezTo>
                    <a:pt x="2440" y="290727"/>
                    <a:pt x="0" y="284836"/>
                    <a:pt x="0" y="278694"/>
                  </a:cubicBezTo>
                  <a:lnTo>
                    <a:pt x="0" y="23161"/>
                  </a:lnTo>
                  <a:cubicBezTo>
                    <a:pt x="0" y="17018"/>
                    <a:pt x="2440" y="11127"/>
                    <a:pt x="6784" y="6784"/>
                  </a:cubicBezTo>
                  <a:cubicBezTo>
                    <a:pt x="11127" y="2440"/>
                    <a:pt x="17018" y="0"/>
                    <a:pt x="2316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66675"/>
              <a:ext cx="1343325" cy="23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24115" y="5081086"/>
            <a:ext cx="5435262" cy="3161166"/>
            <a:chOff x="0" y="0"/>
            <a:chExt cx="1118367" cy="65044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18367" cy="650446"/>
            </a:xfrm>
            <a:custGeom>
              <a:avLst/>
              <a:gdLst/>
              <a:ahLst/>
              <a:cxnLst/>
              <a:rect l="l" t="t" r="r" b="b"/>
              <a:pathLst>
                <a:path w="1118367" h="650446">
                  <a:moveTo>
                    <a:pt x="27820" y="0"/>
                  </a:moveTo>
                  <a:lnTo>
                    <a:pt x="1090547" y="0"/>
                  </a:lnTo>
                  <a:cubicBezTo>
                    <a:pt x="1105911" y="0"/>
                    <a:pt x="1118367" y="12455"/>
                    <a:pt x="1118367" y="27820"/>
                  </a:cubicBezTo>
                  <a:lnTo>
                    <a:pt x="1118367" y="622626"/>
                  </a:lnTo>
                  <a:cubicBezTo>
                    <a:pt x="1118367" y="637990"/>
                    <a:pt x="1105911" y="650446"/>
                    <a:pt x="1090547" y="650446"/>
                  </a:cubicBezTo>
                  <a:lnTo>
                    <a:pt x="27820" y="650446"/>
                  </a:lnTo>
                  <a:cubicBezTo>
                    <a:pt x="12455" y="650446"/>
                    <a:pt x="0" y="637990"/>
                    <a:pt x="0" y="622626"/>
                  </a:cubicBezTo>
                  <a:lnTo>
                    <a:pt x="0" y="27820"/>
                  </a:lnTo>
                  <a:cubicBezTo>
                    <a:pt x="0" y="12455"/>
                    <a:pt x="12455" y="0"/>
                    <a:pt x="278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66675"/>
              <a:ext cx="1118367" cy="583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429058" y="5081086"/>
            <a:ext cx="5435262" cy="3161166"/>
            <a:chOff x="0" y="0"/>
            <a:chExt cx="1118367" cy="65044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18367" cy="650446"/>
            </a:xfrm>
            <a:custGeom>
              <a:avLst/>
              <a:gdLst/>
              <a:ahLst/>
              <a:cxnLst/>
              <a:rect l="l" t="t" r="r" b="b"/>
              <a:pathLst>
                <a:path w="1118367" h="650446">
                  <a:moveTo>
                    <a:pt x="27820" y="0"/>
                  </a:moveTo>
                  <a:lnTo>
                    <a:pt x="1090547" y="0"/>
                  </a:lnTo>
                  <a:cubicBezTo>
                    <a:pt x="1105911" y="0"/>
                    <a:pt x="1118367" y="12455"/>
                    <a:pt x="1118367" y="27820"/>
                  </a:cubicBezTo>
                  <a:lnTo>
                    <a:pt x="1118367" y="622626"/>
                  </a:lnTo>
                  <a:cubicBezTo>
                    <a:pt x="1118367" y="637990"/>
                    <a:pt x="1105911" y="650446"/>
                    <a:pt x="1090547" y="650446"/>
                  </a:cubicBezTo>
                  <a:lnTo>
                    <a:pt x="27820" y="650446"/>
                  </a:lnTo>
                  <a:cubicBezTo>
                    <a:pt x="12455" y="650446"/>
                    <a:pt x="0" y="637990"/>
                    <a:pt x="0" y="622626"/>
                  </a:cubicBezTo>
                  <a:lnTo>
                    <a:pt x="0" y="27820"/>
                  </a:lnTo>
                  <a:cubicBezTo>
                    <a:pt x="0" y="12455"/>
                    <a:pt x="12455" y="0"/>
                    <a:pt x="27820" y="0"/>
                  </a:cubicBezTo>
                  <a:close/>
                </a:path>
              </a:pathLst>
            </a:custGeom>
            <a:solidFill>
              <a:srgbClr val="869A69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66675"/>
              <a:ext cx="1118367" cy="583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4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911532" y="5170359"/>
            <a:ext cx="5247844" cy="3335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b="1" spc="-1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 COUNCIL CO - FUNDING</a:t>
            </a:r>
          </a:p>
          <a:p>
            <a:pPr algn="ctr">
              <a:lnSpc>
                <a:spcPts val="7997"/>
              </a:lnSpc>
              <a:spcBef>
                <a:spcPct val="0"/>
              </a:spcBef>
            </a:pPr>
            <a:r>
              <a:rPr lang="en-US" sz="3198" b="1" spc="-19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$30,000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spc="-1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 catchment × $30,000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spc="-1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council buys the catchment dashboard: where young people go after 3pm, and which facilities sit idle.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endParaRPr lang="en-US" sz="2199" spc="-13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616476" y="5154857"/>
            <a:ext cx="5247844" cy="372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b="1" spc="-1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 BUILD - YEAR FUNDING</a:t>
            </a:r>
          </a:p>
          <a:p>
            <a:pPr algn="ctr">
              <a:lnSpc>
                <a:spcPts val="7997"/>
              </a:lnSpc>
              <a:spcBef>
                <a:spcPct val="0"/>
              </a:spcBef>
            </a:pPr>
            <a:r>
              <a:rPr lang="en-US" sz="3198" b="1" spc="-19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$110,814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spc="-1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$180,814 − $70,000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 spc="-1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80% of this is one-off: platform build, evaluation and legal. Only </a:t>
            </a:r>
            <a:r>
              <a:rPr lang="en-US" sz="2199" b="1" spc="-12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$21,714</a:t>
            </a:r>
            <a:r>
              <a:rPr lang="en-US" sz="2199" spc="-1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is operating shortfall.</a:t>
            </a:r>
          </a:p>
          <a:p>
            <a:pPr algn="l">
              <a:lnSpc>
                <a:spcPts val="3078"/>
              </a:lnSpc>
              <a:spcBef>
                <a:spcPct val="0"/>
              </a:spcBef>
            </a:pPr>
            <a:endParaRPr lang="en-US" sz="2199" spc="-12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8"/>
              </a:lnSpc>
              <a:spcBef>
                <a:spcPct val="0"/>
              </a:spcBef>
            </a:pPr>
            <a:endParaRPr lang="en-US" sz="2199" spc="-12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06589" y="8578885"/>
            <a:ext cx="5247844" cy="133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13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IN KIND, ON TOP</a:t>
            </a:r>
          </a:p>
          <a:p>
            <a:pPr algn="l">
              <a:lnSpc>
                <a:spcPts val="2798"/>
              </a:lnSpc>
              <a:spcBef>
                <a:spcPct val="0"/>
              </a:spcBef>
            </a:pPr>
            <a:r>
              <a:rPr lang="en-US" sz="1999" b="1" spc="-11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Year 1 shortfall $21,714, at five schools</a:t>
            </a:r>
          </a:p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spc="-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Running costs covered at 12 schools · each one beyond adds </a:t>
            </a:r>
            <a:r>
              <a:rPr lang="en-US" sz="1899" b="1" spc="-11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surplus</a:t>
            </a:r>
            <a:r>
              <a:rPr lang="en-US" sz="1899" spc="-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of  </a:t>
            </a:r>
            <a:r>
              <a:rPr lang="en-US" sz="1899" b="1" spc="-113">
                <a:solidFill>
                  <a:srgbClr val="55712C"/>
                </a:solidFill>
                <a:latin typeface="Garet Bold"/>
                <a:ea typeface="Garet Bold"/>
                <a:cs typeface="Garet Bold"/>
                <a:sym typeface="Garet Bold"/>
              </a:rPr>
              <a:t>$6,237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68632" y="8657804"/>
            <a:ext cx="6285027" cy="205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spcBef>
                <a:spcPct val="0"/>
              </a:spcBef>
            </a:pPr>
            <a:r>
              <a:rPr lang="en-US" sz="1899" b="1" spc="-1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FOR SCALE</a:t>
            </a:r>
          </a:p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099" b="1" spc="-123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$1.3 million</a:t>
            </a:r>
            <a:r>
              <a:rPr lang="en-US" sz="2099" b="1" spc="-1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— to detain one young person for a year</a:t>
            </a:r>
          </a:p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099" b="1" spc="-123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$124,000</a:t>
            </a:r>
            <a:r>
              <a:rPr lang="en-US" sz="2099" b="1" spc="-1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— our entire three-year public need</a:t>
            </a:r>
          </a:p>
          <a:p>
            <a:pPr algn="l">
              <a:lnSpc>
                <a:spcPts val="2658"/>
              </a:lnSpc>
              <a:spcBef>
                <a:spcPct val="0"/>
              </a:spcBef>
            </a:pPr>
            <a:endParaRPr lang="en-US" sz="2099" b="1" spc="-123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658"/>
              </a:lnSpc>
              <a:spcBef>
                <a:spcPct val="0"/>
              </a:spcBef>
            </a:pPr>
            <a:endParaRPr lang="en-US" sz="2099" b="1" spc="-123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658"/>
              </a:lnSpc>
              <a:spcBef>
                <a:spcPct val="0"/>
              </a:spcBef>
            </a:pPr>
            <a:endParaRPr lang="en-US" sz="2099" b="1" spc="-123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9" b="-2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55492" y="3156271"/>
            <a:ext cx="17236831" cy="334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8" b="1" spc="-243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Scan it. Show up. Get recognised.</a:t>
            </a:r>
          </a:p>
          <a:p>
            <a:pPr algn="ctr">
              <a:lnSpc>
                <a:spcPts val="8539"/>
              </a:lnSpc>
            </a:pPr>
            <a:endParaRPr lang="en-US" sz="6098" b="1" spc="-243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8539"/>
              </a:lnSpc>
            </a:pPr>
            <a:r>
              <a:rPr lang="en-US" sz="6098" b="1" spc="-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BEACON · 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9" b="-2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-5804576" y="-240201"/>
            <a:ext cx="17236831" cy="1268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4800" b="1" spc="-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REFERENCE LIST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0282" y="548059"/>
            <a:ext cx="17287437" cy="958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Australian Sports Commission. (n.d.-a).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Barriers and motivation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www.ausport.gov.au/youth_participation/barriers_and_motivation"/>
              </a:rPr>
              <a:t>https://www.ausport.gov.au/youth_participation/barriers_and_motivation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Australian Sports Commission. (n.d.-b).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Cost (direct financial and time)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www.ausport.gov.au/clearinghouse/evidence/children-and-youth-in-sport/factors/cost"/>
              </a:rPr>
              <a:t>https://www.ausport.gov.au/clearinghouse/evidence/children-and-youth-in-sport/factors/cost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Brisbane City Council. (n.d.).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Events — Chill Out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[Data set]. Retrieved October 19, 2026, from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data.brisbane.qld.gov.au/explore/dataset/chill-out-events/calendar/"/>
              </a:rPr>
              <a:t>https://data.brisbane.qld.gov.au/explore/dataset/chill-out-events/calendar/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Clipboard. (n.d.).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Clipboard extracurricular management system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www.clipboard.app/"/>
              </a:rPr>
              <a:t>https://www.clipboard.app/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Cohen, L. E., &amp; Felson, M. (1979). Social change and crime rate trends: A routine activity approach.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American Sociological Review, 44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(4), 588–608.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doi.org/10.2307/2094589"/>
              </a:rPr>
              <a:t>https://doi.org/10.2307/2094589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Commonwealth Bank of Australia. (2026, April 16).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Commonwealth Bank confirmed as Founding Partner and Official Bank for Brisbane 2032 Olympic and Paralympic Games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[Media release].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www.commbank.com.au/articles/newsroom/2026/04/brisbane-2032.html"/>
              </a:rPr>
              <a:t>https://www.commbank.com.au/articles/newsroom/2026/04/brisbane-2032.html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Durlak, J. A., Weissberg, R. P., &amp; Pachan, M. (2010). A meta-analysis of after-school programs that seek to promote personal and social skills in children and adolescents.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American Journal of Community Psychology, 45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(3–4), 294–309.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doi.org/10.1007/s10464-010-9300-6"/>
              </a:rPr>
              <a:t>https://doi.org/10.1007/s10464-010-9300-6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Hirschi, T. (1969).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Causes of delinquency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University of California Press.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Microsoft. (n.d.-a).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Barcode reader control in Power Apps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Microsoft Learn.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learn.microsoft.com/en-us/power-apps/maker/canvas-apps/controls/control-barcodereader"/>
              </a:rPr>
              <a:t>https://learn.microsoft.com/en-us/power-apps/maker/canvas-apps/controls/control-barcodereader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Microsoft. (n.d.-b).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Manage communication compliance policies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Microsoft Learn.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2" tooltip="https://learn.microsoft.com/en-us/purview/communication-compliance-policies"/>
              </a:rPr>
              <a:t>https://learn.microsoft.com/en-us/purview/communication-compliance-policies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Microsoft. (n.d.-c).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Microsoft 365 Education service description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Microsoft Learn.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3" tooltip="https://learn.microsoft.com/en-us/office365/servicedescriptions/office-365-platform-service-description/microsoft-365-education"/>
              </a:rPr>
              <a:t>https://learn.microsoft.com/en-us/office365/servicedescriptions/office-365-platform-service-description/microsoft-365-education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Microsoft. (n.d.-d).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Microsoft Viva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Microsoft Learn.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4" tooltip="https://learn.microsoft.com/en-us/viva/"/>
              </a:rPr>
              <a:t>https://learn.microsoft.com/en-us/viva/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Microsoft. (n.d.-e).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Microsoft Viva Engage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5" tooltip="https://www.microsoft.com/en/microsoft-viva/engage"/>
              </a:rPr>
              <a:t>https://www.microsoft.com/en/microsoft-viva/engage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Microsoft. (n.d.-f).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Viva Engage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Microsoft Learn.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6" tooltip="https://learn.microsoft.com/en-us/connectors/yammer/"/>
              </a:rPr>
              <a:t>https://learn.microsoft.com/en-us/connectors/yammer/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921020">
            <a:off x="-1802149" y="-2184454"/>
            <a:ext cx="7539942" cy="4866684"/>
            <a:chOff x="0" y="0"/>
            <a:chExt cx="10053256" cy="6488913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10053193" cy="6488938"/>
            </a:xfrm>
            <a:custGeom>
              <a:avLst/>
              <a:gdLst/>
              <a:ahLst/>
              <a:cxnLst/>
              <a:rect l="l" t="t" r="r" b="b"/>
              <a:pathLst>
                <a:path w="10053193" h="6488938">
                  <a:moveTo>
                    <a:pt x="10053193" y="6488938"/>
                  </a:moveTo>
                  <a:lnTo>
                    <a:pt x="0" y="6488938"/>
                  </a:lnTo>
                  <a:lnTo>
                    <a:pt x="0" y="0"/>
                  </a:lnTo>
                  <a:lnTo>
                    <a:pt x="10053193" y="0"/>
                  </a:lnTo>
                  <a:lnTo>
                    <a:pt x="10053193" y="6488938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t="-20" b="-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479180">
            <a:off x="10739390" y="5864552"/>
            <a:ext cx="9707432" cy="6265707"/>
            <a:chOff x="0" y="0"/>
            <a:chExt cx="12943243" cy="83542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43205" cy="8354314"/>
            </a:xfrm>
            <a:custGeom>
              <a:avLst/>
              <a:gdLst/>
              <a:ahLst/>
              <a:cxnLst/>
              <a:rect l="l" t="t" r="r" b="b"/>
              <a:pathLst>
                <a:path w="12943205" h="8354314">
                  <a:moveTo>
                    <a:pt x="0" y="0"/>
                  </a:moveTo>
                  <a:lnTo>
                    <a:pt x="12943205" y="0"/>
                  </a:lnTo>
                  <a:lnTo>
                    <a:pt x="12943205" y="8354314"/>
                  </a:lnTo>
                  <a:lnTo>
                    <a:pt x="0" y="835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t="-29" b="-2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-5804576" y="-240201"/>
            <a:ext cx="17236831" cy="1268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4800" b="1" spc="-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REFERENCE LIST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0282" y="548059"/>
            <a:ext cx="17287437" cy="958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Institute of Justice. (2018, October 2).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Practice profile: After-school programs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CrimeSolutions.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crimesolutions.ojp.gov/ratedpractices/after-school-programs"/>
              </a:rPr>
              <a:t>https://crimesolutions.ojp.gov/ratedpractices/after-school-programs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Osgood, D. W., Wilson, J. K., O'Malley, P. M., Bachman, J. G., &amp; Johnston, L. D. (1996). Routine activities and individual deviant behavior.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American Sociological Review, 61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(4), 635–655.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doi.org/10.2307/2096397"/>
              </a:rPr>
              <a:t>https://doi.org/10.2307/2096397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Osterwalder, A., &amp; Pigneur, Y. (2010).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Business model generation: A handbook for visionaries, game changers, and challengers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John Wiley &amp; Sons.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PCYC Queensland. (n.d.).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Our programs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www.pcyc.org.au/our-programs/"/>
              </a:rPr>
              <a:t>https://www.pcyc.org.au/our-programs/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Productivity Commission. (2026).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Report on Government Services 2026: Section 17, Youth justice services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www.pc.gov.au/ongoing/report-on-government-services/community-services/youth-justice/"/>
              </a:rPr>
              <a:t>https://www.pc.gov.au/ongoing/report-on-government-services/community-services/youth-justice/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Queensland Department of Education. (2026, April 30).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Internet at school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education.qld.gov.au/parents/school-information/internetAtSchool"/>
              </a:rPr>
              <a:t>https://education.qld.gov.au/parents/school-information/internetAtSchool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Queensland Family and Child Commission. (2022).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Safe spaces: Growing Up in Queensland 2022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www.qfcc.qld.gov.au/sites/default/files/report-growing-up-in-queensland-2022.pdf"/>
              </a:rPr>
              <a:t>https://www.qfcc.qld.gov.au/sites/default/files/report-growing-up-in-queensland-2022.pdf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Queensland Government. (2023, November 10).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20 year plan makes most of Games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[Ministerial media statement].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statements.qld.gov.au/statements/99127"/>
              </a:rPr>
              <a:t>https://statements.qld.gov.au/statements/99127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Queensland Government Statistician's Office. (2026).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Crime report, Queensland, 2024–25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Queensland Treasury.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www.qgso.qld.gov.au/issues/7856/crime-report-qld-2024-25.pdf"/>
              </a:rPr>
              <a:t>https://www.qgso.qld.gov.au/issues/7856/crime-report-qld-2024-25.pdf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Sentral. (n.d.).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Sentral Activities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2" tooltip="https://info.sentral.com.au/product-spotlight-activities"/>
              </a:rPr>
              <a:t>https://info.sentral.com.au/product-spotlight-activities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Strategyzer. (n.d.).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Value Proposition Canvas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3" tooltip="https://www.strategyzer.com/library/the-value-proposition-canvas"/>
              </a:rPr>
              <a:t>https://www.strategyzer.com/library/the-value-proposition-canvas</a:t>
            </a:r>
          </a:p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Taheri, S. A., &amp; Welsh, B. C. (2016). After-school programs for delinquency prevention: A systematic review and meta-analysis. </a:t>
            </a:r>
            <a:r>
              <a:rPr lang="en-US" sz="18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Youth Violence and Juvenile Justice, 14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(3), 272–290. </a:t>
            </a:r>
            <a:r>
              <a:rPr lang="en-US" sz="18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4" tooltip="https://doi.org/10.1177/1541204014567542"/>
              </a:rPr>
              <a:t>https://doi.org/10.1177/1541204014567542</a:t>
            </a:r>
          </a:p>
          <a:p>
            <a:pPr algn="just">
              <a:lnSpc>
                <a:spcPts val="4320"/>
              </a:lnSpc>
            </a:pPr>
            <a:endParaRPr lang="en-US" sz="18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14" tooltip="https://doi.org/10.1177/1541204014567542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2155</Words>
  <Application>Microsoft Office PowerPoint</Application>
  <PresentationFormat>Custom</PresentationFormat>
  <Paragraphs>326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 (MS) Italics</vt:lpstr>
      <vt:lpstr>Calibri</vt:lpstr>
      <vt:lpstr>Arial</vt:lpstr>
      <vt:lpstr>Garet</vt:lpstr>
      <vt:lpstr>Garet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Beacon_Team5_BISM7208_Final_Pitch_Deck.pdf (3).pptx</dc:title>
  <cp:lastModifiedBy/>
  <cp:revision>2</cp:revision>
  <dcterms:created xsi:type="dcterms:W3CDTF">2006-08-16T00:00:00Z</dcterms:created>
  <dcterms:modified xsi:type="dcterms:W3CDTF">2026-10-26T04:33:20Z</dcterms:modified>
  <dc:identifier>DAHY5EqjRhg</dc:identifier>
</cp:coreProperties>
</file>