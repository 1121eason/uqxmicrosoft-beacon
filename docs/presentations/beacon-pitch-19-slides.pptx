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Garet" panose="020B0604020202020204" charset="0"/>
      <p:regular r:id="rId22"/>
    </p:embeddedFont>
    <p:embeddedFont>
      <p:font typeface="Garet Bold" panose="020B0604020202020204" charset="0"/>
      <p:regular r:id="rId23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80694" autoAdjust="0"/>
  </p:normalViewPr>
  <p:slideViewPr>
    <p:cSldViewPr>
      <p:cViewPr varScale="1">
        <p:scale>
          <a:sx n="44" d="100"/>
          <a:sy n="44" d="100"/>
        </p:scale>
        <p:origin x="133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L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538CDD-4E83-EE41-9A74-DD0853C50507}" type="datetimeFigureOut">
              <a:rPr lang="en-LK" smtClean="0"/>
              <a:t>10/19/2026</a:t>
            </a:fld>
            <a:endParaRPr lang="en-L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L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L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206447-76AC-E742-B690-C965A8AEC9D1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438985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06447-76AC-E742-B690-C965A8AEC9D1}" type="slidenum">
              <a:rPr lang="en-LK" smtClean="0"/>
              <a:t>3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900852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06447-76AC-E742-B690-C965A8AEC9D1}" type="slidenum">
              <a:rPr lang="en-LK" smtClean="0"/>
              <a:t>4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55539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06447-76AC-E742-B690-C965A8AEC9D1}" type="slidenum">
              <a:rPr lang="en-LK" smtClean="0"/>
              <a:t>5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369780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206447-76AC-E742-B690-C965A8AEC9D1}" type="slidenum">
              <a:rPr lang="en-LK" smtClean="0"/>
              <a:t>7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136393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8.png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e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21028" flipH="1" flipV="1">
            <a:off x="-1802152" y="-2184453"/>
            <a:ext cx="7539939" cy="4866688"/>
          </a:xfrm>
          <a:custGeom>
            <a:avLst/>
            <a:gdLst/>
            <a:ahLst/>
            <a:cxnLst/>
            <a:rect l="l" t="t" r="r" b="b"/>
            <a:pathLst>
              <a:path w="7539939" h="4866688">
                <a:moveTo>
                  <a:pt x="7539939" y="4866688"/>
                </a:moveTo>
                <a:lnTo>
                  <a:pt x="0" y="4866688"/>
                </a:lnTo>
                <a:lnTo>
                  <a:pt x="0" y="0"/>
                </a:lnTo>
                <a:lnTo>
                  <a:pt x="7539939" y="0"/>
                </a:lnTo>
                <a:lnTo>
                  <a:pt x="7539939" y="4866688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AutoShape 3"/>
          <p:cNvSpPr/>
          <p:nvPr/>
        </p:nvSpPr>
        <p:spPr>
          <a:xfrm>
            <a:off x="894048" y="1592749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4" name="Freeform 4"/>
          <p:cNvSpPr/>
          <p:nvPr/>
        </p:nvSpPr>
        <p:spPr>
          <a:xfrm rot="-1479196">
            <a:off x="10739387" y="5864555"/>
            <a:ext cx="9707434" cy="6265707"/>
          </a:xfrm>
          <a:custGeom>
            <a:avLst/>
            <a:gdLst/>
            <a:ahLst/>
            <a:cxnLst/>
            <a:rect l="l" t="t" r="r" b="b"/>
            <a:pathLst>
              <a:path w="9707434" h="6265707">
                <a:moveTo>
                  <a:pt x="0" y="0"/>
                </a:moveTo>
                <a:lnTo>
                  <a:pt x="9707434" y="0"/>
                </a:lnTo>
                <a:lnTo>
                  <a:pt x="9707434" y="6265708"/>
                </a:lnTo>
                <a:lnTo>
                  <a:pt x="0" y="6265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5" name="Freeform 5"/>
          <p:cNvSpPr/>
          <p:nvPr/>
        </p:nvSpPr>
        <p:spPr>
          <a:xfrm>
            <a:off x="894048" y="857929"/>
            <a:ext cx="490425" cy="470808"/>
          </a:xfrm>
          <a:custGeom>
            <a:avLst/>
            <a:gdLst/>
            <a:ahLst/>
            <a:cxnLst/>
            <a:rect l="l" t="t" r="r" b="b"/>
            <a:pathLst>
              <a:path w="490425" h="470808">
                <a:moveTo>
                  <a:pt x="0" y="0"/>
                </a:moveTo>
                <a:lnTo>
                  <a:pt x="490425" y="0"/>
                </a:lnTo>
                <a:lnTo>
                  <a:pt x="490425" y="470808"/>
                </a:lnTo>
                <a:lnTo>
                  <a:pt x="0" y="470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6" name="TextBox 6"/>
          <p:cNvSpPr txBox="1"/>
          <p:nvPr/>
        </p:nvSpPr>
        <p:spPr>
          <a:xfrm>
            <a:off x="1028700" y="4596584"/>
            <a:ext cx="14408963" cy="122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99"/>
              </a:lnSpc>
            </a:pPr>
            <a:r>
              <a:rPr lang="en-US" sz="9999" b="1" spc="-599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BEACON.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429000" y="1105373"/>
            <a:ext cx="56201" cy="5620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28700" y="9324975"/>
            <a:ext cx="7919093" cy="27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0"/>
              </a:lnSpc>
            </a:pPr>
            <a:r>
              <a:rPr lang="en-US" sz="2300" spc="-138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A proposed school-community platform on Microsoft 365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5996758"/>
            <a:ext cx="14408963" cy="743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3"/>
              </a:lnSpc>
              <a:spcBef>
                <a:spcPct val="0"/>
              </a:spcBef>
            </a:pPr>
            <a:r>
              <a:rPr lang="en-US" sz="6004" b="1" spc="-240" dirty="0">
                <a:solidFill>
                  <a:srgbClr val="322D29"/>
                </a:solidFill>
                <a:latin typeface="Garet Bold"/>
                <a:ea typeface="Garet Bold"/>
                <a:cs typeface="Garet Bold"/>
                <a:sym typeface="Garet Bold"/>
              </a:rPr>
              <a:t>Scan it. Show up. Get recognised.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59401" y="1042474"/>
            <a:ext cx="9790056" cy="309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070"/>
              </a:lnSpc>
            </a:pPr>
            <a:r>
              <a:rPr lang="en-US" sz="2800" b="1" spc="-138" dirty="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BISM7208         DIGITAL TRANSFORMATION HACKATHON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7178023"/>
            <a:ext cx="16966931" cy="34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13"/>
              </a:lnSpc>
              <a:spcBef>
                <a:spcPct val="0"/>
              </a:spcBef>
            </a:pPr>
            <a:r>
              <a:rPr lang="en-US" sz="2904" spc="-116">
                <a:solidFill>
                  <a:srgbClr val="322D29"/>
                </a:solidFill>
                <a:latin typeface="Garet"/>
                <a:ea typeface="Garet"/>
                <a:cs typeface="Garet"/>
                <a:sym typeface="Garet"/>
              </a:rPr>
              <a:t>Connecting young people to safer, more accessible and rewarding after-school experiences.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21028" flipH="1" flipV="1">
            <a:off x="-1802152" y="-2184453"/>
            <a:ext cx="7539939" cy="4866688"/>
          </a:xfrm>
          <a:custGeom>
            <a:avLst/>
            <a:gdLst/>
            <a:ahLst/>
            <a:cxnLst/>
            <a:rect l="l" t="t" r="r" b="b"/>
            <a:pathLst>
              <a:path w="7539939" h="4866688">
                <a:moveTo>
                  <a:pt x="7539939" y="4866688"/>
                </a:moveTo>
                <a:lnTo>
                  <a:pt x="0" y="4866688"/>
                </a:lnTo>
                <a:lnTo>
                  <a:pt x="0" y="0"/>
                </a:lnTo>
                <a:lnTo>
                  <a:pt x="7539939" y="0"/>
                </a:lnTo>
                <a:lnTo>
                  <a:pt x="7539939" y="4866688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AutoShape 3"/>
          <p:cNvSpPr/>
          <p:nvPr/>
        </p:nvSpPr>
        <p:spPr>
          <a:xfrm>
            <a:off x="1028700" y="1386936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4" name="Freeform 4"/>
          <p:cNvSpPr/>
          <p:nvPr/>
        </p:nvSpPr>
        <p:spPr>
          <a:xfrm rot="-1479196">
            <a:off x="10739387" y="5864555"/>
            <a:ext cx="9707434" cy="6265707"/>
          </a:xfrm>
          <a:custGeom>
            <a:avLst/>
            <a:gdLst/>
            <a:ahLst/>
            <a:cxnLst/>
            <a:rect l="l" t="t" r="r" b="b"/>
            <a:pathLst>
              <a:path w="9707434" h="6265707">
                <a:moveTo>
                  <a:pt x="0" y="0"/>
                </a:moveTo>
                <a:lnTo>
                  <a:pt x="9707434" y="0"/>
                </a:lnTo>
                <a:lnTo>
                  <a:pt x="9707434" y="6265708"/>
                </a:lnTo>
                <a:lnTo>
                  <a:pt x="0" y="6265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5" name="Freeform 5"/>
          <p:cNvSpPr/>
          <p:nvPr/>
        </p:nvSpPr>
        <p:spPr>
          <a:xfrm>
            <a:off x="1028700" y="857929"/>
            <a:ext cx="355773" cy="341542"/>
          </a:xfrm>
          <a:custGeom>
            <a:avLst/>
            <a:gdLst/>
            <a:ahLst/>
            <a:cxnLst/>
            <a:rect l="l" t="t" r="r" b="b"/>
            <a:pathLst>
              <a:path w="355773" h="341542">
                <a:moveTo>
                  <a:pt x="0" y="0"/>
                </a:moveTo>
                <a:lnTo>
                  <a:pt x="355773" y="0"/>
                </a:lnTo>
                <a:lnTo>
                  <a:pt x="355773" y="341542"/>
                </a:lnTo>
                <a:lnTo>
                  <a:pt x="0" y="341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6" name="Group 6"/>
          <p:cNvGrpSpPr/>
          <p:nvPr/>
        </p:nvGrpSpPr>
        <p:grpSpPr>
          <a:xfrm>
            <a:off x="5989882" y="5533550"/>
            <a:ext cx="56201" cy="5620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457779" y="3663503"/>
            <a:ext cx="7441738" cy="359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 spc="-199" dirty="0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45%</a:t>
            </a:r>
          </a:p>
          <a:p>
            <a:pPr algn="l">
              <a:lnSpc>
                <a:spcPts val="4899"/>
              </a:lnSpc>
            </a:pPr>
            <a:r>
              <a:rPr lang="en-US" sz="3499" b="1" spc="-139" dirty="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Safe-space access concern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spc="-139" dirty="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Said there weren’t enough places to meet friends, or were unsure</a:t>
            </a:r>
          </a:p>
          <a:p>
            <a:pPr algn="l">
              <a:lnSpc>
                <a:spcPts val="6999"/>
              </a:lnSpc>
              <a:spcBef>
                <a:spcPct val="0"/>
              </a:spcBef>
            </a:pPr>
            <a:endParaRPr lang="en-US" sz="3499" spc="-139" dirty="0">
              <a:solidFill>
                <a:srgbClr val="222223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3870708" y="7082056"/>
            <a:ext cx="56201" cy="5620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EB282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06586" y="8741959"/>
            <a:ext cx="13591310" cy="1139476"/>
            <a:chOff x="0" y="0"/>
            <a:chExt cx="3579622" cy="30010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79622" cy="300101"/>
            </a:xfrm>
            <a:custGeom>
              <a:avLst/>
              <a:gdLst/>
              <a:ahLst/>
              <a:cxnLst/>
              <a:rect l="l" t="t" r="r" b="b"/>
              <a:pathLst>
                <a:path w="3579622" h="300101">
                  <a:moveTo>
                    <a:pt x="3579622" y="15380"/>
                  </a:moveTo>
                  <a:lnTo>
                    <a:pt x="3579622" y="284721"/>
                  </a:lnTo>
                  <a:cubicBezTo>
                    <a:pt x="3579622" y="288800"/>
                    <a:pt x="3578001" y="292712"/>
                    <a:pt x="3575117" y="295596"/>
                  </a:cubicBezTo>
                  <a:cubicBezTo>
                    <a:pt x="3572233" y="298481"/>
                    <a:pt x="3568321" y="300101"/>
                    <a:pt x="3564242" y="300101"/>
                  </a:cubicBezTo>
                  <a:lnTo>
                    <a:pt x="15380" y="300101"/>
                  </a:lnTo>
                  <a:cubicBezTo>
                    <a:pt x="11301" y="300101"/>
                    <a:pt x="7389" y="298481"/>
                    <a:pt x="4505" y="295596"/>
                  </a:cubicBezTo>
                  <a:cubicBezTo>
                    <a:pt x="1620" y="292712"/>
                    <a:pt x="0" y="288800"/>
                    <a:pt x="0" y="284721"/>
                  </a:cubicBezTo>
                  <a:lnTo>
                    <a:pt x="0" y="15380"/>
                  </a:lnTo>
                  <a:cubicBezTo>
                    <a:pt x="0" y="11301"/>
                    <a:pt x="1620" y="7389"/>
                    <a:pt x="4505" y="4505"/>
                  </a:cubicBezTo>
                  <a:cubicBezTo>
                    <a:pt x="7389" y="1620"/>
                    <a:pt x="11301" y="0"/>
                    <a:pt x="15380" y="0"/>
                  </a:cubicBezTo>
                  <a:lnTo>
                    <a:pt x="3564242" y="0"/>
                  </a:lnTo>
                  <a:cubicBezTo>
                    <a:pt x="3568321" y="0"/>
                    <a:pt x="3572233" y="1620"/>
                    <a:pt x="3575117" y="4505"/>
                  </a:cubicBezTo>
                  <a:cubicBezTo>
                    <a:pt x="3578001" y="7389"/>
                    <a:pt x="3579622" y="11301"/>
                    <a:pt x="3579622" y="15380"/>
                  </a:cubicBezTo>
                  <a:close/>
                </a:path>
              </a:pathLst>
            </a:custGeom>
            <a:solidFill>
              <a:srgbClr val="9EB28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57150"/>
              <a:ext cx="3579622" cy="242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2020367"/>
            <a:ext cx="17259300" cy="628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0"/>
              </a:lnSpc>
            </a:pPr>
            <a:r>
              <a:rPr lang="en-US" sz="5000" b="1" spc="-30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THE CHALLENGE ISN'T JUST FINDING ACTIVITIES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43285" y="898208"/>
            <a:ext cx="2822989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9"/>
              </a:lnSpc>
            </a:pPr>
            <a:r>
              <a:rPr lang="en-US" sz="2599" b="1" spc="-155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THE PROBLEM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26908" y="933450"/>
            <a:ext cx="3332392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00"/>
              </a:lnSpc>
            </a:pPr>
            <a:r>
              <a:rPr lang="en-US" sz="2000" spc="-12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BEACON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8457" y="9068492"/>
            <a:ext cx="15025407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spc="-108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Beacon’s actionable problem: barriers to safe, suitable after-school participation.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6586" y="3663503"/>
            <a:ext cx="7614793" cy="3968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 spc="-199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10,056</a:t>
            </a:r>
          </a:p>
          <a:p>
            <a:pPr algn="l">
              <a:lnSpc>
                <a:spcPts val="4899"/>
              </a:lnSpc>
            </a:pPr>
            <a:r>
              <a:rPr lang="en-US" sz="3499" b="1" spc="-139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Young alleged offenders</a:t>
            </a:r>
          </a:p>
          <a:p>
            <a:pPr algn="l">
              <a:lnSpc>
                <a:spcPts val="4899"/>
              </a:lnSpc>
            </a:pPr>
            <a:r>
              <a:rPr lang="en-US" sz="3499" spc="-139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Queensland, 2024-25      Ages 10 - 17 </a:t>
            </a:r>
          </a:p>
          <a:p>
            <a:pPr algn="l">
              <a:lnSpc>
                <a:spcPts val="4899"/>
              </a:lnSpc>
            </a:pPr>
            <a:r>
              <a:rPr lang="en-US" sz="3499" spc="-139">
                <a:solidFill>
                  <a:srgbClr val="869A69"/>
                </a:solidFill>
                <a:latin typeface="Garet"/>
                <a:ea typeface="Garet"/>
                <a:cs typeface="Garet"/>
                <a:sym typeface="Garet"/>
              </a:rPr>
              <a:t>Down 8.8% from the previous year</a:t>
            </a:r>
          </a:p>
          <a:p>
            <a:pPr algn="l">
              <a:lnSpc>
                <a:spcPts val="4899"/>
              </a:lnSpc>
            </a:pPr>
            <a:endParaRPr lang="en-US" sz="3499" spc="-139">
              <a:solidFill>
                <a:srgbClr val="869A69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899"/>
              </a:lnSpc>
              <a:spcBef>
                <a:spcPct val="0"/>
              </a:spcBef>
            </a:pPr>
            <a:endParaRPr lang="en-US" sz="3499" spc="-139">
              <a:solidFill>
                <a:srgbClr val="869A69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3865265" y="6446447"/>
            <a:ext cx="4066909" cy="338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QFCC survey Ages 13 - 18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21028" flipH="1" flipV="1">
            <a:off x="-1802152" y="-2184453"/>
            <a:ext cx="7539939" cy="4866688"/>
          </a:xfrm>
          <a:custGeom>
            <a:avLst/>
            <a:gdLst/>
            <a:ahLst/>
            <a:cxnLst/>
            <a:rect l="l" t="t" r="r" b="b"/>
            <a:pathLst>
              <a:path w="7539939" h="4866688">
                <a:moveTo>
                  <a:pt x="7539939" y="4866688"/>
                </a:moveTo>
                <a:lnTo>
                  <a:pt x="0" y="4866688"/>
                </a:lnTo>
                <a:lnTo>
                  <a:pt x="0" y="0"/>
                </a:lnTo>
                <a:lnTo>
                  <a:pt x="7539939" y="0"/>
                </a:lnTo>
                <a:lnTo>
                  <a:pt x="7539939" y="4866688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AutoShape 3"/>
          <p:cNvSpPr/>
          <p:nvPr/>
        </p:nvSpPr>
        <p:spPr>
          <a:xfrm>
            <a:off x="1028700" y="1386936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4" name="Freeform 4"/>
          <p:cNvSpPr/>
          <p:nvPr/>
        </p:nvSpPr>
        <p:spPr>
          <a:xfrm rot="-1479196">
            <a:off x="10739387" y="5864555"/>
            <a:ext cx="9707434" cy="6265707"/>
          </a:xfrm>
          <a:custGeom>
            <a:avLst/>
            <a:gdLst/>
            <a:ahLst/>
            <a:cxnLst/>
            <a:rect l="l" t="t" r="r" b="b"/>
            <a:pathLst>
              <a:path w="9707434" h="6265707">
                <a:moveTo>
                  <a:pt x="0" y="0"/>
                </a:moveTo>
                <a:lnTo>
                  <a:pt x="9707434" y="0"/>
                </a:lnTo>
                <a:lnTo>
                  <a:pt x="9707434" y="6265708"/>
                </a:lnTo>
                <a:lnTo>
                  <a:pt x="0" y="6265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5" name="Freeform 5"/>
          <p:cNvSpPr/>
          <p:nvPr/>
        </p:nvSpPr>
        <p:spPr>
          <a:xfrm>
            <a:off x="1028700" y="857929"/>
            <a:ext cx="355773" cy="341542"/>
          </a:xfrm>
          <a:custGeom>
            <a:avLst/>
            <a:gdLst/>
            <a:ahLst/>
            <a:cxnLst/>
            <a:rect l="l" t="t" r="r" b="b"/>
            <a:pathLst>
              <a:path w="355773" h="341542">
                <a:moveTo>
                  <a:pt x="0" y="0"/>
                </a:moveTo>
                <a:lnTo>
                  <a:pt x="355773" y="0"/>
                </a:lnTo>
                <a:lnTo>
                  <a:pt x="355773" y="341542"/>
                </a:lnTo>
                <a:lnTo>
                  <a:pt x="0" y="341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6" name="Group 6"/>
          <p:cNvGrpSpPr/>
          <p:nvPr/>
        </p:nvGrpSpPr>
        <p:grpSpPr>
          <a:xfrm>
            <a:off x="5555060" y="3712664"/>
            <a:ext cx="6058783" cy="5165850"/>
            <a:chOff x="0" y="0"/>
            <a:chExt cx="1595729" cy="13605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95729" cy="1360553"/>
            </a:xfrm>
            <a:custGeom>
              <a:avLst/>
              <a:gdLst/>
              <a:ahLst/>
              <a:cxnLst/>
              <a:rect l="l" t="t" r="r" b="b"/>
              <a:pathLst>
                <a:path w="1595729" h="1360553">
                  <a:moveTo>
                    <a:pt x="65168" y="0"/>
                  </a:moveTo>
                  <a:lnTo>
                    <a:pt x="1530561" y="0"/>
                  </a:lnTo>
                  <a:cubicBezTo>
                    <a:pt x="1547845" y="0"/>
                    <a:pt x="1564420" y="6866"/>
                    <a:pt x="1576642" y="19087"/>
                  </a:cubicBezTo>
                  <a:cubicBezTo>
                    <a:pt x="1588863" y="31309"/>
                    <a:pt x="1595729" y="47884"/>
                    <a:pt x="1595729" y="65168"/>
                  </a:cubicBezTo>
                  <a:lnTo>
                    <a:pt x="1595729" y="1295385"/>
                  </a:lnTo>
                  <a:cubicBezTo>
                    <a:pt x="1595729" y="1312669"/>
                    <a:pt x="1588863" y="1329245"/>
                    <a:pt x="1576642" y="1341466"/>
                  </a:cubicBezTo>
                  <a:cubicBezTo>
                    <a:pt x="1564420" y="1353687"/>
                    <a:pt x="1547845" y="1360553"/>
                    <a:pt x="1530561" y="1360553"/>
                  </a:cubicBezTo>
                  <a:lnTo>
                    <a:pt x="65168" y="1360553"/>
                  </a:lnTo>
                  <a:cubicBezTo>
                    <a:pt x="47884" y="1360553"/>
                    <a:pt x="31309" y="1353687"/>
                    <a:pt x="19087" y="1341466"/>
                  </a:cubicBezTo>
                  <a:cubicBezTo>
                    <a:pt x="6866" y="1329245"/>
                    <a:pt x="0" y="1312669"/>
                    <a:pt x="0" y="1295385"/>
                  </a:cubicBezTo>
                  <a:lnTo>
                    <a:pt x="0" y="65168"/>
                  </a:lnTo>
                  <a:cubicBezTo>
                    <a:pt x="0" y="47884"/>
                    <a:pt x="6866" y="31309"/>
                    <a:pt x="19087" y="19087"/>
                  </a:cubicBezTo>
                  <a:cubicBezTo>
                    <a:pt x="31309" y="6866"/>
                    <a:pt x="47884" y="0"/>
                    <a:pt x="65168" y="0"/>
                  </a:cubicBezTo>
                  <a:close/>
                </a:path>
              </a:pathLst>
            </a:custGeom>
            <a:solidFill>
              <a:srgbClr val="E7E5D7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7150"/>
              <a:ext cx="1595729" cy="13034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0763" y="4899627"/>
            <a:ext cx="5927375" cy="3924684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11837161" y="3712664"/>
            <a:ext cx="6021861" cy="5030146"/>
            <a:chOff x="0" y="0"/>
            <a:chExt cx="1586005" cy="13248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86005" cy="1324812"/>
            </a:xfrm>
            <a:custGeom>
              <a:avLst/>
              <a:gdLst/>
              <a:ahLst/>
              <a:cxnLst/>
              <a:rect l="l" t="t" r="r" b="b"/>
              <a:pathLst>
                <a:path w="1586005" h="1324812">
                  <a:moveTo>
                    <a:pt x="65567" y="0"/>
                  </a:moveTo>
                  <a:lnTo>
                    <a:pt x="1520437" y="0"/>
                  </a:lnTo>
                  <a:cubicBezTo>
                    <a:pt x="1556649" y="0"/>
                    <a:pt x="1586005" y="29356"/>
                    <a:pt x="1586005" y="65567"/>
                  </a:cubicBezTo>
                  <a:lnTo>
                    <a:pt x="1586005" y="1259245"/>
                  </a:lnTo>
                  <a:cubicBezTo>
                    <a:pt x="1586005" y="1276634"/>
                    <a:pt x="1579097" y="1293312"/>
                    <a:pt x="1566800" y="1305608"/>
                  </a:cubicBezTo>
                  <a:cubicBezTo>
                    <a:pt x="1554504" y="1317904"/>
                    <a:pt x="1537827" y="1324812"/>
                    <a:pt x="1520437" y="1324812"/>
                  </a:cubicBezTo>
                  <a:lnTo>
                    <a:pt x="65567" y="1324812"/>
                  </a:lnTo>
                  <a:cubicBezTo>
                    <a:pt x="29356" y="1324812"/>
                    <a:pt x="0" y="1295456"/>
                    <a:pt x="0" y="1259245"/>
                  </a:cubicBezTo>
                  <a:lnTo>
                    <a:pt x="0" y="65567"/>
                  </a:lnTo>
                  <a:cubicBezTo>
                    <a:pt x="0" y="48178"/>
                    <a:pt x="6908" y="31501"/>
                    <a:pt x="19204" y="19204"/>
                  </a:cubicBezTo>
                  <a:cubicBezTo>
                    <a:pt x="31501" y="6908"/>
                    <a:pt x="48178" y="0"/>
                    <a:pt x="65567" y="0"/>
                  </a:cubicBezTo>
                  <a:close/>
                </a:path>
              </a:pathLst>
            </a:custGeom>
            <a:solidFill>
              <a:srgbClr val="E7E5D7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1586005" cy="12676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44872" y="2846388"/>
            <a:ext cx="5012591" cy="7107887"/>
          </a:xfrm>
          <a:custGeom>
            <a:avLst/>
            <a:gdLst/>
            <a:ahLst/>
            <a:cxnLst/>
            <a:rect l="l" t="t" r="r" b="b"/>
            <a:pathLst>
              <a:path w="4881562" h="6671720">
                <a:moveTo>
                  <a:pt x="0" y="0"/>
                </a:moveTo>
                <a:lnTo>
                  <a:pt x="4881562" y="0"/>
                </a:lnTo>
                <a:lnTo>
                  <a:pt x="4881562" y="6671719"/>
                </a:lnTo>
                <a:lnTo>
                  <a:pt x="0" y="66717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8642" t="-15591" r="-1020" b="-13852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4" name="TextBox 14"/>
          <p:cNvSpPr txBox="1"/>
          <p:nvPr/>
        </p:nvSpPr>
        <p:spPr>
          <a:xfrm>
            <a:off x="1443285" y="898208"/>
            <a:ext cx="4158800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9"/>
              </a:lnSpc>
            </a:pPr>
            <a:r>
              <a:rPr lang="en-US" sz="2599" b="1" spc="-15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GEOGRAPHIC EVIDENCE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437663" y="915079"/>
            <a:ext cx="2115319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800"/>
              </a:lnSpc>
            </a:pPr>
            <a:r>
              <a:rPr lang="en-US" sz="2000" spc="-12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QUEENSLAND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93224" y="8878514"/>
            <a:ext cx="4942996" cy="32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1200" spc="-8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Source : QFCC (n.d., p. 3) · 2020 survey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2758" y="1830389"/>
            <a:ext cx="15926017" cy="263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-2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Safe-space access differs by remoteness.</a:t>
            </a:r>
          </a:p>
          <a:p>
            <a:pPr algn="l">
              <a:lnSpc>
                <a:spcPts val="7000"/>
              </a:lnSpc>
              <a:spcBef>
                <a:spcPct val="0"/>
              </a:spcBef>
            </a:pPr>
            <a:endParaRPr lang="en-US" sz="5000" b="1" spc="-20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7000"/>
              </a:lnSpc>
              <a:spcBef>
                <a:spcPct val="0"/>
              </a:spcBef>
            </a:pPr>
            <a:endParaRPr lang="en-US" sz="5000" b="1" spc="-20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114711" y="3914594"/>
            <a:ext cx="5251493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b="1" spc="-96">
                <a:solidFill>
                  <a:srgbClr val="322D29"/>
                </a:solidFill>
                <a:latin typeface="Garet Bold"/>
                <a:ea typeface="Garet Bold"/>
                <a:cs typeface="Garet Bold"/>
                <a:sym typeface="Garet Bold"/>
              </a:rPr>
              <a:t>Safe-space availability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 spc="-96">
                <a:solidFill>
                  <a:srgbClr val="322D29"/>
                </a:solidFill>
                <a:latin typeface="Garet"/>
                <a:ea typeface="Garet"/>
                <a:cs typeface="Garet"/>
                <a:sym typeface="Garet"/>
              </a:rPr>
              <a:t>Young people reporting enough safe spaces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38379" y="3914594"/>
            <a:ext cx="5619424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 spc="-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Brisbane recorded-offence rates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53871" y="4087782"/>
            <a:ext cx="5932151" cy="4140527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1144458" y="8751201"/>
            <a:ext cx="4599504" cy="32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200" spc="-8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QGSO (2026), Table 8 · Scale 0–20,000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21028" flipH="1" flipV="1">
            <a:off x="-1802152" y="-2184453"/>
            <a:ext cx="7539939" cy="4866688"/>
          </a:xfrm>
          <a:custGeom>
            <a:avLst/>
            <a:gdLst/>
            <a:ahLst/>
            <a:cxnLst/>
            <a:rect l="l" t="t" r="r" b="b"/>
            <a:pathLst>
              <a:path w="7539939" h="4866688">
                <a:moveTo>
                  <a:pt x="7539939" y="4866688"/>
                </a:moveTo>
                <a:lnTo>
                  <a:pt x="0" y="4866688"/>
                </a:lnTo>
                <a:lnTo>
                  <a:pt x="0" y="0"/>
                </a:lnTo>
                <a:lnTo>
                  <a:pt x="7539939" y="0"/>
                </a:lnTo>
                <a:lnTo>
                  <a:pt x="7539939" y="4866688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AutoShape 3"/>
          <p:cNvSpPr/>
          <p:nvPr/>
        </p:nvSpPr>
        <p:spPr>
          <a:xfrm>
            <a:off x="1028700" y="1386936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4" name="Freeform 4"/>
          <p:cNvSpPr/>
          <p:nvPr/>
        </p:nvSpPr>
        <p:spPr>
          <a:xfrm rot="-1479196">
            <a:off x="10565029" y="5957127"/>
            <a:ext cx="9707434" cy="6265707"/>
          </a:xfrm>
          <a:custGeom>
            <a:avLst/>
            <a:gdLst/>
            <a:ahLst/>
            <a:cxnLst/>
            <a:rect l="l" t="t" r="r" b="b"/>
            <a:pathLst>
              <a:path w="9707434" h="6265707">
                <a:moveTo>
                  <a:pt x="0" y="0"/>
                </a:moveTo>
                <a:lnTo>
                  <a:pt x="9707434" y="0"/>
                </a:lnTo>
                <a:lnTo>
                  <a:pt x="9707434" y="6265707"/>
                </a:lnTo>
                <a:lnTo>
                  <a:pt x="0" y="6265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LK" dirty="0"/>
          </a:p>
        </p:txBody>
      </p:sp>
      <p:sp>
        <p:nvSpPr>
          <p:cNvPr id="5" name="Freeform 5"/>
          <p:cNvSpPr/>
          <p:nvPr/>
        </p:nvSpPr>
        <p:spPr>
          <a:xfrm>
            <a:off x="1028700" y="857929"/>
            <a:ext cx="355773" cy="341542"/>
          </a:xfrm>
          <a:custGeom>
            <a:avLst/>
            <a:gdLst/>
            <a:ahLst/>
            <a:cxnLst/>
            <a:rect l="l" t="t" r="r" b="b"/>
            <a:pathLst>
              <a:path w="355773" h="341542">
                <a:moveTo>
                  <a:pt x="0" y="0"/>
                </a:moveTo>
                <a:lnTo>
                  <a:pt x="355773" y="0"/>
                </a:lnTo>
                <a:lnTo>
                  <a:pt x="355773" y="341542"/>
                </a:lnTo>
                <a:lnTo>
                  <a:pt x="0" y="341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6" name="Group 6"/>
          <p:cNvGrpSpPr/>
          <p:nvPr/>
        </p:nvGrpSpPr>
        <p:grpSpPr>
          <a:xfrm>
            <a:off x="943402" y="5993775"/>
            <a:ext cx="3792994" cy="997141"/>
            <a:chOff x="0" y="0"/>
            <a:chExt cx="998978" cy="2626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8978" cy="262622"/>
            </a:xfrm>
            <a:custGeom>
              <a:avLst/>
              <a:gdLst/>
              <a:ahLst/>
              <a:cxnLst/>
              <a:rect l="l" t="t" r="r" b="b"/>
              <a:pathLst>
                <a:path w="998978" h="262622">
                  <a:moveTo>
                    <a:pt x="44904" y="0"/>
                  </a:moveTo>
                  <a:lnTo>
                    <a:pt x="954073" y="0"/>
                  </a:lnTo>
                  <a:cubicBezTo>
                    <a:pt x="978873" y="0"/>
                    <a:pt x="998978" y="20104"/>
                    <a:pt x="998978" y="44904"/>
                  </a:cubicBezTo>
                  <a:lnTo>
                    <a:pt x="998978" y="217717"/>
                  </a:lnTo>
                  <a:cubicBezTo>
                    <a:pt x="998978" y="242517"/>
                    <a:pt x="978873" y="262622"/>
                    <a:pt x="954073" y="262622"/>
                  </a:cubicBezTo>
                  <a:lnTo>
                    <a:pt x="44904" y="262622"/>
                  </a:lnTo>
                  <a:cubicBezTo>
                    <a:pt x="20104" y="262622"/>
                    <a:pt x="0" y="242517"/>
                    <a:pt x="0" y="217717"/>
                  </a:cubicBezTo>
                  <a:lnTo>
                    <a:pt x="0" y="44904"/>
                  </a:lnTo>
                  <a:cubicBezTo>
                    <a:pt x="0" y="20104"/>
                    <a:pt x="20104" y="0"/>
                    <a:pt x="44904" y="0"/>
                  </a:cubicBezTo>
                  <a:close/>
                </a:path>
              </a:pathLst>
            </a:custGeom>
            <a:solidFill>
              <a:srgbClr val="9EB282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6675"/>
              <a:ext cx="998978" cy="195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2600" spc="-10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Attending alone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279581" y="3422173"/>
            <a:ext cx="3899311" cy="2321374"/>
            <a:chOff x="0" y="-9525"/>
            <a:chExt cx="1026979" cy="6113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8978" cy="592340"/>
            </a:xfrm>
            <a:custGeom>
              <a:avLst/>
              <a:gdLst/>
              <a:ahLst/>
              <a:cxnLst/>
              <a:rect l="l" t="t" r="r" b="b"/>
              <a:pathLst>
                <a:path w="698536" h="592340">
                  <a:moveTo>
                    <a:pt x="64218" y="0"/>
                  </a:moveTo>
                  <a:lnTo>
                    <a:pt x="634318" y="0"/>
                  </a:lnTo>
                  <a:cubicBezTo>
                    <a:pt x="669785" y="0"/>
                    <a:pt x="698536" y="28751"/>
                    <a:pt x="698536" y="64218"/>
                  </a:cubicBezTo>
                  <a:lnTo>
                    <a:pt x="698536" y="528122"/>
                  </a:lnTo>
                  <a:cubicBezTo>
                    <a:pt x="698536" y="563589"/>
                    <a:pt x="669785" y="592340"/>
                    <a:pt x="634318" y="592340"/>
                  </a:cubicBezTo>
                  <a:lnTo>
                    <a:pt x="64218" y="592340"/>
                  </a:lnTo>
                  <a:cubicBezTo>
                    <a:pt x="28751" y="592340"/>
                    <a:pt x="0" y="563589"/>
                    <a:pt x="0" y="528122"/>
                  </a:cubicBezTo>
                  <a:lnTo>
                    <a:pt x="0" y="64218"/>
                  </a:lnTo>
                  <a:cubicBezTo>
                    <a:pt x="0" y="28751"/>
                    <a:pt x="28751" y="0"/>
                    <a:pt x="64218" y="0"/>
                  </a:cubicBezTo>
                  <a:close/>
                </a:path>
              </a:pathLst>
            </a:custGeom>
            <a:solidFill>
              <a:srgbClr val="9EB282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001" y="-9525"/>
              <a:ext cx="998978" cy="611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905"/>
                </a:lnSpc>
              </a:pPr>
              <a:r>
                <a:rPr lang="en-US" sz="2600" spc="-123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Lower participation in supervised activities.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292520" y="3704907"/>
            <a:ext cx="4601169" cy="2038640"/>
            <a:chOff x="0" y="0"/>
            <a:chExt cx="1211830" cy="6028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1830" cy="602829"/>
            </a:xfrm>
            <a:custGeom>
              <a:avLst/>
              <a:gdLst/>
              <a:ahLst/>
              <a:cxnLst/>
              <a:rect l="l" t="t" r="r" b="b"/>
              <a:pathLst>
                <a:path w="1211830" h="602829">
                  <a:moveTo>
                    <a:pt x="37017" y="0"/>
                  </a:moveTo>
                  <a:lnTo>
                    <a:pt x="1174813" y="0"/>
                  </a:lnTo>
                  <a:cubicBezTo>
                    <a:pt x="1195257" y="0"/>
                    <a:pt x="1211830" y="16573"/>
                    <a:pt x="1211830" y="37017"/>
                  </a:cubicBezTo>
                  <a:lnTo>
                    <a:pt x="1211830" y="565812"/>
                  </a:lnTo>
                  <a:cubicBezTo>
                    <a:pt x="1211830" y="586256"/>
                    <a:pt x="1195257" y="602829"/>
                    <a:pt x="1174813" y="602829"/>
                  </a:cubicBezTo>
                  <a:lnTo>
                    <a:pt x="37017" y="602829"/>
                  </a:lnTo>
                  <a:cubicBezTo>
                    <a:pt x="16573" y="602829"/>
                    <a:pt x="0" y="586256"/>
                    <a:pt x="0" y="565812"/>
                  </a:cubicBezTo>
                  <a:lnTo>
                    <a:pt x="0" y="37017"/>
                  </a:lnTo>
                  <a:cubicBezTo>
                    <a:pt x="0" y="16573"/>
                    <a:pt x="16573" y="0"/>
                    <a:pt x="37017" y="0"/>
                  </a:cubicBezTo>
                  <a:close/>
                </a:path>
              </a:pathLst>
            </a:custGeom>
            <a:solidFill>
              <a:srgbClr val="9EB282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1211830" cy="583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595"/>
                </a:lnSpc>
              </a:pPr>
              <a:r>
                <a:rPr lang="en-US" sz="2600" spc="-123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Greater exposure to disengagement and risky situations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7741" y="7289175"/>
            <a:ext cx="3818655" cy="997141"/>
            <a:chOff x="0" y="0"/>
            <a:chExt cx="1005736" cy="26262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05736" cy="262622"/>
            </a:xfrm>
            <a:custGeom>
              <a:avLst/>
              <a:gdLst/>
              <a:ahLst/>
              <a:cxnLst/>
              <a:rect l="l" t="t" r="r" b="b"/>
              <a:pathLst>
                <a:path w="1005736" h="262622">
                  <a:moveTo>
                    <a:pt x="44603" y="0"/>
                  </a:moveTo>
                  <a:lnTo>
                    <a:pt x="961133" y="0"/>
                  </a:lnTo>
                  <a:cubicBezTo>
                    <a:pt x="985767" y="0"/>
                    <a:pt x="1005736" y="19969"/>
                    <a:pt x="1005736" y="44603"/>
                  </a:cubicBezTo>
                  <a:lnTo>
                    <a:pt x="1005736" y="218019"/>
                  </a:lnTo>
                  <a:cubicBezTo>
                    <a:pt x="1005736" y="242652"/>
                    <a:pt x="985767" y="262622"/>
                    <a:pt x="961133" y="262622"/>
                  </a:cubicBezTo>
                  <a:lnTo>
                    <a:pt x="44603" y="262622"/>
                  </a:lnTo>
                  <a:cubicBezTo>
                    <a:pt x="19969" y="262622"/>
                    <a:pt x="0" y="242652"/>
                    <a:pt x="0" y="218019"/>
                  </a:cubicBezTo>
                  <a:lnTo>
                    <a:pt x="0" y="44603"/>
                  </a:lnTo>
                  <a:cubicBezTo>
                    <a:pt x="0" y="19969"/>
                    <a:pt x="19969" y="0"/>
                    <a:pt x="44603" y="0"/>
                  </a:cubicBezTo>
                  <a:close/>
                </a:path>
              </a:pathLst>
            </a:custGeom>
            <a:solidFill>
              <a:srgbClr val="9EB282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66675"/>
              <a:ext cx="1005736" cy="195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2600" spc="-10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Perceived safety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7741" y="8591410"/>
            <a:ext cx="3818655" cy="997141"/>
            <a:chOff x="0" y="0"/>
            <a:chExt cx="1005736" cy="26262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05736" cy="262622"/>
            </a:xfrm>
            <a:custGeom>
              <a:avLst/>
              <a:gdLst/>
              <a:ahLst/>
              <a:cxnLst/>
              <a:rect l="l" t="t" r="r" b="b"/>
              <a:pathLst>
                <a:path w="1005736" h="262622">
                  <a:moveTo>
                    <a:pt x="44603" y="0"/>
                  </a:moveTo>
                  <a:lnTo>
                    <a:pt x="961133" y="0"/>
                  </a:lnTo>
                  <a:cubicBezTo>
                    <a:pt x="985767" y="0"/>
                    <a:pt x="1005736" y="19969"/>
                    <a:pt x="1005736" y="44603"/>
                  </a:cubicBezTo>
                  <a:lnTo>
                    <a:pt x="1005736" y="218019"/>
                  </a:lnTo>
                  <a:cubicBezTo>
                    <a:pt x="1005736" y="242652"/>
                    <a:pt x="985767" y="262622"/>
                    <a:pt x="961133" y="262622"/>
                  </a:cubicBezTo>
                  <a:lnTo>
                    <a:pt x="44603" y="262622"/>
                  </a:lnTo>
                  <a:cubicBezTo>
                    <a:pt x="19969" y="262622"/>
                    <a:pt x="0" y="242652"/>
                    <a:pt x="0" y="218019"/>
                  </a:cubicBezTo>
                  <a:lnTo>
                    <a:pt x="0" y="44603"/>
                  </a:lnTo>
                  <a:cubicBezTo>
                    <a:pt x="0" y="19969"/>
                    <a:pt x="19969" y="0"/>
                    <a:pt x="44603" y="0"/>
                  </a:cubicBezTo>
                  <a:close/>
                </a:path>
              </a:pathLst>
            </a:custGeom>
            <a:solidFill>
              <a:srgbClr val="9EB282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66675"/>
              <a:ext cx="1005736" cy="195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2600" spc="-10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Limited activity choice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7741" y="4644929"/>
            <a:ext cx="3792994" cy="997141"/>
            <a:chOff x="0" y="0"/>
            <a:chExt cx="998978" cy="26262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98978" cy="262622"/>
            </a:xfrm>
            <a:custGeom>
              <a:avLst/>
              <a:gdLst/>
              <a:ahLst/>
              <a:cxnLst/>
              <a:rect l="l" t="t" r="r" b="b"/>
              <a:pathLst>
                <a:path w="998978" h="262622">
                  <a:moveTo>
                    <a:pt x="44904" y="0"/>
                  </a:moveTo>
                  <a:lnTo>
                    <a:pt x="954073" y="0"/>
                  </a:lnTo>
                  <a:cubicBezTo>
                    <a:pt x="978873" y="0"/>
                    <a:pt x="998978" y="20104"/>
                    <a:pt x="998978" y="44904"/>
                  </a:cubicBezTo>
                  <a:lnTo>
                    <a:pt x="998978" y="217717"/>
                  </a:lnTo>
                  <a:cubicBezTo>
                    <a:pt x="998978" y="242517"/>
                    <a:pt x="978873" y="262622"/>
                    <a:pt x="954073" y="262622"/>
                  </a:cubicBezTo>
                  <a:lnTo>
                    <a:pt x="44904" y="262622"/>
                  </a:lnTo>
                  <a:cubicBezTo>
                    <a:pt x="20104" y="262622"/>
                    <a:pt x="0" y="242517"/>
                    <a:pt x="0" y="217717"/>
                  </a:cubicBezTo>
                  <a:lnTo>
                    <a:pt x="0" y="44904"/>
                  </a:lnTo>
                  <a:cubicBezTo>
                    <a:pt x="0" y="20104"/>
                    <a:pt x="20104" y="0"/>
                    <a:pt x="44904" y="0"/>
                  </a:cubicBezTo>
                  <a:close/>
                </a:path>
              </a:pathLst>
            </a:custGeom>
            <a:solidFill>
              <a:srgbClr val="9EB282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66675"/>
              <a:ext cx="998978" cy="195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2600" spc="-10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Cost and transport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17741" y="3295363"/>
            <a:ext cx="3818655" cy="997141"/>
            <a:chOff x="0" y="0"/>
            <a:chExt cx="1005736" cy="26262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05736" cy="262622"/>
            </a:xfrm>
            <a:custGeom>
              <a:avLst/>
              <a:gdLst/>
              <a:ahLst/>
              <a:cxnLst/>
              <a:rect l="l" t="t" r="r" b="b"/>
              <a:pathLst>
                <a:path w="1005736" h="262622">
                  <a:moveTo>
                    <a:pt x="44603" y="0"/>
                  </a:moveTo>
                  <a:lnTo>
                    <a:pt x="961133" y="0"/>
                  </a:lnTo>
                  <a:cubicBezTo>
                    <a:pt x="985767" y="0"/>
                    <a:pt x="1005736" y="19969"/>
                    <a:pt x="1005736" y="44603"/>
                  </a:cubicBezTo>
                  <a:lnTo>
                    <a:pt x="1005736" y="218019"/>
                  </a:lnTo>
                  <a:cubicBezTo>
                    <a:pt x="1005736" y="242652"/>
                    <a:pt x="985767" y="262622"/>
                    <a:pt x="961133" y="262622"/>
                  </a:cubicBezTo>
                  <a:lnTo>
                    <a:pt x="44603" y="262622"/>
                  </a:lnTo>
                  <a:cubicBezTo>
                    <a:pt x="19969" y="262622"/>
                    <a:pt x="0" y="242652"/>
                    <a:pt x="0" y="218019"/>
                  </a:cubicBezTo>
                  <a:lnTo>
                    <a:pt x="0" y="44603"/>
                  </a:lnTo>
                  <a:cubicBezTo>
                    <a:pt x="0" y="19969"/>
                    <a:pt x="19969" y="0"/>
                    <a:pt x="44603" y="0"/>
                  </a:cubicBezTo>
                  <a:close/>
                </a:path>
              </a:pathLst>
            </a:custGeom>
            <a:solidFill>
              <a:srgbClr val="9EB282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66675"/>
              <a:ext cx="1005736" cy="195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2600" spc="-104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Hard to discover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4860369" y="2876169"/>
            <a:ext cx="1054780" cy="295338"/>
          </a:xfrm>
          <a:custGeom>
            <a:avLst/>
            <a:gdLst/>
            <a:ahLst/>
            <a:cxnLst/>
            <a:rect l="l" t="t" r="r" b="b"/>
            <a:pathLst>
              <a:path w="1054780" h="295338">
                <a:moveTo>
                  <a:pt x="0" y="0"/>
                </a:moveTo>
                <a:lnTo>
                  <a:pt x="1054780" y="0"/>
                </a:lnTo>
                <a:lnTo>
                  <a:pt x="1054780" y="295338"/>
                </a:lnTo>
                <a:lnTo>
                  <a:pt x="0" y="2953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28" name="TextBox 28"/>
          <p:cNvSpPr txBox="1"/>
          <p:nvPr/>
        </p:nvSpPr>
        <p:spPr>
          <a:xfrm>
            <a:off x="943402" y="1710786"/>
            <a:ext cx="16677984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0"/>
              </a:lnSpc>
            </a:pPr>
            <a:r>
              <a:rPr lang="en-US" sz="5000" b="1" spc="-18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BARRIERS KEEP YOUNG PEOPLE FROM PARTICIPATING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43285" y="898208"/>
            <a:ext cx="3779395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9"/>
              </a:lnSpc>
            </a:pPr>
            <a:r>
              <a:rPr lang="en-US" sz="2599" b="1" spc="-15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WHY  IT  EXISTS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98208" y="1085850"/>
            <a:ext cx="4361092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0"/>
              </a:lnSpc>
            </a:pPr>
            <a:r>
              <a:rPr lang="en-US" sz="2000" spc="114">
                <a:solidFill>
                  <a:srgbClr val="FFFFFF">
                    <a:alpha val="81961"/>
                  </a:srgbClr>
                </a:solidFill>
                <a:latin typeface="Garet"/>
                <a:ea typeface="Garet"/>
                <a:cs typeface="Garet"/>
                <a:sym typeface="Garet"/>
              </a:rPr>
              <a:t>THE PARTICIPATION JOURNEY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1511" y="2625186"/>
            <a:ext cx="4601169" cy="490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6"/>
              </a:lnSpc>
              <a:spcBef>
                <a:spcPct val="0"/>
              </a:spcBef>
            </a:pPr>
            <a:r>
              <a:rPr lang="en-US" sz="2600" b="1" spc="31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BARRIERS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292520" y="2812733"/>
            <a:ext cx="460116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spc="31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THEORETICAL RISK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43416" y="2812733"/>
            <a:ext cx="460116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spc="312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POTENTIAL EFFECT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074602" y="6914146"/>
            <a:ext cx="3818655" cy="2619553"/>
            <a:chOff x="0" y="0"/>
            <a:chExt cx="698536" cy="72279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98536" cy="722790"/>
            </a:xfrm>
            <a:custGeom>
              <a:avLst/>
              <a:gdLst/>
              <a:ahLst/>
              <a:cxnLst/>
              <a:rect l="l" t="t" r="r" b="b"/>
              <a:pathLst>
                <a:path w="698536" h="722790">
                  <a:moveTo>
                    <a:pt x="64218" y="0"/>
                  </a:moveTo>
                  <a:lnTo>
                    <a:pt x="634318" y="0"/>
                  </a:lnTo>
                  <a:cubicBezTo>
                    <a:pt x="669785" y="0"/>
                    <a:pt x="698536" y="28751"/>
                    <a:pt x="698536" y="64218"/>
                  </a:cubicBezTo>
                  <a:lnTo>
                    <a:pt x="698536" y="658572"/>
                  </a:lnTo>
                  <a:cubicBezTo>
                    <a:pt x="698536" y="694038"/>
                    <a:pt x="669785" y="722790"/>
                    <a:pt x="634318" y="722790"/>
                  </a:cubicBezTo>
                  <a:lnTo>
                    <a:pt x="64218" y="722790"/>
                  </a:lnTo>
                  <a:cubicBezTo>
                    <a:pt x="28751" y="722790"/>
                    <a:pt x="0" y="694038"/>
                    <a:pt x="0" y="658572"/>
                  </a:cubicBezTo>
                  <a:lnTo>
                    <a:pt x="0" y="64218"/>
                  </a:lnTo>
                  <a:cubicBezTo>
                    <a:pt x="0" y="28751"/>
                    <a:pt x="28751" y="0"/>
                    <a:pt x="64218" y="0"/>
                  </a:cubicBezTo>
                  <a:close/>
                </a:path>
              </a:pathLst>
            </a:custGeom>
            <a:solidFill>
              <a:srgbClr val="9EB282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698536" cy="741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3905"/>
                </a:lnSpc>
              </a:pPr>
              <a:r>
                <a:rPr lang="en-US" sz="2600" spc="-123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More unstructured time without trusted adults</a:t>
              </a:r>
            </a:p>
          </p:txBody>
        </p:sp>
      </p:grpSp>
      <p:sp>
        <p:nvSpPr>
          <p:cNvPr id="37" name="Freeform 37"/>
          <p:cNvSpPr/>
          <p:nvPr/>
        </p:nvSpPr>
        <p:spPr>
          <a:xfrm>
            <a:off x="12040092" y="2876169"/>
            <a:ext cx="1054780" cy="295338"/>
          </a:xfrm>
          <a:custGeom>
            <a:avLst/>
            <a:gdLst/>
            <a:ahLst/>
            <a:cxnLst/>
            <a:rect l="l" t="t" r="r" b="b"/>
            <a:pathLst>
              <a:path w="1054780" h="295338">
                <a:moveTo>
                  <a:pt x="0" y="0"/>
                </a:moveTo>
                <a:lnTo>
                  <a:pt x="1054780" y="0"/>
                </a:lnTo>
                <a:lnTo>
                  <a:pt x="1054780" y="295338"/>
                </a:lnTo>
                <a:lnTo>
                  <a:pt x="0" y="2953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8" name="TextBox 38"/>
          <p:cNvSpPr txBox="1"/>
          <p:nvPr/>
        </p:nvSpPr>
        <p:spPr>
          <a:xfrm>
            <a:off x="8429527" y="9881441"/>
            <a:ext cx="13298454" cy="3308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600" spc="2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Sources: ASC (n.d.-a); QFCC (n.d.); Osgood et al. (1996)</a:t>
            </a:r>
          </a:p>
        </p:txBody>
      </p:sp>
      <p:sp>
        <p:nvSpPr>
          <p:cNvPr id="39" name="Freeform 39"/>
          <p:cNvSpPr/>
          <p:nvPr/>
        </p:nvSpPr>
        <p:spPr>
          <a:xfrm rot="5311055">
            <a:off x="8365110" y="6154934"/>
            <a:ext cx="1054780" cy="295338"/>
          </a:xfrm>
          <a:custGeom>
            <a:avLst/>
            <a:gdLst/>
            <a:ahLst/>
            <a:cxnLst/>
            <a:rect l="l" t="t" r="r" b="b"/>
            <a:pathLst>
              <a:path w="1054780" h="295338">
                <a:moveTo>
                  <a:pt x="0" y="0"/>
                </a:moveTo>
                <a:lnTo>
                  <a:pt x="1054780" y="0"/>
                </a:lnTo>
                <a:lnTo>
                  <a:pt x="1054780" y="295338"/>
                </a:lnTo>
                <a:lnTo>
                  <a:pt x="0" y="2953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21028" flipH="1" flipV="1">
            <a:off x="-1802152" y="-2184453"/>
            <a:ext cx="7539939" cy="4866688"/>
          </a:xfrm>
          <a:custGeom>
            <a:avLst/>
            <a:gdLst/>
            <a:ahLst/>
            <a:cxnLst/>
            <a:rect l="l" t="t" r="r" b="b"/>
            <a:pathLst>
              <a:path w="7539939" h="4866688">
                <a:moveTo>
                  <a:pt x="7539939" y="4866688"/>
                </a:moveTo>
                <a:lnTo>
                  <a:pt x="0" y="4866688"/>
                </a:lnTo>
                <a:lnTo>
                  <a:pt x="0" y="0"/>
                </a:lnTo>
                <a:lnTo>
                  <a:pt x="7539939" y="0"/>
                </a:lnTo>
                <a:lnTo>
                  <a:pt x="7539939" y="4866688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1479196">
            <a:off x="10739387" y="5864555"/>
            <a:ext cx="9707434" cy="6265707"/>
          </a:xfrm>
          <a:custGeom>
            <a:avLst/>
            <a:gdLst/>
            <a:ahLst/>
            <a:cxnLst/>
            <a:rect l="l" t="t" r="r" b="b"/>
            <a:pathLst>
              <a:path w="9707434" h="6265707">
                <a:moveTo>
                  <a:pt x="0" y="0"/>
                </a:moveTo>
                <a:lnTo>
                  <a:pt x="9707434" y="0"/>
                </a:lnTo>
                <a:lnTo>
                  <a:pt x="9707434" y="6265708"/>
                </a:lnTo>
                <a:lnTo>
                  <a:pt x="0" y="62657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4" name="AutoShape 4"/>
          <p:cNvSpPr/>
          <p:nvPr/>
        </p:nvSpPr>
        <p:spPr>
          <a:xfrm>
            <a:off x="1028700" y="1386936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5" name="Freeform 5"/>
          <p:cNvSpPr/>
          <p:nvPr/>
        </p:nvSpPr>
        <p:spPr>
          <a:xfrm>
            <a:off x="1028700" y="857929"/>
            <a:ext cx="355773" cy="341542"/>
          </a:xfrm>
          <a:custGeom>
            <a:avLst/>
            <a:gdLst/>
            <a:ahLst/>
            <a:cxnLst/>
            <a:rect l="l" t="t" r="r" b="b"/>
            <a:pathLst>
              <a:path w="355773" h="341542">
                <a:moveTo>
                  <a:pt x="0" y="0"/>
                </a:moveTo>
                <a:lnTo>
                  <a:pt x="355773" y="0"/>
                </a:lnTo>
                <a:lnTo>
                  <a:pt x="355773" y="341542"/>
                </a:lnTo>
                <a:lnTo>
                  <a:pt x="0" y="341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6" name="TextBox 6"/>
          <p:cNvSpPr txBox="1"/>
          <p:nvPr/>
        </p:nvSpPr>
        <p:spPr>
          <a:xfrm>
            <a:off x="1028700" y="1828180"/>
            <a:ext cx="15395737" cy="1200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0"/>
              </a:lnSpc>
            </a:pPr>
            <a:r>
              <a:rPr lang="en-US" sz="5000" b="1" spc="-30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TWO THEORIES EXPLAIN WHY SUPERVISION AND BELONGING MATTER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43285" y="898208"/>
            <a:ext cx="2822989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9"/>
              </a:lnSpc>
            </a:pPr>
            <a:r>
              <a:rPr lang="en-US" sz="2599" b="1" spc="-155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WHY IT PERSISTS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26908" y="933450"/>
            <a:ext cx="3332392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00"/>
              </a:lnSpc>
            </a:pPr>
            <a:r>
              <a:rPr lang="en-US" sz="2000" spc="-120">
                <a:solidFill>
                  <a:srgbClr val="222223">
                    <a:alpha val="81961"/>
                  </a:srgbClr>
                </a:solidFill>
                <a:latin typeface="Garet"/>
                <a:ea typeface="Garet"/>
                <a:cs typeface="Garet"/>
                <a:sym typeface="Garet"/>
              </a:rPr>
              <a:t>EVIDENCE-LED DESIGN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3028361"/>
            <a:ext cx="7917170" cy="4764049"/>
            <a:chOff x="0" y="0"/>
            <a:chExt cx="10556227" cy="6352065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0556227" cy="6352065"/>
              <a:chOff x="0" y="0"/>
              <a:chExt cx="2159563" cy="129944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159563" cy="1299447"/>
              </a:xfrm>
              <a:custGeom>
                <a:avLst/>
                <a:gdLst/>
                <a:ahLst/>
                <a:cxnLst/>
                <a:rect l="l" t="t" r="r" b="b"/>
                <a:pathLst>
                  <a:path w="2159563" h="1299447">
                    <a:moveTo>
                      <a:pt x="2159563" y="26402"/>
                    </a:moveTo>
                    <a:lnTo>
                      <a:pt x="2159563" y="1273045"/>
                    </a:lnTo>
                    <a:cubicBezTo>
                      <a:pt x="2159563" y="1280047"/>
                      <a:pt x="2156782" y="1286763"/>
                      <a:pt x="2151830" y="1291714"/>
                    </a:cubicBezTo>
                    <a:cubicBezTo>
                      <a:pt x="2146879" y="1296666"/>
                      <a:pt x="2140163" y="1299447"/>
                      <a:pt x="2133161" y="1299447"/>
                    </a:cubicBezTo>
                    <a:lnTo>
                      <a:pt x="26402" y="1299447"/>
                    </a:lnTo>
                    <a:cubicBezTo>
                      <a:pt x="19400" y="1299447"/>
                      <a:pt x="12684" y="1296666"/>
                      <a:pt x="7733" y="1291714"/>
                    </a:cubicBezTo>
                    <a:cubicBezTo>
                      <a:pt x="2782" y="1286763"/>
                      <a:pt x="0" y="1280047"/>
                      <a:pt x="0" y="1273045"/>
                    </a:cubicBezTo>
                    <a:lnTo>
                      <a:pt x="0" y="26402"/>
                    </a:lnTo>
                    <a:cubicBezTo>
                      <a:pt x="0" y="19400"/>
                      <a:pt x="2782" y="12684"/>
                      <a:pt x="7733" y="7733"/>
                    </a:cubicBezTo>
                    <a:cubicBezTo>
                      <a:pt x="12684" y="2782"/>
                      <a:pt x="19400" y="0"/>
                      <a:pt x="26402" y="0"/>
                    </a:cubicBezTo>
                    <a:lnTo>
                      <a:pt x="2133161" y="0"/>
                    </a:lnTo>
                    <a:cubicBezTo>
                      <a:pt x="2140163" y="0"/>
                      <a:pt x="2146879" y="2782"/>
                      <a:pt x="2151830" y="7733"/>
                    </a:cubicBezTo>
                    <a:cubicBezTo>
                      <a:pt x="2156782" y="12684"/>
                      <a:pt x="2159563" y="19400"/>
                      <a:pt x="2159563" y="26402"/>
                    </a:cubicBezTo>
                    <a:close/>
                  </a:path>
                </a:pathLst>
              </a:custGeom>
              <a:solidFill>
                <a:srgbClr val="222223">
                  <a:alpha val="77647"/>
                </a:srgbClr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57150"/>
                <a:ext cx="2159563" cy="12422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00"/>
                  </a:lnSpc>
                </a:pPr>
                <a:endParaRPr/>
              </a:p>
            </p:txBody>
          </p:sp>
        </p:grpSp>
        <p:sp>
          <p:nvSpPr>
            <p:cNvPr id="13" name="AutoShape 13"/>
            <p:cNvSpPr/>
            <p:nvPr/>
          </p:nvSpPr>
          <p:spPr>
            <a:xfrm>
              <a:off x="586698" y="3019153"/>
              <a:ext cx="9431223" cy="0"/>
            </a:xfrm>
            <a:prstGeom prst="line">
              <a:avLst/>
            </a:prstGeom>
            <a:ln w="25400" cap="flat">
              <a:solidFill>
                <a:srgbClr val="9EB28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5114" y="369721"/>
              <a:ext cx="9711045" cy="19577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spc="-84">
                  <a:solidFill>
                    <a:srgbClr val="9EB2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Routine Activity Theory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endParaRPr lang="en-US" sz="2100" b="1" spc="-84">
                <a:solidFill>
                  <a:srgbClr val="9EB282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84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Social settings and the absence of capable guardians can shape opportunities for offending.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5114" y="3241686"/>
              <a:ext cx="9711045" cy="2948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spc="-84">
                  <a:solidFill>
                    <a:srgbClr val="869A6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Design implication: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endParaRPr lang="en-US" sz="2100" b="1" spc="-84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84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Approved sessions with trusted adult hosts.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endParaRPr lang="en-US" sz="2100" spc="-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endParaRP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84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Cohen &amp; Felson (1979);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84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Osgood et al. (1996)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05587" y="3028361"/>
            <a:ext cx="7917170" cy="4764049"/>
            <a:chOff x="0" y="0"/>
            <a:chExt cx="10556227" cy="6352065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0556227" cy="6352065"/>
              <a:chOff x="0" y="0"/>
              <a:chExt cx="2159563" cy="129944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159563" cy="1299447"/>
              </a:xfrm>
              <a:custGeom>
                <a:avLst/>
                <a:gdLst/>
                <a:ahLst/>
                <a:cxnLst/>
                <a:rect l="l" t="t" r="r" b="b"/>
                <a:pathLst>
                  <a:path w="2159563" h="1299447">
                    <a:moveTo>
                      <a:pt x="2159563" y="26402"/>
                    </a:moveTo>
                    <a:lnTo>
                      <a:pt x="2159563" y="1273045"/>
                    </a:lnTo>
                    <a:cubicBezTo>
                      <a:pt x="2159563" y="1280047"/>
                      <a:pt x="2156782" y="1286763"/>
                      <a:pt x="2151830" y="1291714"/>
                    </a:cubicBezTo>
                    <a:cubicBezTo>
                      <a:pt x="2146879" y="1296666"/>
                      <a:pt x="2140163" y="1299447"/>
                      <a:pt x="2133161" y="1299447"/>
                    </a:cubicBezTo>
                    <a:lnTo>
                      <a:pt x="26402" y="1299447"/>
                    </a:lnTo>
                    <a:cubicBezTo>
                      <a:pt x="19400" y="1299447"/>
                      <a:pt x="12684" y="1296666"/>
                      <a:pt x="7733" y="1291714"/>
                    </a:cubicBezTo>
                    <a:cubicBezTo>
                      <a:pt x="2782" y="1286763"/>
                      <a:pt x="0" y="1280047"/>
                      <a:pt x="0" y="1273045"/>
                    </a:cubicBezTo>
                    <a:lnTo>
                      <a:pt x="0" y="26402"/>
                    </a:lnTo>
                    <a:cubicBezTo>
                      <a:pt x="0" y="19400"/>
                      <a:pt x="2782" y="12684"/>
                      <a:pt x="7733" y="7733"/>
                    </a:cubicBezTo>
                    <a:cubicBezTo>
                      <a:pt x="12684" y="2782"/>
                      <a:pt x="19400" y="0"/>
                      <a:pt x="26402" y="0"/>
                    </a:cubicBezTo>
                    <a:lnTo>
                      <a:pt x="2133161" y="0"/>
                    </a:lnTo>
                    <a:cubicBezTo>
                      <a:pt x="2140163" y="0"/>
                      <a:pt x="2146879" y="2782"/>
                      <a:pt x="2151830" y="7733"/>
                    </a:cubicBezTo>
                    <a:cubicBezTo>
                      <a:pt x="2156782" y="12684"/>
                      <a:pt x="2159563" y="19400"/>
                      <a:pt x="2159563" y="26402"/>
                    </a:cubicBezTo>
                    <a:close/>
                  </a:path>
                </a:pathLst>
              </a:custGeom>
              <a:solidFill>
                <a:srgbClr val="222223">
                  <a:alpha val="77647"/>
                </a:srgbClr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57150"/>
                <a:ext cx="2159563" cy="12422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0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426149" y="369721"/>
              <a:ext cx="9711045" cy="24530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spc="-84">
                  <a:solidFill>
                    <a:srgbClr val="9EB2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Social Bond Theory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endParaRPr lang="en-US" sz="2100" b="1" spc="-84">
                <a:solidFill>
                  <a:srgbClr val="9EB282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84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Attachment, involvement and social connections can strengthen bonds with conventional society.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endParaRPr lang="en-US" sz="2100" spc="-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endParaRP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426149" y="3006453"/>
              <a:ext cx="9431223" cy="0"/>
            </a:xfrm>
            <a:prstGeom prst="line">
              <a:avLst/>
            </a:prstGeom>
            <a:ln w="25400" cap="flat">
              <a:solidFill>
                <a:srgbClr val="9EB28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0844" y="3238228"/>
              <a:ext cx="9711045" cy="2948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spc="-84">
                  <a:solidFill>
                    <a:srgbClr val="869A69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Design implication: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endParaRPr lang="en-US" sz="2100" b="1" spc="-84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84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Peer belonging, regular participation and youth leadership.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endParaRPr lang="en-US" sz="2100" spc="-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endParaRP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84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Hirschi (1969)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382664" y="8344410"/>
            <a:ext cx="13126413" cy="1562914"/>
            <a:chOff x="0" y="0"/>
            <a:chExt cx="17501884" cy="2083885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4211579" cy="2083885"/>
              <a:chOff x="0" y="0"/>
              <a:chExt cx="831921" cy="41162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31921" cy="411621"/>
              </a:xfrm>
              <a:custGeom>
                <a:avLst/>
                <a:gdLst/>
                <a:ahLst/>
                <a:cxnLst/>
                <a:rect l="l" t="t" r="r" b="b"/>
                <a:pathLst>
                  <a:path w="831921" h="411621">
                    <a:moveTo>
                      <a:pt x="831921" y="66177"/>
                    </a:moveTo>
                    <a:lnTo>
                      <a:pt x="831921" y="345444"/>
                    </a:lnTo>
                    <a:cubicBezTo>
                      <a:pt x="831921" y="362995"/>
                      <a:pt x="824949" y="379828"/>
                      <a:pt x="812538" y="392238"/>
                    </a:cubicBezTo>
                    <a:cubicBezTo>
                      <a:pt x="800128" y="404649"/>
                      <a:pt x="783295" y="411621"/>
                      <a:pt x="765744" y="411621"/>
                    </a:cubicBezTo>
                    <a:lnTo>
                      <a:pt x="66177" y="411621"/>
                    </a:lnTo>
                    <a:cubicBezTo>
                      <a:pt x="48626" y="411621"/>
                      <a:pt x="31793" y="404649"/>
                      <a:pt x="19383" y="392238"/>
                    </a:cubicBezTo>
                    <a:cubicBezTo>
                      <a:pt x="6972" y="379828"/>
                      <a:pt x="0" y="362995"/>
                      <a:pt x="0" y="345444"/>
                    </a:cubicBezTo>
                    <a:lnTo>
                      <a:pt x="0" y="66177"/>
                    </a:lnTo>
                    <a:cubicBezTo>
                      <a:pt x="0" y="48626"/>
                      <a:pt x="6972" y="31793"/>
                      <a:pt x="19383" y="19383"/>
                    </a:cubicBezTo>
                    <a:cubicBezTo>
                      <a:pt x="31793" y="6972"/>
                      <a:pt x="48626" y="0"/>
                      <a:pt x="66177" y="0"/>
                    </a:cubicBezTo>
                    <a:lnTo>
                      <a:pt x="765744" y="0"/>
                    </a:lnTo>
                    <a:cubicBezTo>
                      <a:pt x="783295" y="0"/>
                      <a:pt x="800128" y="6972"/>
                      <a:pt x="812538" y="19383"/>
                    </a:cubicBezTo>
                    <a:cubicBezTo>
                      <a:pt x="824949" y="31793"/>
                      <a:pt x="831921" y="48626"/>
                      <a:pt x="831921" y="66177"/>
                    </a:cubicBezTo>
                    <a:close/>
                  </a:path>
                </a:pathLst>
              </a:custGeom>
              <a:solidFill>
                <a:srgbClr val="9EB282">
                  <a:alpha val="77647"/>
                </a:srgbClr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57150"/>
                <a:ext cx="831921" cy="3544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00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517451" y="482715"/>
              <a:ext cx="3241834" cy="1140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b="1" spc="-100" dirty="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 = 0.14</a:t>
              </a:r>
            </a:p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b="1" spc="-100" dirty="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School bonding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3290304" y="0"/>
              <a:ext cx="4211579" cy="2083885"/>
              <a:chOff x="0" y="0"/>
              <a:chExt cx="831921" cy="41162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31921" cy="411621"/>
              </a:xfrm>
              <a:custGeom>
                <a:avLst/>
                <a:gdLst/>
                <a:ahLst/>
                <a:cxnLst/>
                <a:rect l="l" t="t" r="r" b="b"/>
                <a:pathLst>
                  <a:path w="831921" h="411621">
                    <a:moveTo>
                      <a:pt x="831921" y="66177"/>
                    </a:moveTo>
                    <a:lnTo>
                      <a:pt x="831921" y="345444"/>
                    </a:lnTo>
                    <a:cubicBezTo>
                      <a:pt x="831921" y="362995"/>
                      <a:pt x="824949" y="379828"/>
                      <a:pt x="812538" y="392238"/>
                    </a:cubicBezTo>
                    <a:cubicBezTo>
                      <a:pt x="800128" y="404649"/>
                      <a:pt x="783295" y="411621"/>
                      <a:pt x="765744" y="411621"/>
                    </a:cubicBezTo>
                    <a:lnTo>
                      <a:pt x="66177" y="411621"/>
                    </a:lnTo>
                    <a:cubicBezTo>
                      <a:pt x="48626" y="411621"/>
                      <a:pt x="31793" y="404649"/>
                      <a:pt x="19383" y="392238"/>
                    </a:cubicBezTo>
                    <a:cubicBezTo>
                      <a:pt x="6972" y="379828"/>
                      <a:pt x="0" y="362995"/>
                      <a:pt x="0" y="345444"/>
                    </a:cubicBezTo>
                    <a:lnTo>
                      <a:pt x="0" y="66177"/>
                    </a:lnTo>
                    <a:cubicBezTo>
                      <a:pt x="0" y="48626"/>
                      <a:pt x="6972" y="31793"/>
                      <a:pt x="19383" y="19383"/>
                    </a:cubicBezTo>
                    <a:cubicBezTo>
                      <a:pt x="31793" y="6972"/>
                      <a:pt x="48626" y="0"/>
                      <a:pt x="66177" y="0"/>
                    </a:cubicBezTo>
                    <a:lnTo>
                      <a:pt x="765744" y="0"/>
                    </a:lnTo>
                    <a:cubicBezTo>
                      <a:pt x="783295" y="0"/>
                      <a:pt x="800128" y="6972"/>
                      <a:pt x="812538" y="19383"/>
                    </a:cubicBezTo>
                    <a:cubicBezTo>
                      <a:pt x="824949" y="31793"/>
                      <a:pt x="831921" y="48626"/>
                      <a:pt x="831921" y="66177"/>
                    </a:cubicBezTo>
                    <a:close/>
                  </a:path>
                </a:pathLst>
              </a:custGeom>
              <a:solidFill>
                <a:srgbClr val="9EB282">
                  <a:alpha val="77647"/>
                </a:srgbClr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57150"/>
                <a:ext cx="831921" cy="3544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00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797288" y="0"/>
              <a:ext cx="4211579" cy="2083885"/>
              <a:chOff x="0" y="0"/>
              <a:chExt cx="831921" cy="411621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31921" cy="411621"/>
              </a:xfrm>
              <a:custGeom>
                <a:avLst/>
                <a:gdLst/>
                <a:ahLst/>
                <a:cxnLst/>
                <a:rect l="l" t="t" r="r" b="b"/>
                <a:pathLst>
                  <a:path w="831921" h="411621">
                    <a:moveTo>
                      <a:pt x="831921" y="66177"/>
                    </a:moveTo>
                    <a:lnTo>
                      <a:pt x="831921" y="345444"/>
                    </a:lnTo>
                    <a:cubicBezTo>
                      <a:pt x="831921" y="362995"/>
                      <a:pt x="824949" y="379828"/>
                      <a:pt x="812538" y="392238"/>
                    </a:cubicBezTo>
                    <a:cubicBezTo>
                      <a:pt x="800128" y="404649"/>
                      <a:pt x="783295" y="411621"/>
                      <a:pt x="765744" y="411621"/>
                    </a:cubicBezTo>
                    <a:lnTo>
                      <a:pt x="66177" y="411621"/>
                    </a:lnTo>
                    <a:cubicBezTo>
                      <a:pt x="48626" y="411621"/>
                      <a:pt x="31793" y="404649"/>
                      <a:pt x="19383" y="392238"/>
                    </a:cubicBezTo>
                    <a:cubicBezTo>
                      <a:pt x="6972" y="379828"/>
                      <a:pt x="0" y="362995"/>
                      <a:pt x="0" y="345444"/>
                    </a:cubicBezTo>
                    <a:lnTo>
                      <a:pt x="0" y="66177"/>
                    </a:lnTo>
                    <a:cubicBezTo>
                      <a:pt x="0" y="48626"/>
                      <a:pt x="6972" y="31793"/>
                      <a:pt x="19383" y="19383"/>
                    </a:cubicBezTo>
                    <a:cubicBezTo>
                      <a:pt x="31793" y="6972"/>
                      <a:pt x="48626" y="0"/>
                      <a:pt x="66177" y="0"/>
                    </a:cubicBezTo>
                    <a:lnTo>
                      <a:pt x="765744" y="0"/>
                    </a:lnTo>
                    <a:cubicBezTo>
                      <a:pt x="783295" y="0"/>
                      <a:pt x="800128" y="6972"/>
                      <a:pt x="812538" y="19383"/>
                    </a:cubicBezTo>
                    <a:cubicBezTo>
                      <a:pt x="824949" y="31793"/>
                      <a:pt x="831921" y="48626"/>
                      <a:pt x="831921" y="66177"/>
                    </a:cubicBezTo>
                    <a:close/>
                  </a:path>
                </a:pathLst>
              </a:custGeom>
              <a:solidFill>
                <a:srgbClr val="9EB282">
                  <a:alpha val="77647"/>
                </a:srgbClr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57150"/>
                <a:ext cx="831921" cy="3544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00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6576135" y="190615"/>
              <a:ext cx="4653886" cy="1725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b="1" spc="-1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 = 0.19</a:t>
              </a:r>
            </a:p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b="1" spc="-1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Positive social behaviour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264973" y="190615"/>
              <a:ext cx="4236911" cy="1725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b="1" spc="-100" dirty="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Not significant</a:t>
              </a:r>
            </a:p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sz="2500" b="1" spc="-100" dirty="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Average delinquency effect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183030" y="9973311"/>
            <a:ext cx="6952570" cy="3397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-76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Durlak et al. (2010), via NIJ (2018); Taheri &amp; Welsh (2016).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309027" y="7896186"/>
            <a:ext cx="7273685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-80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 three after-school programme research findings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21028" flipH="1" flipV="1">
            <a:off x="-1802152" y="-2184453"/>
            <a:ext cx="7539939" cy="4866688"/>
          </a:xfrm>
          <a:custGeom>
            <a:avLst/>
            <a:gdLst/>
            <a:ahLst/>
            <a:cxnLst/>
            <a:rect l="l" t="t" r="r" b="b"/>
            <a:pathLst>
              <a:path w="7539939" h="4866688">
                <a:moveTo>
                  <a:pt x="7539939" y="4866688"/>
                </a:moveTo>
                <a:lnTo>
                  <a:pt x="0" y="4866688"/>
                </a:lnTo>
                <a:lnTo>
                  <a:pt x="0" y="0"/>
                </a:lnTo>
                <a:lnTo>
                  <a:pt x="7539939" y="0"/>
                </a:lnTo>
                <a:lnTo>
                  <a:pt x="7539939" y="4866688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1479196">
            <a:off x="10739387" y="5864555"/>
            <a:ext cx="9707434" cy="6265707"/>
          </a:xfrm>
          <a:custGeom>
            <a:avLst/>
            <a:gdLst/>
            <a:ahLst/>
            <a:cxnLst/>
            <a:rect l="l" t="t" r="r" b="b"/>
            <a:pathLst>
              <a:path w="9707434" h="6265707">
                <a:moveTo>
                  <a:pt x="0" y="0"/>
                </a:moveTo>
                <a:lnTo>
                  <a:pt x="9707434" y="0"/>
                </a:lnTo>
                <a:lnTo>
                  <a:pt x="9707434" y="6265708"/>
                </a:lnTo>
                <a:lnTo>
                  <a:pt x="0" y="6265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4" name="AutoShape 4"/>
          <p:cNvSpPr/>
          <p:nvPr/>
        </p:nvSpPr>
        <p:spPr>
          <a:xfrm>
            <a:off x="1028700" y="1386936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5" name="Freeform 5"/>
          <p:cNvSpPr/>
          <p:nvPr/>
        </p:nvSpPr>
        <p:spPr>
          <a:xfrm>
            <a:off x="1028700" y="857929"/>
            <a:ext cx="355773" cy="341542"/>
          </a:xfrm>
          <a:custGeom>
            <a:avLst/>
            <a:gdLst/>
            <a:ahLst/>
            <a:cxnLst/>
            <a:rect l="l" t="t" r="r" b="b"/>
            <a:pathLst>
              <a:path w="355773" h="341542">
                <a:moveTo>
                  <a:pt x="0" y="0"/>
                </a:moveTo>
                <a:lnTo>
                  <a:pt x="355773" y="0"/>
                </a:lnTo>
                <a:lnTo>
                  <a:pt x="355773" y="341542"/>
                </a:lnTo>
                <a:lnTo>
                  <a:pt x="0" y="341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6" name="Group 6"/>
          <p:cNvGrpSpPr/>
          <p:nvPr/>
        </p:nvGrpSpPr>
        <p:grpSpPr>
          <a:xfrm>
            <a:off x="1028700" y="3176378"/>
            <a:ext cx="3412629" cy="5317833"/>
            <a:chOff x="0" y="0"/>
            <a:chExt cx="898804" cy="140054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8804" cy="1400545"/>
            </a:xfrm>
            <a:custGeom>
              <a:avLst/>
              <a:gdLst/>
              <a:ahLst/>
              <a:cxnLst/>
              <a:rect l="l" t="t" r="r" b="b"/>
              <a:pathLst>
                <a:path w="898804" h="1400545">
                  <a:moveTo>
                    <a:pt x="898804" y="61252"/>
                  </a:moveTo>
                  <a:lnTo>
                    <a:pt x="898804" y="1339292"/>
                  </a:lnTo>
                  <a:cubicBezTo>
                    <a:pt x="898804" y="1355538"/>
                    <a:pt x="892350" y="1371117"/>
                    <a:pt x="880863" y="1382604"/>
                  </a:cubicBezTo>
                  <a:cubicBezTo>
                    <a:pt x="869376" y="1394091"/>
                    <a:pt x="853797" y="1400545"/>
                    <a:pt x="837551" y="1400545"/>
                  </a:cubicBezTo>
                  <a:lnTo>
                    <a:pt x="61252" y="1400545"/>
                  </a:lnTo>
                  <a:cubicBezTo>
                    <a:pt x="45007" y="1400545"/>
                    <a:pt x="29427" y="1394091"/>
                    <a:pt x="17940" y="1382604"/>
                  </a:cubicBezTo>
                  <a:cubicBezTo>
                    <a:pt x="6453" y="1371117"/>
                    <a:pt x="0" y="1355538"/>
                    <a:pt x="0" y="1339292"/>
                  </a:cubicBezTo>
                  <a:lnTo>
                    <a:pt x="0" y="61252"/>
                  </a:lnTo>
                  <a:cubicBezTo>
                    <a:pt x="0" y="45007"/>
                    <a:pt x="6453" y="29427"/>
                    <a:pt x="17940" y="17940"/>
                  </a:cubicBezTo>
                  <a:cubicBezTo>
                    <a:pt x="29427" y="6453"/>
                    <a:pt x="45007" y="0"/>
                    <a:pt x="61252" y="0"/>
                  </a:cubicBezTo>
                  <a:lnTo>
                    <a:pt x="837551" y="0"/>
                  </a:lnTo>
                  <a:cubicBezTo>
                    <a:pt x="853797" y="0"/>
                    <a:pt x="869376" y="6453"/>
                    <a:pt x="880863" y="17940"/>
                  </a:cubicBezTo>
                  <a:cubicBezTo>
                    <a:pt x="892350" y="29427"/>
                    <a:pt x="898804" y="45007"/>
                    <a:pt x="898804" y="61252"/>
                  </a:cubicBezTo>
                  <a:close/>
                </a:path>
              </a:pathLst>
            </a:custGeom>
            <a:solidFill>
              <a:srgbClr val="9EB28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7150"/>
              <a:ext cx="898804" cy="1343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400747" y="3176378"/>
            <a:ext cx="3412629" cy="5317833"/>
            <a:chOff x="0" y="0"/>
            <a:chExt cx="898804" cy="14005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8804" cy="1400545"/>
            </a:xfrm>
            <a:custGeom>
              <a:avLst/>
              <a:gdLst/>
              <a:ahLst/>
              <a:cxnLst/>
              <a:rect l="l" t="t" r="r" b="b"/>
              <a:pathLst>
                <a:path w="898804" h="1400545">
                  <a:moveTo>
                    <a:pt x="898804" y="61252"/>
                  </a:moveTo>
                  <a:lnTo>
                    <a:pt x="898804" y="1339292"/>
                  </a:lnTo>
                  <a:cubicBezTo>
                    <a:pt x="898804" y="1355538"/>
                    <a:pt x="892350" y="1371117"/>
                    <a:pt x="880863" y="1382604"/>
                  </a:cubicBezTo>
                  <a:cubicBezTo>
                    <a:pt x="869376" y="1394091"/>
                    <a:pt x="853797" y="1400545"/>
                    <a:pt x="837551" y="1400545"/>
                  </a:cubicBezTo>
                  <a:lnTo>
                    <a:pt x="61252" y="1400545"/>
                  </a:lnTo>
                  <a:cubicBezTo>
                    <a:pt x="45007" y="1400545"/>
                    <a:pt x="29427" y="1394091"/>
                    <a:pt x="17940" y="1382604"/>
                  </a:cubicBezTo>
                  <a:cubicBezTo>
                    <a:pt x="6453" y="1371117"/>
                    <a:pt x="0" y="1355538"/>
                    <a:pt x="0" y="1339292"/>
                  </a:cubicBezTo>
                  <a:lnTo>
                    <a:pt x="0" y="61252"/>
                  </a:lnTo>
                  <a:cubicBezTo>
                    <a:pt x="0" y="45007"/>
                    <a:pt x="6453" y="29427"/>
                    <a:pt x="17940" y="17940"/>
                  </a:cubicBezTo>
                  <a:cubicBezTo>
                    <a:pt x="29427" y="6453"/>
                    <a:pt x="45007" y="0"/>
                    <a:pt x="61252" y="0"/>
                  </a:cubicBezTo>
                  <a:lnTo>
                    <a:pt x="837551" y="0"/>
                  </a:lnTo>
                  <a:cubicBezTo>
                    <a:pt x="853797" y="0"/>
                    <a:pt x="869376" y="6453"/>
                    <a:pt x="880863" y="17940"/>
                  </a:cubicBezTo>
                  <a:cubicBezTo>
                    <a:pt x="892350" y="29427"/>
                    <a:pt x="898804" y="45007"/>
                    <a:pt x="898804" y="61252"/>
                  </a:cubicBezTo>
                  <a:close/>
                </a:path>
              </a:pathLst>
            </a:custGeom>
            <a:solidFill>
              <a:srgbClr val="9EB28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57150"/>
              <a:ext cx="898804" cy="1343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162860" y="3176378"/>
            <a:ext cx="3412629" cy="5317833"/>
            <a:chOff x="0" y="0"/>
            <a:chExt cx="898804" cy="140054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98804" cy="1400545"/>
            </a:xfrm>
            <a:custGeom>
              <a:avLst/>
              <a:gdLst/>
              <a:ahLst/>
              <a:cxnLst/>
              <a:rect l="l" t="t" r="r" b="b"/>
              <a:pathLst>
                <a:path w="898804" h="1400545">
                  <a:moveTo>
                    <a:pt x="898804" y="61252"/>
                  </a:moveTo>
                  <a:lnTo>
                    <a:pt x="898804" y="1339292"/>
                  </a:lnTo>
                  <a:cubicBezTo>
                    <a:pt x="898804" y="1355538"/>
                    <a:pt x="892350" y="1371117"/>
                    <a:pt x="880863" y="1382604"/>
                  </a:cubicBezTo>
                  <a:cubicBezTo>
                    <a:pt x="869376" y="1394091"/>
                    <a:pt x="853797" y="1400545"/>
                    <a:pt x="837551" y="1400545"/>
                  </a:cubicBezTo>
                  <a:lnTo>
                    <a:pt x="61252" y="1400545"/>
                  </a:lnTo>
                  <a:cubicBezTo>
                    <a:pt x="45007" y="1400545"/>
                    <a:pt x="29427" y="1394091"/>
                    <a:pt x="17940" y="1382604"/>
                  </a:cubicBezTo>
                  <a:cubicBezTo>
                    <a:pt x="6453" y="1371117"/>
                    <a:pt x="0" y="1355538"/>
                    <a:pt x="0" y="1339292"/>
                  </a:cubicBezTo>
                  <a:lnTo>
                    <a:pt x="0" y="61252"/>
                  </a:lnTo>
                  <a:cubicBezTo>
                    <a:pt x="0" y="45007"/>
                    <a:pt x="6453" y="29427"/>
                    <a:pt x="17940" y="17940"/>
                  </a:cubicBezTo>
                  <a:cubicBezTo>
                    <a:pt x="29427" y="6453"/>
                    <a:pt x="45007" y="0"/>
                    <a:pt x="61252" y="0"/>
                  </a:cubicBezTo>
                  <a:lnTo>
                    <a:pt x="837551" y="0"/>
                  </a:lnTo>
                  <a:cubicBezTo>
                    <a:pt x="853797" y="0"/>
                    <a:pt x="869376" y="6453"/>
                    <a:pt x="880863" y="17940"/>
                  </a:cubicBezTo>
                  <a:cubicBezTo>
                    <a:pt x="892350" y="29427"/>
                    <a:pt x="898804" y="45007"/>
                    <a:pt x="898804" y="61252"/>
                  </a:cubicBezTo>
                  <a:close/>
                </a:path>
              </a:pathLst>
            </a:custGeom>
            <a:solidFill>
              <a:srgbClr val="9EB282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57150"/>
              <a:ext cx="898804" cy="13433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43776" y="3587802"/>
            <a:ext cx="2112496" cy="600404"/>
            <a:chOff x="0" y="0"/>
            <a:chExt cx="556377" cy="15813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56377" cy="158131"/>
            </a:xfrm>
            <a:custGeom>
              <a:avLst/>
              <a:gdLst/>
              <a:ahLst/>
              <a:cxnLst/>
              <a:rect l="l" t="t" r="r" b="b"/>
              <a:pathLst>
                <a:path w="556377" h="158131">
                  <a:moveTo>
                    <a:pt x="79066" y="0"/>
                  </a:moveTo>
                  <a:lnTo>
                    <a:pt x="477312" y="0"/>
                  </a:lnTo>
                  <a:cubicBezTo>
                    <a:pt x="498281" y="0"/>
                    <a:pt x="518392" y="8330"/>
                    <a:pt x="533220" y="23158"/>
                  </a:cubicBezTo>
                  <a:cubicBezTo>
                    <a:pt x="548047" y="37985"/>
                    <a:pt x="556377" y="58096"/>
                    <a:pt x="556377" y="79066"/>
                  </a:cubicBezTo>
                  <a:lnTo>
                    <a:pt x="556377" y="79066"/>
                  </a:lnTo>
                  <a:cubicBezTo>
                    <a:pt x="556377" y="100035"/>
                    <a:pt x="548047" y="120146"/>
                    <a:pt x="533220" y="134973"/>
                  </a:cubicBezTo>
                  <a:cubicBezTo>
                    <a:pt x="518392" y="149801"/>
                    <a:pt x="498281" y="158131"/>
                    <a:pt x="477312" y="158131"/>
                  </a:cubicBezTo>
                  <a:lnTo>
                    <a:pt x="79066" y="158131"/>
                  </a:lnTo>
                  <a:cubicBezTo>
                    <a:pt x="58096" y="158131"/>
                    <a:pt x="37985" y="149801"/>
                    <a:pt x="23158" y="134973"/>
                  </a:cubicBezTo>
                  <a:cubicBezTo>
                    <a:pt x="8330" y="120146"/>
                    <a:pt x="0" y="100035"/>
                    <a:pt x="0" y="79066"/>
                  </a:cubicBezTo>
                  <a:lnTo>
                    <a:pt x="0" y="79066"/>
                  </a:lnTo>
                  <a:cubicBezTo>
                    <a:pt x="0" y="58096"/>
                    <a:pt x="8330" y="37985"/>
                    <a:pt x="23158" y="23158"/>
                  </a:cubicBezTo>
                  <a:cubicBezTo>
                    <a:pt x="37985" y="8330"/>
                    <a:pt x="58096" y="0"/>
                    <a:pt x="79066" y="0"/>
                  </a:cubicBezTo>
                  <a:close/>
                </a:path>
              </a:pathLst>
            </a:custGeom>
            <a:solidFill>
              <a:srgbClr val="EAE8DC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56377" cy="196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06586" y="3587802"/>
            <a:ext cx="3362878" cy="4260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6"/>
              </a:lnSpc>
              <a:spcBef>
                <a:spcPct val="0"/>
              </a:spcBef>
            </a:pPr>
            <a:r>
              <a:rPr lang="en-US" sz="2391" b="1" spc="-95" dirty="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1. DISCOVER</a:t>
            </a:r>
          </a:p>
          <a:p>
            <a:pPr algn="l">
              <a:lnSpc>
                <a:spcPts val="2910"/>
              </a:lnSpc>
              <a:spcBef>
                <a:spcPct val="0"/>
              </a:spcBef>
            </a:pPr>
            <a:r>
              <a:rPr lang="en-US" sz="2079" b="1" spc="-83" dirty="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The front door</a:t>
            </a:r>
          </a:p>
          <a:p>
            <a:pPr algn="l">
              <a:lnSpc>
                <a:spcPts val="2910"/>
              </a:lnSpc>
              <a:spcBef>
                <a:spcPct val="0"/>
              </a:spcBef>
            </a:pPr>
            <a:endParaRPr lang="en-US" sz="2079" b="1" spc="-83" dirty="0">
              <a:solidFill>
                <a:srgbClr val="222223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910"/>
              </a:lnSpc>
              <a:spcBef>
                <a:spcPct val="0"/>
              </a:spcBef>
            </a:pPr>
            <a:r>
              <a:rPr lang="en-US" sz="2079" spc="-83" dirty="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Viva Engage</a:t>
            </a:r>
          </a:p>
          <a:p>
            <a:pPr algn="l">
              <a:lnSpc>
                <a:spcPts val="2910"/>
              </a:lnSpc>
              <a:spcBef>
                <a:spcPct val="0"/>
              </a:spcBef>
            </a:pPr>
            <a:r>
              <a:rPr lang="en-US" sz="2079" spc="-83" dirty="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Microsoft Teams</a:t>
            </a:r>
          </a:p>
          <a:p>
            <a:pPr algn="l">
              <a:lnSpc>
                <a:spcPts val="2910"/>
              </a:lnSpc>
              <a:spcBef>
                <a:spcPct val="0"/>
              </a:spcBef>
            </a:pPr>
            <a:endParaRPr lang="en-US" sz="2079" spc="-83" dirty="0">
              <a:solidFill>
                <a:srgbClr val="222223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910"/>
              </a:lnSpc>
              <a:spcBef>
                <a:spcPct val="0"/>
              </a:spcBef>
            </a:pPr>
            <a:endParaRPr lang="en-US" sz="2079" spc="-83" dirty="0">
              <a:solidFill>
                <a:srgbClr val="222223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910"/>
              </a:lnSpc>
              <a:spcBef>
                <a:spcPct val="0"/>
              </a:spcBef>
            </a:pPr>
            <a:endParaRPr lang="en-US" sz="2079" spc="-83" dirty="0">
              <a:solidFill>
                <a:srgbClr val="222223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910"/>
              </a:lnSpc>
              <a:spcBef>
                <a:spcPct val="0"/>
              </a:spcBef>
            </a:pPr>
            <a:r>
              <a:rPr lang="en-US" sz="2079" spc="-83" dirty="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Find activities through school-managed Microsoft 365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237585" y="3525104"/>
            <a:ext cx="2581076" cy="600404"/>
            <a:chOff x="0" y="0"/>
            <a:chExt cx="679790" cy="15813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79790" cy="158131"/>
            </a:xfrm>
            <a:custGeom>
              <a:avLst/>
              <a:gdLst/>
              <a:ahLst/>
              <a:cxnLst/>
              <a:rect l="l" t="t" r="r" b="b"/>
              <a:pathLst>
                <a:path w="679790" h="158131">
                  <a:moveTo>
                    <a:pt x="79066" y="0"/>
                  </a:moveTo>
                  <a:lnTo>
                    <a:pt x="600724" y="0"/>
                  </a:lnTo>
                  <a:cubicBezTo>
                    <a:pt x="621694" y="0"/>
                    <a:pt x="641804" y="8330"/>
                    <a:pt x="656632" y="23158"/>
                  </a:cubicBezTo>
                  <a:cubicBezTo>
                    <a:pt x="671460" y="37985"/>
                    <a:pt x="679790" y="58096"/>
                    <a:pt x="679790" y="79066"/>
                  </a:cubicBezTo>
                  <a:lnTo>
                    <a:pt x="679790" y="79066"/>
                  </a:lnTo>
                  <a:cubicBezTo>
                    <a:pt x="679790" y="100035"/>
                    <a:pt x="671460" y="120146"/>
                    <a:pt x="656632" y="134973"/>
                  </a:cubicBezTo>
                  <a:cubicBezTo>
                    <a:pt x="641804" y="149801"/>
                    <a:pt x="621694" y="158131"/>
                    <a:pt x="600724" y="158131"/>
                  </a:cubicBezTo>
                  <a:lnTo>
                    <a:pt x="79066" y="158131"/>
                  </a:lnTo>
                  <a:cubicBezTo>
                    <a:pt x="58096" y="158131"/>
                    <a:pt x="37985" y="149801"/>
                    <a:pt x="23158" y="134973"/>
                  </a:cubicBezTo>
                  <a:cubicBezTo>
                    <a:pt x="8330" y="120146"/>
                    <a:pt x="0" y="100035"/>
                    <a:pt x="0" y="79066"/>
                  </a:cubicBezTo>
                  <a:lnTo>
                    <a:pt x="0" y="79066"/>
                  </a:lnTo>
                  <a:cubicBezTo>
                    <a:pt x="0" y="58096"/>
                    <a:pt x="8330" y="37985"/>
                    <a:pt x="23158" y="23158"/>
                  </a:cubicBezTo>
                  <a:cubicBezTo>
                    <a:pt x="37985" y="8330"/>
                    <a:pt x="58096" y="0"/>
                    <a:pt x="79066" y="0"/>
                  </a:cubicBezTo>
                  <a:close/>
                </a:path>
              </a:pathLst>
            </a:custGeom>
            <a:solidFill>
              <a:srgbClr val="EAE8DC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679790" cy="196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7293939" y="3537007"/>
            <a:ext cx="3306458" cy="4539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1"/>
              </a:lnSpc>
              <a:spcBef>
                <a:spcPct val="0"/>
              </a:spcBef>
            </a:pPr>
            <a:r>
              <a:rPr lang="en-US" sz="2376" b="1" spc="-95" dirty="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2. PARTICIPATE</a:t>
            </a:r>
          </a:p>
          <a:p>
            <a:pPr algn="l">
              <a:lnSpc>
                <a:spcPts val="2892"/>
              </a:lnSpc>
              <a:spcBef>
                <a:spcPct val="0"/>
              </a:spcBef>
            </a:pPr>
            <a:r>
              <a:rPr lang="en-US" sz="2066" b="1" spc="-82" dirty="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The engine</a:t>
            </a:r>
          </a:p>
          <a:p>
            <a:pPr algn="l">
              <a:lnSpc>
                <a:spcPts val="2892"/>
              </a:lnSpc>
              <a:spcBef>
                <a:spcPct val="0"/>
              </a:spcBef>
            </a:pPr>
            <a:endParaRPr lang="en-US" sz="2066" b="1" spc="-82" dirty="0">
              <a:solidFill>
                <a:srgbClr val="222223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892"/>
              </a:lnSpc>
              <a:spcBef>
                <a:spcPct val="0"/>
              </a:spcBef>
            </a:pPr>
            <a:r>
              <a:rPr lang="en-US" sz="2066" spc="-82" dirty="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Power Apps </a:t>
            </a:r>
          </a:p>
          <a:p>
            <a:pPr algn="l">
              <a:lnSpc>
                <a:spcPts val="2892"/>
              </a:lnSpc>
              <a:spcBef>
                <a:spcPct val="0"/>
              </a:spcBef>
            </a:pPr>
            <a:r>
              <a:rPr lang="en-US" sz="2066" spc="-82" dirty="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+ Dataverse</a:t>
            </a:r>
          </a:p>
          <a:p>
            <a:pPr algn="l">
              <a:lnSpc>
                <a:spcPts val="2892"/>
              </a:lnSpc>
              <a:spcBef>
                <a:spcPct val="0"/>
              </a:spcBef>
            </a:pPr>
            <a:r>
              <a:rPr lang="en-US" sz="2066" spc="-82" dirty="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Power Automate </a:t>
            </a:r>
          </a:p>
          <a:p>
            <a:pPr algn="l">
              <a:lnSpc>
                <a:spcPts val="2892"/>
              </a:lnSpc>
              <a:spcBef>
                <a:spcPct val="0"/>
              </a:spcBef>
            </a:pPr>
            <a:r>
              <a:rPr lang="en-US" sz="2066" spc="-82" dirty="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+ Pages</a:t>
            </a:r>
          </a:p>
          <a:p>
            <a:pPr algn="l">
              <a:lnSpc>
                <a:spcPts val="2892"/>
              </a:lnSpc>
              <a:spcBef>
                <a:spcPct val="0"/>
              </a:spcBef>
            </a:pPr>
            <a:endParaRPr lang="en-US" sz="2066" spc="-82" dirty="0">
              <a:solidFill>
                <a:srgbClr val="222223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92"/>
              </a:lnSpc>
              <a:spcBef>
                <a:spcPct val="0"/>
              </a:spcBef>
            </a:pPr>
            <a:endParaRPr lang="en-US" sz="2066" spc="-82" dirty="0">
              <a:solidFill>
                <a:srgbClr val="222223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892"/>
              </a:lnSpc>
              <a:spcBef>
                <a:spcPct val="0"/>
              </a:spcBef>
            </a:pPr>
            <a:r>
              <a:rPr lang="en-US" sz="2066" spc="-82" dirty="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Register, verify attendance and award points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3484464" y="3529300"/>
            <a:ext cx="1834648" cy="600404"/>
            <a:chOff x="0" y="0"/>
            <a:chExt cx="483200" cy="15813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83200" cy="158131"/>
            </a:xfrm>
            <a:custGeom>
              <a:avLst/>
              <a:gdLst/>
              <a:ahLst/>
              <a:cxnLst/>
              <a:rect l="l" t="t" r="r" b="b"/>
              <a:pathLst>
                <a:path w="483200" h="158131">
                  <a:moveTo>
                    <a:pt x="79066" y="0"/>
                  </a:moveTo>
                  <a:lnTo>
                    <a:pt x="404134" y="0"/>
                  </a:lnTo>
                  <a:cubicBezTo>
                    <a:pt x="425104" y="0"/>
                    <a:pt x="445214" y="8330"/>
                    <a:pt x="460042" y="23158"/>
                  </a:cubicBezTo>
                  <a:cubicBezTo>
                    <a:pt x="474869" y="37985"/>
                    <a:pt x="483200" y="58096"/>
                    <a:pt x="483200" y="79066"/>
                  </a:cubicBezTo>
                  <a:lnTo>
                    <a:pt x="483200" y="79066"/>
                  </a:lnTo>
                  <a:cubicBezTo>
                    <a:pt x="483200" y="100035"/>
                    <a:pt x="474869" y="120146"/>
                    <a:pt x="460042" y="134973"/>
                  </a:cubicBezTo>
                  <a:cubicBezTo>
                    <a:pt x="445214" y="149801"/>
                    <a:pt x="425104" y="158131"/>
                    <a:pt x="404134" y="158131"/>
                  </a:cubicBezTo>
                  <a:lnTo>
                    <a:pt x="79066" y="158131"/>
                  </a:lnTo>
                  <a:cubicBezTo>
                    <a:pt x="58096" y="158131"/>
                    <a:pt x="37985" y="149801"/>
                    <a:pt x="23158" y="134973"/>
                  </a:cubicBezTo>
                  <a:cubicBezTo>
                    <a:pt x="8330" y="120146"/>
                    <a:pt x="0" y="100035"/>
                    <a:pt x="0" y="79066"/>
                  </a:cubicBezTo>
                  <a:lnTo>
                    <a:pt x="0" y="79066"/>
                  </a:lnTo>
                  <a:cubicBezTo>
                    <a:pt x="0" y="58096"/>
                    <a:pt x="8330" y="37985"/>
                    <a:pt x="23158" y="23158"/>
                  </a:cubicBezTo>
                  <a:cubicBezTo>
                    <a:pt x="37985" y="8330"/>
                    <a:pt x="58096" y="0"/>
                    <a:pt x="79066" y="0"/>
                  </a:cubicBezTo>
                  <a:close/>
                </a:path>
              </a:pathLst>
            </a:custGeom>
            <a:solidFill>
              <a:srgbClr val="EAE8DC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83200" cy="196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543434" y="3484330"/>
            <a:ext cx="3139866" cy="4516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15"/>
              </a:lnSpc>
              <a:spcBef>
                <a:spcPct val="0"/>
              </a:spcBef>
            </a:pPr>
            <a:r>
              <a:rPr lang="en-US" sz="2472" b="1" spc="-98" dirty="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3. GOVERN</a:t>
            </a:r>
          </a:p>
          <a:p>
            <a:pPr algn="l">
              <a:lnSpc>
                <a:spcPts val="3009"/>
              </a:lnSpc>
              <a:spcBef>
                <a:spcPct val="0"/>
              </a:spcBef>
            </a:pPr>
            <a:r>
              <a:rPr lang="en-US" sz="2149" b="1" spc="-85" dirty="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The oversight</a:t>
            </a:r>
          </a:p>
          <a:p>
            <a:pPr algn="l">
              <a:lnSpc>
                <a:spcPts val="3009"/>
              </a:lnSpc>
              <a:spcBef>
                <a:spcPct val="0"/>
              </a:spcBef>
            </a:pPr>
            <a:endParaRPr lang="en-US" sz="2149" b="1" spc="-85" dirty="0">
              <a:solidFill>
                <a:srgbClr val="222223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009"/>
              </a:lnSpc>
              <a:spcBef>
                <a:spcPct val="0"/>
              </a:spcBef>
            </a:pPr>
            <a:r>
              <a:rPr lang="en-US" sz="2149" spc="-85" dirty="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Power BI + Purview</a:t>
            </a:r>
          </a:p>
          <a:p>
            <a:pPr algn="l">
              <a:lnSpc>
                <a:spcPts val="3009"/>
              </a:lnSpc>
              <a:spcBef>
                <a:spcPct val="0"/>
              </a:spcBef>
            </a:pPr>
            <a:r>
              <a:rPr lang="en-US" sz="2149" spc="-85" dirty="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Copilot Studio (proposed)</a:t>
            </a:r>
          </a:p>
          <a:p>
            <a:pPr algn="l">
              <a:lnSpc>
                <a:spcPts val="3009"/>
              </a:lnSpc>
              <a:spcBef>
                <a:spcPct val="0"/>
              </a:spcBef>
            </a:pPr>
            <a:endParaRPr lang="en-US" sz="2149" spc="-85" dirty="0">
              <a:solidFill>
                <a:srgbClr val="222223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09"/>
              </a:lnSpc>
              <a:spcBef>
                <a:spcPct val="0"/>
              </a:spcBef>
            </a:pPr>
            <a:endParaRPr lang="en-US" sz="2149" spc="-85" dirty="0">
              <a:solidFill>
                <a:srgbClr val="222223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09"/>
              </a:lnSpc>
              <a:spcBef>
                <a:spcPct val="0"/>
              </a:spcBef>
            </a:pPr>
            <a:r>
              <a:rPr lang="en-US" sz="2149" spc="-85" dirty="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Aggregate reporting, moderation and guided support</a:t>
            </a:r>
          </a:p>
        </p:txBody>
      </p:sp>
      <p:sp>
        <p:nvSpPr>
          <p:cNvPr id="27" name="AutoShape 27"/>
          <p:cNvSpPr/>
          <p:nvPr/>
        </p:nvSpPr>
        <p:spPr>
          <a:xfrm flipV="1">
            <a:off x="1206602" y="6389072"/>
            <a:ext cx="2926089" cy="0"/>
          </a:xfrm>
          <a:prstGeom prst="line">
            <a:avLst/>
          </a:prstGeom>
          <a:ln w="19050" cap="flat">
            <a:solidFill>
              <a:srgbClr val="22222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28" name="AutoShape 28"/>
          <p:cNvSpPr/>
          <p:nvPr/>
        </p:nvSpPr>
        <p:spPr>
          <a:xfrm flipV="1">
            <a:off x="13690543" y="6408122"/>
            <a:ext cx="2926089" cy="0"/>
          </a:xfrm>
          <a:prstGeom prst="line">
            <a:avLst/>
          </a:prstGeom>
          <a:ln w="19050" cap="flat">
            <a:solidFill>
              <a:srgbClr val="22222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29" name="AutoShape 29"/>
          <p:cNvSpPr/>
          <p:nvPr/>
        </p:nvSpPr>
        <p:spPr>
          <a:xfrm flipV="1">
            <a:off x="7459215" y="6398597"/>
            <a:ext cx="2926089" cy="0"/>
          </a:xfrm>
          <a:prstGeom prst="line">
            <a:avLst/>
          </a:prstGeom>
          <a:ln w="19050" cap="flat">
            <a:solidFill>
              <a:srgbClr val="22222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grpSp>
        <p:nvGrpSpPr>
          <p:cNvPr id="30" name="Group 30"/>
          <p:cNvGrpSpPr/>
          <p:nvPr/>
        </p:nvGrpSpPr>
        <p:grpSpPr>
          <a:xfrm>
            <a:off x="197745" y="8628148"/>
            <a:ext cx="11054054" cy="1268279"/>
            <a:chOff x="0" y="0"/>
            <a:chExt cx="2911356" cy="26143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911356" cy="261437"/>
            </a:xfrm>
            <a:custGeom>
              <a:avLst/>
              <a:gdLst/>
              <a:ahLst/>
              <a:cxnLst/>
              <a:rect l="l" t="t" r="r" b="b"/>
              <a:pathLst>
                <a:path w="2911356" h="261437">
                  <a:moveTo>
                    <a:pt x="15408" y="0"/>
                  </a:moveTo>
                  <a:lnTo>
                    <a:pt x="2895948" y="0"/>
                  </a:lnTo>
                  <a:cubicBezTo>
                    <a:pt x="2904457" y="0"/>
                    <a:pt x="2911356" y="6898"/>
                    <a:pt x="2911356" y="15408"/>
                  </a:cubicBezTo>
                  <a:lnTo>
                    <a:pt x="2911356" y="246028"/>
                  </a:lnTo>
                  <a:cubicBezTo>
                    <a:pt x="2911356" y="254538"/>
                    <a:pt x="2904457" y="261437"/>
                    <a:pt x="2895948" y="261437"/>
                  </a:cubicBezTo>
                  <a:lnTo>
                    <a:pt x="15408" y="261437"/>
                  </a:lnTo>
                  <a:cubicBezTo>
                    <a:pt x="6898" y="261437"/>
                    <a:pt x="0" y="254538"/>
                    <a:pt x="0" y="246028"/>
                  </a:cubicBezTo>
                  <a:lnTo>
                    <a:pt x="0" y="15408"/>
                  </a:lnTo>
                  <a:cubicBezTo>
                    <a:pt x="0" y="6898"/>
                    <a:pt x="6898" y="0"/>
                    <a:pt x="15408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57150"/>
              <a:ext cx="2911356" cy="204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800"/>
                </a:lnSpc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9511310" y="5356991"/>
            <a:ext cx="873995" cy="873995"/>
          </a:xfrm>
          <a:custGeom>
            <a:avLst/>
            <a:gdLst/>
            <a:ahLst/>
            <a:cxnLst/>
            <a:rect l="l" t="t" r="r" b="b"/>
            <a:pathLst>
              <a:path w="873995" h="873995">
                <a:moveTo>
                  <a:pt x="0" y="0"/>
                </a:moveTo>
                <a:lnTo>
                  <a:pt x="873995" y="0"/>
                </a:lnTo>
                <a:lnTo>
                  <a:pt x="873995" y="873995"/>
                </a:lnTo>
                <a:lnTo>
                  <a:pt x="0" y="8739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4" name="Freeform 34"/>
          <p:cNvSpPr/>
          <p:nvPr/>
        </p:nvSpPr>
        <p:spPr>
          <a:xfrm>
            <a:off x="15715322" y="5384639"/>
            <a:ext cx="901310" cy="901310"/>
          </a:xfrm>
          <a:custGeom>
            <a:avLst/>
            <a:gdLst/>
            <a:ahLst/>
            <a:cxnLst/>
            <a:rect l="l" t="t" r="r" b="b"/>
            <a:pathLst>
              <a:path w="901310" h="901310">
                <a:moveTo>
                  <a:pt x="0" y="0"/>
                </a:moveTo>
                <a:lnTo>
                  <a:pt x="901310" y="0"/>
                </a:lnTo>
                <a:lnTo>
                  <a:pt x="901310" y="901310"/>
                </a:lnTo>
                <a:lnTo>
                  <a:pt x="0" y="9013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5" name="Freeform 35"/>
          <p:cNvSpPr/>
          <p:nvPr/>
        </p:nvSpPr>
        <p:spPr>
          <a:xfrm>
            <a:off x="3110026" y="5219424"/>
            <a:ext cx="1331303" cy="873995"/>
          </a:xfrm>
          <a:custGeom>
            <a:avLst/>
            <a:gdLst/>
            <a:ahLst/>
            <a:cxnLst/>
            <a:rect l="l" t="t" r="r" b="b"/>
            <a:pathLst>
              <a:path w="1331303" h="873995">
                <a:moveTo>
                  <a:pt x="0" y="0"/>
                </a:moveTo>
                <a:lnTo>
                  <a:pt x="1331303" y="0"/>
                </a:lnTo>
                <a:lnTo>
                  <a:pt x="1331303" y="873994"/>
                </a:lnTo>
                <a:lnTo>
                  <a:pt x="0" y="8739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778" r="-6778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6" name="TextBox 36"/>
          <p:cNvSpPr txBox="1"/>
          <p:nvPr/>
        </p:nvSpPr>
        <p:spPr>
          <a:xfrm>
            <a:off x="1443285" y="898208"/>
            <a:ext cx="3625975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9"/>
              </a:lnSpc>
            </a:pPr>
            <a:r>
              <a:rPr lang="en-US" sz="2599" b="1" spc="-155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THE TECHNOLOGY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926908" y="933450"/>
            <a:ext cx="3332392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00"/>
              </a:lnSpc>
            </a:pPr>
            <a:r>
              <a:rPr lang="en-US" sz="2000" spc="-12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MICROSOFT 365.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0" y="1629575"/>
            <a:ext cx="14897100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 spc="-200" dirty="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Built on technology schools already use.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82127" y="2513528"/>
            <a:ext cx="8973222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One connected Microsoft ecosystem. Three jobs to solve.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04800" y="8824293"/>
            <a:ext cx="10461784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spc="-10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Existing school sign-in + configurable tools + measurable participation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27187" y="9899263"/>
            <a:ext cx="10749201" cy="3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4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Microsoft (n.d.-a, n.d.-c–f); Queensland </a:t>
            </a:r>
            <a:r>
              <a:rPr lang="en-US" sz="16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Department</a:t>
            </a:r>
            <a:r>
              <a:rPr lang="en-US" sz="14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of Education (2026); Team 5 (2026b).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21028" flipH="1" flipV="1">
            <a:off x="-1802152" y="-2184453"/>
            <a:ext cx="7539939" cy="4866688"/>
          </a:xfrm>
          <a:custGeom>
            <a:avLst/>
            <a:gdLst/>
            <a:ahLst/>
            <a:cxnLst/>
            <a:rect l="l" t="t" r="r" b="b"/>
            <a:pathLst>
              <a:path w="7539939" h="4866688">
                <a:moveTo>
                  <a:pt x="7539939" y="4866688"/>
                </a:moveTo>
                <a:lnTo>
                  <a:pt x="0" y="4866688"/>
                </a:lnTo>
                <a:lnTo>
                  <a:pt x="0" y="0"/>
                </a:lnTo>
                <a:lnTo>
                  <a:pt x="7539939" y="0"/>
                </a:lnTo>
                <a:lnTo>
                  <a:pt x="7539939" y="4866688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1479196">
            <a:off x="11291276" y="6049882"/>
            <a:ext cx="9707434" cy="6265707"/>
          </a:xfrm>
          <a:custGeom>
            <a:avLst/>
            <a:gdLst/>
            <a:ahLst/>
            <a:cxnLst/>
            <a:rect l="l" t="t" r="r" b="b"/>
            <a:pathLst>
              <a:path w="9707434" h="6265707">
                <a:moveTo>
                  <a:pt x="0" y="0"/>
                </a:moveTo>
                <a:lnTo>
                  <a:pt x="9707434" y="0"/>
                </a:lnTo>
                <a:lnTo>
                  <a:pt x="9707434" y="6265707"/>
                </a:lnTo>
                <a:lnTo>
                  <a:pt x="0" y="62657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4" name="AutoShape 4"/>
          <p:cNvSpPr/>
          <p:nvPr/>
        </p:nvSpPr>
        <p:spPr>
          <a:xfrm>
            <a:off x="1028700" y="1386936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5" name="Freeform 5"/>
          <p:cNvSpPr/>
          <p:nvPr/>
        </p:nvSpPr>
        <p:spPr>
          <a:xfrm>
            <a:off x="1028700" y="857929"/>
            <a:ext cx="355773" cy="341542"/>
          </a:xfrm>
          <a:custGeom>
            <a:avLst/>
            <a:gdLst/>
            <a:ahLst/>
            <a:cxnLst/>
            <a:rect l="l" t="t" r="r" b="b"/>
            <a:pathLst>
              <a:path w="355773" h="341542">
                <a:moveTo>
                  <a:pt x="0" y="0"/>
                </a:moveTo>
                <a:lnTo>
                  <a:pt x="355773" y="0"/>
                </a:lnTo>
                <a:lnTo>
                  <a:pt x="355773" y="341542"/>
                </a:lnTo>
                <a:lnTo>
                  <a:pt x="0" y="341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6" name="Freeform 6"/>
          <p:cNvSpPr/>
          <p:nvPr/>
        </p:nvSpPr>
        <p:spPr>
          <a:xfrm>
            <a:off x="857110" y="3003222"/>
            <a:ext cx="2793753" cy="6140778"/>
          </a:xfrm>
          <a:custGeom>
            <a:avLst/>
            <a:gdLst/>
            <a:ahLst/>
            <a:cxnLst/>
            <a:rect l="l" t="t" r="r" b="b"/>
            <a:pathLst>
              <a:path w="2793753" h="6140778">
                <a:moveTo>
                  <a:pt x="0" y="0"/>
                </a:moveTo>
                <a:lnTo>
                  <a:pt x="2793753" y="0"/>
                </a:lnTo>
                <a:lnTo>
                  <a:pt x="2793753" y="6140778"/>
                </a:lnTo>
                <a:lnTo>
                  <a:pt x="0" y="61407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9621" t="-3237" r="-293148" b="-7512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7" name="Freeform 7"/>
          <p:cNvSpPr/>
          <p:nvPr/>
        </p:nvSpPr>
        <p:spPr>
          <a:xfrm>
            <a:off x="-99716" y="2917497"/>
            <a:ext cx="4707405" cy="6312228"/>
          </a:xfrm>
          <a:custGeom>
            <a:avLst/>
            <a:gdLst/>
            <a:ahLst/>
            <a:cxnLst/>
            <a:rect l="l" t="t" r="r" b="b"/>
            <a:pathLst>
              <a:path w="4707405" h="6312228">
                <a:moveTo>
                  <a:pt x="0" y="0"/>
                </a:moveTo>
                <a:lnTo>
                  <a:pt x="4707405" y="0"/>
                </a:lnTo>
                <a:lnTo>
                  <a:pt x="4707405" y="6312228"/>
                </a:lnTo>
                <a:lnTo>
                  <a:pt x="0" y="63122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568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8" name="Freeform 8"/>
          <p:cNvSpPr/>
          <p:nvPr/>
        </p:nvSpPr>
        <p:spPr>
          <a:xfrm>
            <a:off x="5071372" y="3037508"/>
            <a:ext cx="2913940" cy="6031470"/>
          </a:xfrm>
          <a:custGeom>
            <a:avLst/>
            <a:gdLst/>
            <a:ahLst/>
            <a:cxnLst/>
            <a:rect l="l" t="t" r="r" b="b"/>
            <a:pathLst>
              <a:path w="2913940" h="6031470">
                <a:moveTo>
                  <a:pt x="0" y="0"/>
                </a:moveTo>
                <a:lnTo>
                  <a:pt x="2913940" y="0"/>
                </a:lnTo>
                <a:lnTo>
                  <a:pt x="2913940" y="6031470"/>
                </a:lnTo>
                <a:lnTo>
                  <a:pt x="0" y="60314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64043" t="-3723" r="-152463" b="-9465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9" name="Freeform 9"/>
          <p:cNvSpPr/>
          <p:nvPr/>
        </p:nvSpPr>
        <p:spPr>
          <a:xfrm>
            <a:off x="4213940" y="2946072"/>
            <a:ext cx="4628803" cy="6312228"/>
          </a:xfrm>
          <a:custGeom>
            <a:avLst/>
            <a:gdLst/>
            <a:ahLst/>
            <a:cxnLst/>
            <a:rect l="l" t="t" r="r" b="b"/>
            <a:pathLst>
              <a:path w="4628803" h="6312228">
                <a:moveTo>
                  <a:pt x="0" y="0"/>
                </a:moveTo>
                <a:lnTo>
                  <a:pt x="4628803" y="0"/>
                </a:lnTo>
                <a:lnTo>
                  <a:pt x="4628803" y="6312228"/>
                </a:lnTo>
                <a:lnTo>
                  <a:pt x="0" y="63122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98" r="-578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0" name="Freeform 10"/>
          <p:cNvSpPr/>
          <p:nvPr/>
        </p:nvSpPr>
        <p:spPr>
          <a:xfrm>
            <a:off x="9404718" y="3001210"/>
            <a:ext cx="2812256" cy="6050822"/>
          </a:xfrm>
          <a:custGeom>
            <a:avLst/>
            <a:gdLst/>
            <a:ahLst/>
            <a:cxnLst/>
            <a:rect l="l" t="t" r="r" b="b"/>
            <a:pathLst>
              <a:path w="2812256" h="6050822">
                <a:moveTo>
                  <a:pt x="0" y="0"/>
                </a:moveTo>
                <a:lnTo>
                  <a:pt x="2812256" y="0"/>
                </a:lnTo>
                <a:lnTo>
                  <a:pt x="2812256" y="6050822"/>
                </a:lnTo>
                <a:lnTo>
                  <a:pt x="0" y="60508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7511" t="-1796" r="-29257" b="-9775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1" name="Freeform 11"/>
          <p:cNvSpPr/>
          <p:nvPr/>
        </p:nvSpPr>
        <p:spPr>
          <a:xfrm>
            <a:off x="8452037" y="2946072"/>
            <a:ext cx="4707405" cy="6312228"/>
          </a:xfrm>
          <a:custGeom>
            <a:avLst/>
            <a:gdLst/>
            <a:ahLst/>
            <a:cxnLst/>
            <a:rect l="l" t="t" r="r" b="b"/>
            <a:pathLst>
              <a:path w="4707405" h="6312228">
                <a:moveTo>
                  <a:pt x="0" y="0"/>
                </a:moveTo>
                <a:lnTo>
                  <a:pt x="4707404" y="0"/>
                </a:lnTo>
                <a:lnTo>
                  <a:pt x="4707404" y="6312228"/>
                </a:lnTo>
                <a:lnTo>
                  <a:pt x="0" y="63122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568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2" name="TextBox 12"/>
          <p:cNvSpPr txBox="1"/>
          <p:nvPr/>
        </p:nvSpPr>
        <p:spPr>
          <a:xfrm>
            <a:off x="5496070" y="9429750"/>
            <a:ext cx="2064544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02 / PARTICIPATE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48740" y="9429750"/>
            <a:ext cx="151399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03 / RETURN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2136447"/>
            <a:ext cx="16078500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0"/>
              </a:lnSpc>
            </a:pPr>
            <a:r>
              <a:rPr lang="en-US" sz="5000" b="1" spc="-3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ONE AFTERNOON. A REASON TO SHOW UP AGAIN.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43285" y="898208"/>
            <a:ext cx="2822989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9"/>
              </a:lnSpc>
            </a:pPr>
            <a:r>
              <a:rPr lang="en-US" sz="2599" b="1" spc="-155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HOW IT WORKS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26908" y="933450"/>
            <a:ext cx="3332392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00"/>
              </a:lnSpc>
            </a:pPr>
            <a:r>
              <a:rPr lang="en-US" sz="2000" spc="-120">
                <a:solidFill>
                  <a:srgbClr val="000000">
                    <a:alpha val="81961"/>
                  </a:srgbClr>
                </a:solidFill>
                <a:latin typeface="Garet"/>
                <a:ea typeface="Garet"/>
                <a:cs typeface="Garet"/>
                <a:sym typeface="Garet"/>
              </a:rPr>
              <a:t>BEACON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43285" y="9429750"/>
            <a:ext cx="173902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01 / DISCOVER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38343" y="9965360"/>
            <a:ext cx="414897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6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Microsoft (n.d.-e); Team 5 (2026b).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4016483" y="3404947"/>
            <a:ext cx="2852571" cy="1298729"/>
            <a:chOff x="0" y="0"/>
            <a:chExt cx="3803428" cy="1731638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3803428" cy="1731638"/>
              <a:chOff x="0" y="0"/>
              <a:chExt cx="964350" cy="43905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964350" cy="439053"/>
              </a:xfrm>
              <a:custGeom>
                <a:avLst/>
                <a:gdLst/>
                <a:ahLst/>
                <a:cxnLst/>
                <a:rect l="l" t="t" r="r" b="b"/>
                <a:pathLst>
                  <a:path w="964350" h="439053">
                    <a:moveTo>
                      <a:pt x="52860" y="0"/>
                    </a:moveTo>
                    <a:lnTo>
                      <a:pt x="911490" y="0"/>
                    </a:lnTo>
                    <a:cubicBezTo>
                      <a:pt x="940684" y="0"/>
                      <a:pt x="964350" y="23666"/>
                      <a:pt x="964350" y="52860"/>
                    </a:cubicBezTo>
                    <a:lnTo>
                      <a:pt x="964350" y="386193"/>
                    </a:lnTo>
                    <a:cubicBezTo>
                      <a:pt x="964350" y="415387"/>
                      <a:pt x="940684" y="439053"/>
                      <a:pt x="911490" y="439053"/>
                    </a:cubicBezTo>
                    <a:lnTo>
                      <a:pt x="52860" y="439053"/>
                    </a:lnTo>
                    <a:cubicBezTo>
                      <a:pt x="23666" y="439053"/>
                      <a:pt x="0" y="415387"/>
                      <a:pt x="0" y="386193"/>
                    </a:cubicBezTo>
                    <a:lnTo>
                      <a:pt x="0" y="52860"/>
                    </a:lnTo>
                    <a:cubicBezTo>
                      <a:pt x="0" y="23666"/>
                      <a:pt x="23666" y="0"/>
                      <a:pt x="52860" y="0"/>
                    </a:cubicBezTo>
                    <a:close/>
                  </a:path>
                </a:pathLst>
              </a:custGeom>
              <a:solidFill>
                <a:srgbClr val="BDD49C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964350" cy="4771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615499" y="224397"/>
              <a:ext cx="2362741" cy="11875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99"/>
                </a:lnSpc>
                <a:spcBef>
                  <a:spcPct val="0"/>
                </a:spcBef>
              </a:pPr>
              <a:r>
                <a:rPr lang="en-US" sz="1713" b="1" spc="-68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SAME DAY</a:t>
              </a:r>
            </a:p>
            <a:p>
              <a:pPr algn="ctr">
                <a:lnSpc>
                  <a:spcPts val="2399"/>
                </a:lnSpc>
                <a:spcBef>
                  <a:spcPct val="0"/>
                </a:spcBef>
              </a:pPr>
              <a:r>
                <a:rPr lang="en-US" sz="1713" spc="-68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+10 Torch Points</a:t>
              </a:r>
            </a:p>
            <a:p>
              <a:pPr algn="ctr">
                <a:lnSpc>
                  <a:spcPts val="2399"/>
                </a:lnSpc>
                <a:spcBef>
                  <a:spcPct val="0"/>
                </a:spcBef>
              </a:pPr>
              <a:r>
                <a:rPr lang="en-US" sz="1713" spc="-68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Verified session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006423" y="4916463"/>
            <a:ext cx="2812813" cy="1480302"/>
            <a:chOff x="0" y="0"/>
            <a:chExt cx="3750418" cy="1973736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3750418" cy="1973736"/>
              <a:chOff x="0" y="0"/>
              <a:chExt cx="774927" cy="40782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774927" cy="407822"/>
              </a:xfrm>
              <a:custGeom>
                <a:avLst/>
                <a:gdLst/>
                <a:ahLst/>
                <a:cxnLst/>
                <a:rect l="l" t="t" r="r" b="b"/>
                <a:pathLst>
                  <a:path w="774927" h="407822">
                    <a:moveTo>
                      <a:pt x="65781" y="0"/>
                    </a:moveTo>
                    <a:lnTo>
                      <a:pt x="709146" y="0"/>
                    </a:lnTo>
                    <a:cubicBezTo>
                      <a:pt x="726592" y="0"/>
                      <a:pt x="743324" y="6930"/>
                      <a:pt x="755660" y="19267"/>
                    </a:cubicBezTo>
                    <a:cubicBezTo>
                      <a:pt x="767997" y="31603"/>
                      <a:pt x="774927" y="48335"/>
                      <a:pt x="774927" y="65781"/>
                    </a:cubicBezTo>
                    <a:lnTo>
                      <a:pt x="774927" y="342041"/>
                    </a:lnTo>
                    <a:cubicBezTo>
                      <a:pt x="774927" y="359487"/>
                      <a:pt x="767997" y="376218"/>
                      <a:pt x="755660" y="388555"/>
                    </a:cubicBezTo>
                    <a:cubicBezTo>
                      <a:pt x="743324" y="400891"/>
                      <a:pt x="726592" y="407822"/>
                      <a:pt x="709146" y="407822"/>
                    </a:cubicBezTo>
                    <a:lnTo>
                      <a:pt x="65781" y="407822"/>
                    </a:lnTo>
                    <a:cubicBezTo>
                      <a:pt x="48335" y="407822"/>
                      <a:pt x="31603" y="400891"/>
                      <a:pt x="19267" y="388555"/>
                    </a:cubicBezTo>
                    <a:cubicBezTo>
                      <a:pt x="6930" y="376218"/>
                      <a:pt x="0" y="359487"/>
                      <a:pt x="0" y="342041"/>
                    </a:cubicBezTo>
                    <a:lnTo>
                      <a:pt x="0" y="65781"/>
                    </a:lnTo>
                    <a:cubicBezTo>
                      <a:pt x="0" y="48335"/>
                      <a:pt x="6930" y="31603"/>
                      <a:pt x="19267" y="19267"/>
                    </a:cubicBezTo>
                    <a:cubicBezTo>
                      <a:pt x="31603" y="6930"/>
                      <a:pt x="48335" y="0"/>
                      <a:pt x="65781" y="0"/>
                    </a:cubicBezTo>
                    <a:close/>
                  </a:path>
                </a:pathLst>
              </a:custGeom>
              <a:solidFill>
                <a:srgbClr val="BDD49C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774927" cy="44592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475167" y="228180"/>
              <a:ext cx="2800085" cy="1469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4"/>
                </a:lnSpc>
                <a:spcBef>
                  <a:spcPct val="0"/>
                </a:spcBef>
              </a:pPr>
              <a:r>
                <a:rPr lang="en-US" sz="2000" b="1" spc="-84" dirty="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SAME WEEK</a:t>
              </a:r>
            </a:p>
            <a:p>
              <a:pPr algn="ctr">
                <a:lnSpc>
                  <a:spcPts val="2944"/>
                </a:lnSpc>
                <a:spcBef>
                  <a:spcPct val="0"/>
                </a:spcBef>
              </a:pPr>
              <a:r>
                <a:rPr lang="en-US" sz="2000" spc="-84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Local voucher</a:t>
              </a:r>
            </a:p>
            <a:p>
              <a:pPr algn="ctr">
                <a:lnSpc>
                  <a:spcPts val="2944"/>
                </a:lnSpc>
                <a:spcBef>
                  <a:spcPct val="0"/>
                </a:spcBef>
              </a:pPr>
              <a:r>
                <a:rPr lang="en-US" sz="2000" spc="-84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Return incentive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4016483" y="6609552"/>
            <a:ext cx="2852571" cy="1441599"/>
            <a:chOff x="0" y="0"/>
            <a:chExt cx="3803428" cy="1922132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3803428" cy="1922132"/>
              <a:chOff x="0" y="0"/>
              <a:chExt cx="849504" cy="42931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49504" cy="429312"/>
              </a:xfrm>
              <a:custGeom>
                <a:avLst/>
                <a:gdLst/>
                <a:ahLst/>
                <a:cxnLst/>
                <a:rect l="l" t="t" r="r" b="b"/>
                <a:pathLst>
                  <a:path w="849504" h="429312">
                    <a:moveTo>
                      <a:pt x="60006" y="0"/>
                    </a:moveTo>
                    <a:lnTo>
                      <a:pt x="789497" y="0"/>
                    </a:lnTo>
                    <a:cubicBezTo>
                      <a:pt x="805412" y="0"/>
                      <a:pt x="820675" y="6322"/>
                      <a:pt x="831928" y="17575"/>
                    </a:cubicBezTo>
                    <a:cubicBezTo>
                      <a:pt x="843182" y="28829"/>
                      <a:pt x="849504" y="44092"/>
                      <a:pt x="849504" y="60006"/>
                    </a:cubicBezTo>
                    <a:lnTo>
                      <a:pt x="849504" y="369306"/>
                    </a:lnTo>
                    <a:cubicBezTo>
                      <a:pt x="849504" y="385221"/>
                      <a:pt x="843182" y="400483"/>
                      <a:pt x="831928" y="411737"/>
                    </a:cubicBezTo>
                    <a:cubicBezTo>
                      <a:pt x="820675" y="422990"/>
                      <a:pt x="805412" y="429312"/>
                      <a:pt x="789497" y="429312"/>
                    </a:cubicBezTo>
                    <a:lnTo>
                      <a:pt x="60006" y="429312"/>
                    </a:lnTo>
                    <a:cubicBezTo>
                      <a:pt x="44092" y="429312"/>
                      <a:pt x="28829" y="422990"/>
                      <a:pt x="17575" y="411737"/>
                    </a:cubicBezTo>
                    <a:cubicBezTo>
                      <a:pt x="6322" y="400483"/>
                      <a:pt x="0" y="385221"/>
                      <a:pt x="0" y="369306"/>
                    </a:cubicBezTo>
                    <a:lnTo>
                      <a:pt x="0" y="60006"/>
                    </a:lnTo>
                    <a:cubicBezTo>
                      <a:pt x="0" y="44092"/>
                      <a:pt x="6322" y="28829"/>
                      <a:pt x="17575" y="17575"/>
                    </a:cubicBezTo>
                    <a:cubicBezTo>
                      <a:pt x="28829" y="6322"/>
                      <a:pt x="44092" y="0"/>
                      <a:pt x="60006" y="0"/>
                    </a:cubicBezTo>
                    <a:close/>
                  </a:path>
                </a:pathLst>
              </a:custGeom>
              <a:solidFill>
                <a:srgbClr val="BDD49C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849504" cy="467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30855" y="34907"/>
              <a:ext cx="3506869" cy="1814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3"/>
                </a:lnSpc>
                <a:spcBef>
                  <a:spcPct val="0"/>
                </a:spcBef>
              </a:pPr>
              <a:r>
                <a:rPr lang="en-US" sz="1945" b="1" spc="-77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EACH TERM</a:t>
              </a:r>
            </a:p>
            <a:p>
              <a:pPr algn="ctr">
                <a:lnSpc>
                  <a:spcPts val="2723"/>
                </a:lnSpc>
                <a:spcBef>
                  <a:spcPct val="0"/>
                </a:spcBef>
              </a:pPr>
              <a:r>
                <a:rPr lang="en-US" sz="1945" spc="-77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Group rewards</a:t>
              </a:r>
            </a:p>
            <a:p>
              <a:pPr algn="ctr">
                <a:lnSpc>
                  <a:spcPts val="2723"/>
                </a:lnSpc>
                <a:spcBef>
                  <a:spcPct val="0"/>
                </a:spcBef>
              </a:pPr>
              <a:r>
                <a:rPr lang="en-US" sz="1945" spc="-77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Consistent participation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056240" y="8289275"/>
            <a:ext cx="2762997" cy="1559405"/>
            <a:chOff x="0" y="0"/>
            <a:chExt cx="3683995" cy="2079207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3683995" cy="2079207"/>
              <a:chOff x="0" y="0"/>
              <a:chExt cx="866823" cy="4892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66823" cy="489226"/>
              </a:xfrm>
              <a:custGeom>
                <a:avLst/>
                <a:gdLst/>
                <a:ahLst/>
                <a:cxnLst/>
                <a:rect l="l" t="t" r="r" b="b"/>
                <a:pathLst>
                  <a:path w="866823" h="489226">
                    <a:moveTo>
                      <a:pt x="58807" y="0"/>
                    </a:moveTo>
                    <a:lnTo>
                      <a:pt x="808016" y="0"/>
                    </a:lnTo>
                    <a:cubicBezTo>
                      <a:pt x="823613" y="0"/>
                      <a:pt x="838571" y="6196"/>
                      <a:pt x="849599" y="17224"/>
                    </a:cubicBezTo>
                    <a:cubicBezTo>
                      <a:pt x="860628" y="28253"/>
                      <a:pt x="866823" y="43211"/>
                      <a:pt x="866823" y="58807"/>
                    </a:cubicBezTo>
                    <a:lnTo>
                      <a:pt x="866823" y="430418"/>
                    </a:lnTo>
                    <a:cubicBezTo>
                      <a:pt x="866823" y="462897"/>
                      <a:pt x="840495" y="489226"/>
                      <a:pt x="808016" y="489226"/>
                    </a:cubicBezTo>
                    <a:lnTo>
                      <a:pt x="58807" y="489226"/>
                    </a:lnTo>
                    <a:cubicBezTo>
                      <a:pt x="43211" y="489226"/>
                      <a:pt x="28253" y="483030"/>
                      <a:pt x="17224" y="472001"/>
                    </a:cubicBezTo>
                    <a:cubicBezTo>
                      <a:pt x="6196" y="460973"/>
                      <a:pt x="0" y="446015"/>
                      <a:pt x="0" y="430418"/>
                    </a:cubicBezTo>
                    <a:lnTo>
                      <a:pt x="0" y="58807"/>
                    </a:lnTo>
                    <a:cubicBezTo>
                      <a:pt x="0" y="26329"/>
                      <a:pt x="26329" y="0"/>
                      <a:pt x="58807" y="0"/>
                    </a:cubicBezTo>
                    <a:close/>
                  </a:path>
                </a:pathLst>
              </a:custGeom>
              <a:solidFill>
                <a:srgbClr val="BDD49C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866823" cy="5273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35549" y="173797"/>
              <a:ext cx="3301124" cy="17145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85"/>
                </a:lnSpc>
                <a:spcBef>
                  <a:spcPct val="0"/>
                </a:spcBef>
              </a:pPr>
              <a:r>
                <a:rPr lang="en-US" sz="1846" b="1" spc="-73" dirty="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LONG TERM</a:t>
              </a:r>
            </a:p>
            <a:p>
              <a:pPr algn="ctr">
                <a:lnSpc>
                  <a:spcPts val="2585"/>
                </a:lnSpc>
                <a:spcBef>
                  <a:spcPct val="0"/>
                </a:spcBef>
              </a:pPr>
              <a:r>
                <a:rPr lang="en-US" sz="1846" spc="-73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Youth Champion</a:t>
              </a:r>
            </a:p>
            <a:p>
              <a:pPr algn="ctr">
                <a:lnSpc>
                  <a:spcPts val="2585"/>
                </a:lnSpc>
                <a:spcBef>
                  <a:spcPct val="0"/>
                </a:spcBef>
              </a:pPr>
              <a:r>
                <a:rPr lang="en-US" sz="1846" spc="-73" dirty="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Leadership opportunity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3533492" y="2907015"/>
            <a:ext cx="4119225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9"/>
              </a:lnSpc>
            </a:pPr>
            <a:r>
              <a:rPr lang="en-US" sz="2599" b="1" spc="-155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THE REWARD PATHWAY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21028" flipH="1" flipV="1">
            <a:off x="-1802152" y="-2184453"/>
            <a:ext cx="7539939" cy="4866688"/>
          </a:xfrm>
          <a:custGeom>
            <a:avLst/>
            <a:gdLst/>
            <a:ahLst/>
            <a:cxnLst/>
            <a:rect l="l" t="t" r="r" b="b"/>
            <a:pathLst>
              <a:path w="7539939" h="4866688">
                <a:moveTo>
                  <a:pt x="7539939" y="4866688"/>
                </a:moveTo>
                <a:lnTo>
                  <a:pt x="0" y="4866688"/>
                </a:lnTo>
                <a:lnTo>
                  <a:pt x="0" y="0"/>
                </a:lnTo>
                <a:lnTo>
                  <a:pt x="7539939" y="0"/>
                </a:lnTo>
                <a:lnTo>
                  <a:pt x="7539939" y="4866688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1479196">
            <a:off x="10739387" y="5864555"/>
            <a:ext cx="9707434" cy="6265707"/>
          </a:xfrm>
          <a:custGeom>
            <a:avLst/>
            <a:gdLst/>
            <a:ahLst/>
            <a:cxnLst/>
            <a:rect l="l" t="t" r="r" b="b"/>
            <a:pathLst>
              <a:path w="9707434" h="6265707">
                <a:moveTo>
                  <a:pt x="0" y="0"/>
                </a:moveTo>
                <a:lnTo>
                  <a:pt x="9707434" y="0"/>
                </a:lnTo>
                <a:lnTo>
                  <a:pt x="9707434" y="6265708"/>
                </a:lnTo>
                <a:lnTo>
                  <a:pt x="0" y="6265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4" name="Group 4"/>
          <p:cNvGrpSpPr/>
          <p:nvPr/>
        </p:nvGrpSpPr>
        <p:grpSpPr>
          <a:xfrm>
            <a:off x="285873" y="8550475"/>
            <a:ext cx="9002721" cy="1410716"/>
            <a:chOff x="0" y="0"/>
            <a:chExt cx="2096007" cy="281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96007" cy="281901"/>
            </a:xfrm>
            <a:custGeom>
              <a:avLst/>
              <a:gdLst/>
              <a:ahLst/>
              <a:cxnLst/>
              <a:rect l="l" t="t" r="r" b="b"/>
              <a:pathLst>
                <a:path w="2096007" h="281901">
                  <a:moveTo>
                    <a:pt x="24320" y="0"/>
                  </a:moveTo>
                  <a:lnTo>
                    <a:pt x="2071686" y="0"/>
                  </a:lnTo>
                  <a:cubicBezTo>
                    <a:pt x="2085118" y="0"/>
                    <a:pt x="2096007" y="10889"/>
                    <a:pt x="2096007" y="24320"/>
                  </a:cubicBezTo>
                  <a:lnTo>
                    <a:pt x="2096007" y="257581"/>
                  </a:lnTo>
                  <a:cubicBezTo>
                    <a:pt x="2096007" y="264031"/>
                    <a:pt x="2093444" y="270217"/>
                    <a:pt x="2088883" y="274778"/>
                  </a:cubicBezTo>
                  <a:cubicBezTo>
                    <a:pt x="2084322" y="279339"/>
                    <a:pt x="2078136" y="281901"/>
                    <a:pt x="2071686" y="281901"/>
                  </a:cubicBezTo>
                  <a:lnTo>
                    <a:pt x="24320" y="281901"/>
                  </a:lnTo>
                  <a:cubicBezTo>
                    <a:pt x="10889" y="281901"/>
                    <a:pt x="0" y="271012"/>
                    <a:pt x="0" y="257581"/>
                  </a:cubicBezTo>
                  <a:lnTo>
                    <a:pt x="0" y="24320"/>
                  </a:lnTo>
                  <a:cubicBezTo>
                    <a:pt x="0" y="17870"/>
                    <a:pt x="2562" y="11684"/>
                    <a:pt x="7123" y="7123"/>
                  </a:cubicBezTo>
                  <a:cubicBezTo>
                    <a:pt x="11684" y="2562"/>
                    <a:pt x="17870" y="0"/>
                    <a:pt x="24320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096007" cy="320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1028700" y="1386936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8" name="Freeform 8"/>
          <p:cNvSpPr/>
          <p:nvPr/>
        </p:nvSpPr>
        <p:spPr>
          <a:xfrm>
            <a:off x="1028700" y="857929"/>
            <a:ext cx="355773" cy="341542"/>
          </a:xfrm>
          <a:custGeom>
            <a:avLst/>
            <a:gdLst/>
            <a:ahLst/>
            <a:cxnLst/>
            <a:rect l="l" t="t" r="r" b="b"/>
            <a:pathLst>
              <a:path w="355773" h="341542">
                <a:moveTo>
                  <a:pt x="0" y="0"/>
                </a:moveTo>
                <a:lnTo>
                  <a:pt x="355773" y="0"/>
                </a:lnTo>
                <a:lnTo>
                  <a:pt x="355773" y="341542"/>
                </a:lnTo>
                <a:lnTo>
                  <a:pt x="0" y="341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9" name="Group 9"/>
          <p:cNvGrpSpPr/>
          <p:nvPr/>
        </p:nvGrpSpPr>
        <p:grpSpPr>
          <a:xfrm>
            <a:off x="531278" y="3293880"/>
            <a:ext cx="4304939" cy="2614447"/>
            <a:chOff x="0" y="0"/>
            <a:chExt cx="1133817" cy="6885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33817" cy="688561"/>
            </a:xfrm>
            <a:custGeom>
              <a:avLst/>
              <a:gdLst/>
              <a:ahLst/>
              <a:cxnLst/>
              <a:rect l="l" t="t" r="r" b="b"/>
              <a:pathLst>
                <a:path w="1133817" h="688561">
                  <a:moveTo>
                    <a:pt x="1133817" y="48556"/>
                  </a:moveTo>
                  <a:lnTo>
                    <a:pt x="1133817" y="640004"/>
                  </a:lnTo>
                  <a:cubicBezTo>
                    <a:pt x="1133817" y="652882"/>
                    <a:pt x="1128701" y="665233"/>
                    <a:pt x="1119595" y="674339"/>
                  </a:cubicBezTo>
                  <a:cubicBezTo>
                    <a:pt x="1110489" y="683445"/>
                    <a:pt x="1098138" y="688561"/>
                    <a:pt x="1085261" y="688561"/>
                  </a:cubicBezTo>
                  <a:lnTo>
                    <a:pt x="48556" y="688561"/>
                  </a:lnTo>
                  <a:cubicBezTo>
                    <a:pt x="21739" y="688561"/>
                    <a:pt x="0" y="666821"/>
                    <a:pt x="0" y="640004"/>
                  </a:cubicBezTo>
                  <a:lnTo>
                    <a:pt x="0" y="48556"/>
                  </a:lnTo>
                  <a:cubicBezTo>
                    <a:pt x="0" y="21739"/>
                    <a:pt x="21739" y="0"/>
                    <a:pt x="48556" y="0"/>
                  </a:cubicBezTo>
                  <a:lnTo>
                    <a:pt x="1085261" y="0"/>
                  </a:lnTo>
                  <a:cubicBezTo>
                    <a:pt x="1112077" y="0"/>
                    <a:pt x="1133817" y="21739"/>
                    <a:pt x="1133817" y="48556"/>
                  </a:cubicBezTo>
                  <a:close/>
                </a:path>
              </a:pathLst>
            </a:custGeom>
            <a:solidFill>
              <a:srgbClr val="E7E5D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57150"/>
              <a:ext cx="1133817" cy="631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617291" y="3341024"/>
            <a:ext cx="3744869" cy="2614447"/>
            <a:chOff x="0" y="0"/>
            <a:chExt cx="986308" cy="68856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86308" cy="688561"/>
            </a:xfrm>
            <a:custGeom>
              <a:avLst/>
              <a:gdLst/>
              <a:ahLst/>
              <a:cxnLst/>
              <a:rect l="l" t="t" r="r" b="b"/>
              <a:pathLst>
                <a:path w="986308" h="688561">
                  <a:moveTo>
                    <a:pt x="986308" y="55818"/>
                  </a:moveTo>
                  <a:lnTo>
                    <a:pt x="986308" y="632742"/>
                  </a:lnTo>
                  <a:cubicBezTo>
                    <a:pt x="986308" y="647546"/>
                    <a:pt x="980427" y="661744"/>
                    <a:pt x="969959" y="672212"/>
                  </a:cubicBezTo>
                  <a:cubicBezTo>
                    <a:pt x="959491" y="682680"/>
                    <a:pt x="945294" y="688561"/>
                    <a:pt x="930490" y="688561"/>
                  </a:cubicBezTo>
                  <a:lnTo>
                    <a:pt x="55818" y="688561"/>
                  </a:lnTo>
                  <a:cubicBezTo>
                    <a:pt x="41014" y="688561"/>
                    <a:pt x="26817" y="682680"/>
                    <a:pt x="16349" y="672212"/>
                  </a:cubicBezTo>
                  <a:cubicBezTo>
                    <a:pt x="5881" y="661744"/>
                    <a:pt x="0" y="647546"/>
                    <a:pt x="0" y="632742"/>
                  </a:cubicBezTo>
                  <a:lnTo>
                    <a:pt x="0" y="55818"/>
                  </a:lnTo>
                  <a:cubicBezTo>
                    <a:pt x="0" y="41014"/>
                    <a:pt x="5881" y="26817"/>
                    <a:pt x="16349" y="16349"/>
                  </a:cubicBezTo>
                  <a:cubicBezTo>
                    <a:pt x="26817" y="5881"/>
                    <a:pt x="41014" y="0"/>
                    <a:pt x="55818" y="0"/>
                  </a:cubicBezTo>
                  <a:lnTo>
                    <a:pt x="930490" y="0"/>
                  </a:lnTo>
                  <a:cubicBezTo>
                    <a:pt x="945294" y="0"/>
                    <a:pt x="959491" y="5881"/>
                    <a:pt x="969959" y="16349"/>
                  </a:cubicBezTo>
                  <a:cubicBezTo>
                    <a:pt x="980427" y="26817"/>
                    <a:pt x="986308" y="41014"/>
                    <a:pt x="986308" y="55818"/>
                  </a:cubicBezTo>
                  <a:close/>
                </a:path>
              </a:pathLst>
            </a:custGeom>
            <a:solidFill>
              <a:srgbClr val="E7E5D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57150"/>
              <a:ext cx="986308" cy="631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169592" y="3341024"/>
            <a:ext cx="4119002" cy="2614447"/>
            <a:chOff x="0" y="0"/>
            <a:chExt cx="1084845" cy="6885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84845" cy="688561"/>
            </a:xfrm>
            <a:custGeom>
              <a:avLst/>
              <a:gdLst/>
              <a:ahLst/>
              <a:cxnLst/>
              <a:rect l="l" t="t" r="r" b="b"/>
              <a:pathLst>
                <a:path w="1084845" h="688561">
                  <a:moveTo>
                    <a:pt x="1084845" y="50748"/>
                  </a:moveTo>
                  <a:lnTo>
                    <a:pt x="1084845" y="637813"/>
                  </a:lnTo>
                  <a:cubicBezTo>
                    <a:pt x="1084845" y="665840"/>
                    <a:pt x="1062125" y="688561"/>
                    <a:pt x="1034097" y="688561"/>
                  </a:cubicBezTo>
                  <a:lnTo>
                    <a:pt x="50748" y="688561"/>
                  </a:lnTo>
                  <a:cubicBezTo>
                    <a:pt x="22721" y="688561"/>
                    <a:pt x="0" y="665840"/>
                    <a:pt x="0" y="637813"/>
                  </a:cubicBezTo>
                  <a:lnTo>
                    <a:pt x="0" y="50748"/>
                  </a:lnTo>
                  <a:cubicBezTo>
                    <a:pt x="0" y="37289"/>
                    <a:pt x="5347" y="24381"/>
                    <a:pt x="14864" y="14864"/>
                  </a:cubicBezTo>
                  <a:cubicBezTo>
                    <a:pt x="24381" y="5347"/>
                    <a:pt x="37289" y="0"/>
                    <a:pt x="50748" y="0"/>
                  </a:cubicBezTo>
                  <a:lnTo>
                    <a:pt x="1034097" y="0"/>
                  </a:lnTo>
                  <a:cubicBezTo>
                    <a:pt x="1047556" y="0"/>
                    <a:pt x="1060464" y="5347"/>
                    <a:pt x="1069981" y="14864"/>
                  </a:cubicBezTo>
                  <a:cubicBezTo>
                    <a:pt x="1079499" y="24381"/>
                    <a:pt x="1084845" y="37289"/>
                    <a:pt x="1084845" y="50748"/>
                  </a:cubicBezTo>
                  <a:close/>
                </a:path>
              </a:pathLst>
            </a:custGeom>
            <a:solidFill>
              <a:srgbClr val="E7E5D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57150"/>
              <a:ext cx="1084845" cy="631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926908" y="3407697"/>
            <a:ext cx="4043769" cy="2614447"/>
            <a:chOff x="0" y="0"/>
            <a:chExt cx="1065031" cy="68856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65031" cy="688561"/>
            </a:xfrm>
            <a:custGeom>
              <a:avLst/>
              <a:gdLst/>
              <a:ahLst/>
              <a:cxnLst/>
              <a:rect l="l" t="t" r="r" b="b"/>
              <a:pathLst>
                <a:path w="1065031" h="688561">
                  <a:moveTo>
                    <a:pt x="1065031" y="51692"/>
                  </a:moveTo>
                  <a:lnTo>
                    <a:pt x="1065031" y="636868"/>
                  </a:lnTo>
                  <a:cubicBezTo>
                    <a:pt x="1065031" y="650578"/>
                    <a:pt x="1059585" y="663726"/>
                    <a:pt x="1049891" y="673420"/>
                  </a:cubicBezTo>
                  <a:cubicBezTo>
                    <a:pt x="1040196" y="683115"/>
                    <a:pt x="1027048" y="688561"/>
                    <a:pt x="1013339" y="688561"/>
                  </a:cubicBezTo>
                  <a:lnTo>
                    <a:pt x="51692" y="688561"/>
                  </a:lnTo>
                  <a:cubicBezTo>
                    <a:pt x="23143" y="688561"/>
                    <a:pt x="0" y="665417"/>
                    <a:pt x="0" y="636868"/>
                  </a:cubicBezTo>
                  <a:lnTo>
                    <a:pt x="0" y="51692"/>
                  </a:lnTo>
                  <a:cubicBezTo>
                    <a:pt x="0" y="37983"/>
                    <a:pt x="5446" y="24835"/>
                    <a:pt x="15140" y="15140"/>
                  </a:cubicBezTo>
                  <a:cubicBezTo>
                    <a:pt x="24835" y="5446"/>
                    <a:pt x="37983" y="0"/>
                    <a:pt x="51692" y="0"/>
                  </a:cubicBezTo>
                  <a:lnTo>
                    <a:pt x="1013339" y="0"/>
                  </a:lnTo>
                  <a:cubicBezTo>
                    <a:pt x="1041887" y="0"/>
                    <a:pt x="1065031" y="23143"/>
                    <a:pt x="1065031" y="51692"/>
                  </a:cubicBezTo>
                  <a:close/>
                </a:path>
              </a:pathLst>
            </a:custGeom>
            <a:solidFill>
              <a:srgbClr val="E7E5D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57150"/>
              <a:ext cx="1065031" cy="631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179646" y="6155103"/>
            <a:ext cx="13137033" cy="2262022"/>
            <a:chOff x="0" y="0"/>
            <a:chExt cx="3459977" cy="59574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459976" cy="595743"/>
            </a:xfrm>
            <a:custGeom>
              <a:avLst/>
              <a:gdLst/>
              <a:ahLst/>
              <a:cxnLst/>
              <a:rect l="l" t="t" r="r" b="b"/>
              <a:pathLst>
                <a:path w="3459976" h="595743">
                  <a:moveTo>
                    <a:pt x="3459976" y="15912"/>
                  </a:moveTo>
                  <a:lnTo>
                    <a:pt x="3459976" y="579832"/>
                  </a:lnTo>
                  <a:cubicBezTo>
                    <a:pt x="3459976" y="588619"/>
                    <a:pt x="3452852" y="595743"/>
                    <a:pt x="3444065" y="595743"/>
                  </a:cubicBezTo>
                  <a:lnTo>
                    <a:pt x="15912" y="595743"/>
                  </a:lnTo>
                  <a:cubicBezTo>
                    <a:pt x="7124" y="595743"/>
                    <a:pt x="0" y="588619"/>
                    <a:pt x="0" y="579832"/>
                  </a:cubicBezTo>
                  <a:lnTo>
                    <a:pt x="0" y="15912"/>
                  </a:lnTo>
                  <a:cubicBezTo>
                    <a:pt x="0" y="7124"/>
                    <a:pt x="7124" y="0"/>
                    <a:pt x="15912" y="0"/>
                  </a:cubicBezTo>
                  <a:lnTo>
                    <a:pt x="3444065" y="0"/>
                  </a:lnTo>
                  <a:cubicBezTo>
                    <a:pt x="3452852" y="0"/>
                    <a:pt x="3459976" y="7124"/>
                    <a:pt x="3459976" y="15912"/>
                  </a:cubicBezTo>
                  <a:close/>
                </a:path>
              </a:pathLst>
            </a:custGeom>
            <a:solidFill>
              <a:srgbClr val="E7E5D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LK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57150"/>
              <a:ext cx="3459977" cy="538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3336898" y="3969345"/>
            <a:ext cx="1390919" cy="1317719"/>
          </a:xfrm>
          <a:custGeom>
            <a:avLst/>
            <a:gdLst/>
            <a:ahLst/>
            <a:cxnLst/>
            <a:rect l="l" t="t" r="r" b="b"/>
            <a:pathLst>
              <a:path w="1390919" h="1317719">
                <a:moveTo>
                  <a:pt x="0" y="0"/>
                </a:moveTo>
                <a:lnTo>
                  <a:pt x="1390919" y="0"/>
                </a:lnTo>
                <a:lnTo>
                  <a:pt x="1390919" y="1317719"/>
                </a:lnTo>
                <a:lnTo>
                  <a:pt x="0" y="13177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5555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25" name="Freeform 25"/>
          <p:cNvSpPr/>
          <p:nvPr/>
        </p:nvSpPr>
        <p:spPr>
          <a:xfrm>
            <a:off x="7756559" y="4005135"/>
            <a:ext cx="1500614" cy="1451574"/>
          </a:xfrm>
          <a:custGeom>
            <a:avLst/>
            <a:gdLst/>
            <a:ahLst/>
            <a:cxnLst/>
            <a:rect l="l" t="t" r="r" b="b"/>
            <a:pathLst>
              <a:path w="1500614" h="1451574">
                <a:moveTo>
                  <a:pt x="0" y="0"/>
                </a:moveTo>
                <a:lnTo>
                  <a:pt x="1500614" y="0"/>
                </a:lnTo>
                <a:lnTo>
                  <a:pt x="1500614" y="1451574"/>
                </a:lnTo>
                <a:lnTo>
                  <a:pt x="0" y="14515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26" name="Freeform 26"/>
          <p:cNvSpPr/>
          <p:nvPr/>
        </p:nvSpPr>
        <p:spPr>
          <a:xfrm>
            <a:off x="11794910" y="3969345"/>
            <a:ext cx="1390919" cy="1390919"/>
          </a:xfrm>
          <a:custGeom>
            <a:avLst/>
            <a:gdLst/>
            <a:ahLst/>
            <a:cxnLst/>
            <a:rect l="l" t="t" r="r" b="b"/>
            <a:pathLst>
              <a:path w="1390919" h="1390919">
                <a:moveTo>
                  <a:pt x="0" y="0"/>
                </a:moveTo>
                <a:lnTo>
                  <a:pt x="1390919" y="0"/>
                </a:lnTo>
                <a:lnTo>
                  <a:pt x="1390919" y="1390919"/>
                </a:lnTo>
                <a:lnTo>
                  <a:pt x="0" y="1390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27" name="Freeform 27"/>
          <p:cNvSpPr/>
          <p:nvPr/>
        </p:nvSpPr>
        <p:spPr>
          <a:xfrm>
            <a:off x="15895810" y="4310834"/>
            <a:ext cx="1922618" cy="832666"/>
          </a:xfrm>
          <a:custGeom>
            <a:avLst/>
            <a:gdLst/>
            <a:ahLst/>
            <a:cxnLst/>
            <a:rect l="l" t="t" r="r" b="b"/>
            <a:pathLst>
              <a:path w="1922618" h="832666">
                <a:moveTo>
                  <a:pt x="0" y="0"/>
                </a:moveTo>
                <a:lnTo>
                  <a:pt x="1922618" y="0"/>
                </a:lnTo>
                <a:lnTo>
                  <a:pt x="1922618" y="832666"/>
                </a:lnTo>
                <a:lnTo>
                  <a:pt x="0" y="8326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8740" b="-15799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28" name="TextBox 28"/>
          <p:cNvSpPr txBox="1"/>
          <p:nvPr/>
        </p:nvSpPr>
        <p:spPr>
          <a:xfrm>
            <a:off x="1080530" y="1710786"/>
            <a:ext cx="1652627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0"/>
              </a:lnSpc>
            </a:pPr>
            <a:r>
              <a:rPr lang="en-US" sz="5000" b="1" spc="-3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WE DON'T REPLACE THE ECOSYSTEM. WE CONNECT IT.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43285" y="898208"/>
            <a:ext cx="4509259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9"/>
              </a:lnSpc>
            </a:pPr>
            <a:r>
              <a:rPr lang="en-US" sz="2599" b="1" spc="-15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COMPETITIVE LANDSCAPE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926908" y="933450"/>
            <a:ext cx="3332392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00"/>
              </a:lnSpc>
            </a:pPr>
            <a:r>
              <a:rPr lang="en-US" sz="2000" spc="-120">
                <a:solidFill>
                  <a:srgbClr val="FFFFFF">
                    <a:alpha val="81961"/>
                  </a:srgbClr>
                </a:solidFill>
                <a:latin typeface="Garet"/>
                <a:ea typeface="Garet"/>
                <a:cs typeface="Garet"/>
                <a:sym typeface="Garet"/>
              </a:rPr>
              <a:t>BEACON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6030" y="9119470"/>
            <a:ext cx="8220836" cy="433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spc="-96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The biggest alternative may be not participating at all.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1278" y="3531129"/>
            <a:ext cx="2873078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PCYC Queensland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Supervised youth programs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-80" dirty="0">
                <a:solidFill>
                  <a:srgbClr val="9EB282"/>
                </a:solidFill>
                <a:latin typeface="Garet Bold"/>
                <a:ea typeface="Garet Bold"/>
                <a:cs typeface="Garet Bold"/>
                <a:sym typeface="Garet Bold"/>
              </a:rPr>
              <a:t>Potential partner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169592" y="3587601"/>
            <a:ext cx="2873078" cy="2141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Brisbane City Council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Youth spaces and events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-80" dirty="0">
                <a:solidFill>
                  <a:srgbClr val="9EB282"/>
                </a:solidFill>
                <a:latin typeface="Garet Bold"/>
                <a:ea typeface="Garet Bold"/>
                <a:cs typeface="Garet Bold"/>
                <a:sym typeface="Garet Bold"/>
              </a:rPr>
              <a:t>Potential partner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330475" y="3531129"/>
            <a:ext cx="2873078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Clipboard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Extracurricular administration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-80" dirty="0">
                <a:solidFill>
                  <a:srgbClr val="9EB282"/>
                </a:solidFill>
                <a:latin typeface="Garet Bold"/>
                <a:ea typeface="Garet Bold"/>
                <a:cs typeface="Garet Bold"/>
                <a:sym typeface="Garet Bold"/>
              </a:rPr>
              <a:t>Complement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448417" y="3511259"/>
            <a:ext cx="2873078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Sentral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Activities and attendance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-80" dirty="0">
                <a:solidFill>
                  <a:srgbClr val="9EB282"/>
                </a:solidFill>
                <a:latin typeface="Garet Bold"/>
                <a:ea typeface="Garet Bold"/>
                <a:cs typeface="Garet Bold"/>
                <a:sym typeface="Garet Bold"/>
              </a:rPr>
              <a:t>Complement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70774" y="2801442"/>
            <a:ext cx="6966317" cy="377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800" spc="-8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YOUTH &amp; COMMUNITY ACTIVITIES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459808" y="2800857"/>
            <a:ext cx="6466519" cy="377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800" spc="-8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SCHOOL ACTIVITY MANAGEMENT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76700" y="6279802"/>
            <a:ext cx="5629592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spc="-88">
                <a:solidFill>
                  <a:srgbClr val="9EB282"/>
                </a:solidFill>
                <a:latin typeface="Garet Bold"/>
                <a:ea typeface="Garet Bold"/>
                <a:cs typeface="Garet Bold"/>
                <a:sym typeface="Garet Bold"/>
              </a:rPr>
              <a:t>BEACON'S PROPOSED POSITION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14132" y="6643260"/>
            <a:ext cx="5967565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connection layer.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251190" y="7101631"/>
            <a:ext cx="6530973" cy="111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3" lvl="1" indent="-226697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84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Discover activities across providers</a:t>
            </a:r>
          </a:p>
          <a:p>
            <a:pPr marL="453393" lvl="1" indent="-226697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endParaRPr lang="en-US" sz="2400" spc="-84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53393" lvl="1" indent="-226697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84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Verify completed attendance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801713" y="7090405"/>
            <a:ext cx="5377311" cy="1079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804" lvl="1" indent="-215902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Reward repeat participation</a:t>
            </a:r>
          </a:p>
          <a:p>
            <a:pPr marL="215902" lvl="1" algn="l">
              <a:lnSpc>
                <a:spcPts val="2800"/>
              </a:lnSpc>
              <a:spcBef>
                <a:spcPct val="0"/>
              </a:spcBef>
            </a:pPr>
            <a:endParaRPr lang="en-US" sz="24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31804" lvl="1" indent="-215902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Report aggregate engagement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975158" y="9775864"/>
            <a:ext cx="990350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600" spc="-8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PCYC Queensland (n.d.); Brisbane City Council (n.d.); Clipboard (n.d.); Sentral (n.d.).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21028" flipH="1" flipV="1">
            <a:off x="-1802152" y="-2184453"/>
            <a:ext cx="7539939" cy="4866688"/>
          </a:xfrm>
          <a:custGeom>
            <a:avLst/>
            <a:gdLst/>
            <a:ahLst/>
            <a:cxnLst/>
            <a:rect l="l" t="t" r="r" b="b"/>
            <a:pathLst>
              <a:path w="7539939" h="4866688">
                <a:moveTo>
                  <a:pt x="7539939" y="4866688"/>
                </a:moveTo>
                <a:lnTo>
                  <a:pt x="0" y="4866688"/>
                </a:lnTo>
                <a:lnTo>
                  <a:pt x="0" y="0"/>
                </a:lnTo>
                <a:lnTo>
                  <a:pt x="7539939" y="0"/>
                </a:lnTo>
                <a:lnTo>
                  <a:pt x="7539939" y="4866688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1479196">
            <a:off x="10739387" y="5864555"/>
            <a:ext cx="9707434" cy="6265707"/>
          </a:xfrm>
          <a:custGeom>
            <a:avLst/>
            <a:gdLst/>
            <a:ahLst/>
            <a:cxnLst/>
            <a:rect l="l" t="t" r="r" b="b"/>
            <a:pathLst>
              <a:path w="9707434" h="6265707">
                <a:moveTo>
                  <a:pt x="0" y="0"/>
                </a:moveTo>
                <a:lnTo>
                  <a:pt x="9707434" y="0"/>
                </a:lnTo>
                <a:lnTo>
                  <a:pt x="9707434" y="6265708"/>
                </a:lnTo>
                <a:lnTo>
                  <a:pt x="0" y="6265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4" name="AutoShape 4"/>
          <p:cNvSpPr/>
          <p:nvPr/>
        </p:nvSpPr>
        <p:spPr>
          <a:xfrm>
            <a:off x="1028700" y="1386936"/>
            <a:ext cx="16230600" cy="0"/>
          </a:xfrm>
          <a:prstGeom prst="line">
            <a:avLst/>
          </a:prstGeom>
          <a:ln w="19050" cap="flat">
            <a:solidFill>
              <a:srgbClr val="22222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5" name="Freeform 5"/>
          <p:cNvSpPr/>
          <p:nvPr/>
        </p:nvSpPr>
        <p:spPr>
          <a:xfrm>
            <a:off x="1028700" y="857929"/>
            <a:ext cx="355773" cy="341542"/>
          </a:xfrm>
          <a:custGeom>
            <a:avLst/>
            <a:gdLst/>
            <a:ahLst/>
            <a:cxnLst/>
            <a:rect l="l" t="t" r="r" b="b"/>
            <a:pathLst>
              <a:path w="355773" h="341542">
                <a:moveTo>
                  <a:pt x="0" y="0"/>
                </a:moveTo>
                <a:lnTo>
                  <a:pt x="355773" y="0"/>
                </a:lnTo>
                <a:lnTo>
                  <a:pt x="355773" y="341542"/>
                </a:lnTo>
                <a:lnTo>
                  <a:pt x="0" y="341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6" name="Group 6"/>
          <p:cNvGrpSpPr/>
          <p:nvPr/>
        </p:nvGrpSpPr>
        <p:grpSpPr>
          <a:xfrm>
            <a:off x="12297911" y="3077623"/>
            <a:ext cx="5810898" cy="5136342"/>
            <a:chOff x="0" y="0"/>
            <a:chExt cx="7747864" cy="684845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7747864" cy="6848456"/>
              <a:chOff x="0" y="0"/>
              <a:chExt cx="1677688" cy="148293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677688" cy="1482934"/>
              </a:xfrm>
              <a:custGeom>
                <a:avLst/>
                <a:gdLst/>
                <a:ahLst/>
                <a:cxnLst/>
                <a:rect l="l" t="t" r="r" b="b"/>
                <a:pathLst>
                  <a:path w="1677688" h="1482934">
                    <a:moveTo>
                      <a:pt x="26738" y="0"/>
                    </a:moveTo>
                    <a:lnTo>
                      <a:pt x="1650949" y="0"/>
                    </a:lnTo>
                    <a:cubicBezTo>
                      <a:pt x="1665717" y="0"/>
                      <a:pt x="1677688" y="11971"/>
                      <a:pt x="1677688" y="26738"/>
                    </a:cubicBezTo>
                    <a:lnTo>
                      <a:pt x="1677688" y="1456196"/>
                    </a:lnTo>
                    <a:cubicBezTo>
                      <a:pt x="1677688" y="1470963"/>
                      <a:pt x="1665717" y="1482934"/>
                      <a:pt x="1650949" y="1482934"/>
                    </a:cubicBezTo>
                    <a:lnTo>
                      <a:pt x="26738" y="1482934"/>
                    </a:lnTo>
                    <a:cubicBezTo>
                      <a:pt x="11971" y="1482934"/>
                      <a:pt x="0" y="1470963"/>
                      <a:pt x="0" y="1456196"/>
                    </a:cubicBezTo>
                    <a:lnTo>
                      <a:pt x="0" y="26738"/>
                    </a:lnTo>
                    <a:cubicBezTo>
                      <a:pt x="0" y="11971"/>
                      <a:pt x="11971" y="0"/>
                      <a:pt x="26738" y="0"/>
                    </a:cubicBezTo>
                    <a:close/>
                  </a:path>
                </a:pathLst>
              </a:custGeom>
              <a:solidFill>
                <a:srgbClr val="9EB282"/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57150"/>
                <a:ext cx="1677688" cy="14257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00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406051" y="693047"/>
              <a:ext cx="7098541" cy="57854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37"/>
                </a:lnSpc>
                <a:spcBef>
                  <a:spcPct val="0"/>
                </a:spcBef>
              </a:pPr>
              <a:r>
                <a:rPr lang="en-US" sz="2098" b="1" spc="-83">
                  <a:solidFill>
                    <a:srgbClr val="22222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Beacon value map</a:t>
              </a:r>
            </a:p>
            <a:p>
              <a:pPr algn="l">
                <a:lnSpc>
                  <a:spcPts val="2554"/>
                </a:lnSpc>
                <a:spcBef>
                  <a:spcPct val="0"/>
                </a:spcBef>
              </a:pPr>
              <a:endParaRPr lang="en-US" sz="2098" b="1" spc="-83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  <a:p>
              <a:pPr algn="l">
                <a:lnSpc>
                  <a:spcPts val="2937"/>
                </a:lnSpc>
                <a:spcBef>
                  <a:spcPct val="0"/>
                </a:spcBef>
              </a:pPr>
              <a:r>
                <a:rPr lang="en-US" sz="2098" b="1" spc="-83">
                  <a:solidFill>
                    <a:srgbClr val="22222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PRODUCTS &amp; SERVICES</a:t>
              </a:r>
            </a:p>
            <a:p>
              <a:pPr algn="l">
                <a:lnSpc>
                  <a:spcPts val="2554"/>
                </a:lnSpc>
                <a:spcBef>
                  <a:spcPct val="0"/>
                </a:spcBef>
              </a:pPr>
              <a:r>
                <a:rPr lang="en-US" sz="1824" spc="-72">
                  <a:solidFill>
                    <a:srgbClr val="222223"/>
                  </a:solidFill>
                  <a:latin typeface="Garet"/>
                  <a:ea typeface="Garet"/>
                  <a:cs typeface="Garet"/>
                  <a:sym typeface="Garet"/>
                </a:rPr>
                <a:t>Verified activity feed, Beacon Pass, Torch Points and Youth Champions.</a:t>
              </a:r>
            </a:p>
            <a:p>
              <a:pPr algn="l">
                <a:lnSpc>
                  <a:spcPts val="2554"/>
                </a:lnSpc>
                <a:spcBef>
                  <a:spcPct val="0"/>
                </a:spcBef>
              </a:pPr>
              <a:endParaRPr lang="en-US" sz="1824" spc="-72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endParaRPr>
            </a:p>
            <a:p>
              <a:pPr algn="l">
                <a:lnSpc>
                  <a:spcPts val="2937"/>
                </a:lnSpc>
                <a:spcBef>
                  <a:spcPct val="0"/>
                </a:spcBef>
              </a:pPr>
              <a:r>
                <a:rPr lang="en-US" sz="2098" b="1" spc="-83">
                  <a:solidFill>
                    <a:srgbClr val="22222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PAIN RELIEVERS</a:t>
              </a:r>
            </a:p>
            <a:p>
              <a:pPr algn="l">
                <a:lnSpc>
                  <a:spcPts val="2554"/>
                </a:lnSpc>
                <a:spcBef>
                  <a:spcPct val="0"/>
                </a:spcBef>
              </a:pPr>
              <a:r>
                <a:rPr lang="en-US" sz="1824" spc="-72">
                  <a:solidFill>
                    <a:srgbClr val="222223"/>
                  </a:solidFill>
                  <a:latin typeface="Garet"/>
                  <a:ea typeface="Garet"/>
                  <a:cs typeface="Garet"/>
                  <a:sym typeface="Garet"/>
                </a:rPr>
                <a:t>Clear activity details, approved hosts, friend invitations and proposed first-visit offers.</a:t>
              </a:r>
            </a:p>
            <a:p>
              <a:pPr algn="l">
                <a:lnSpc>
                  <a:spcPts val="2554"/>
                </a:lnSpc>
                <a:spcBef>
                  <a:spcPct val="0"/>
                </a:spcBef>
              </a:pPr>
              <a:endParaRPr lang="en-US" sz="1824" spc="-72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endParaRPr>
            </a:p>
            <a:p>
              <a:pPr algn="l">
                <a:lnSpc>
                  <a:spcPts val="2937"/>
                </a:lnSpc>
                <a:spcBef>
                  <a:spcPct val="0"/>
                </a:spcBef>
              </a:pPr>
              <a:r>
                <a:rPr lang="en-US" sz="2098" b="1" spc="-83">
                  <a:solidFill>
                    <a:srgbClr val="22222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GAIN CREATORS</a:t>
              </a:r>
            </a:p>
            <a:p>
              <a:pPr algn="l">
                <a:lnSpc>
                  <a:spcPts val="2554"/>
                </a:lnSpc>
                <a:spcBef>
                  <a:spcPct val="0"/>
                </a:spcBef>
              </a:pPr>
              <a:r>
                <a:rPr lang="en-US" sz="1824" spc="-72">
                  <a:solidFill>
                    <a:srgbClr val="222223"/>
                  </a:solidFill>
                  <a:latin typeface="Garet"/>
                  <a:ea typeface="Garet"/>
                  <a:cs typeface="Garet"/>
                  <a:sym typeface="Garet"/>
                </a:rPr>
                <a:t>Attendance streaks, partner rewards, leadership and belonging.</a:t>
              </a: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385361" y="1519663"/>
              <a:ext cx="6977141" cy="11585"/>
            </a:xfrm>
            <a:prstGeom prst="line">
              <a:avLst/>
            </a:prstGeom>
            <a:ln w="23171" cap="flat">
              <a:solidFill>
                <a:srgbClr val="22222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8874825"/>
            <a:ext cx="9528381" cy="1260304"/>
            <a:chOff x="0" y="0"/>
            <a:chExt cx="2509532" cy="3319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09532" cy="331932"/>
            </a:xfrm>
            <a:custGeom>
              <a:avLst/>
              <a:gdLst/>
              <a:ahLst/>
              <a:cxnLst/>
              <a:rect l="l" t="t" r="r" b="b"/>
              <a:pathLst>
                <a:path w="2509532" h="331932">
                  <a:moveTo>
                    <a:pt x="17875" y="0"/>
                  </a:moveTo>
                  <a:lnTo>
                    <a:pt x="2491657" y="0"/>
                  </a:lnTo>
                  <a:cubicBezTo>
                    <a:pt x="2496398" y="0"/>
                    <a:pt x="2500945" y="1883"/>
                    <a:pt x="2504297" y="5236"/>
                  </a:cubicBezTo>
                  <a:cubicBezTo>
                    <a:pt x="2507649" y="8588"/>
                    <a:pt x="2509532" y="13134"/>
                    <a:pt x="2509532" y="17875"/>
                  </a:cubicBezTo>
                  <a:lnTo>
                    <a:pt x="2509532" y="314057"/>
                  </a:lnTo>
                  <a:cubicBezTo>
                    <a:pt x="2509532" y="323929"/>
                    <a:pt x="2501529" y="331932"/>
                    <a:pt x="2491657" y="331932"/>
                  </a:cubicBezTo>
                  <a:lnTo>
                    <a:pt x="17875" y="331932"/>
                  </a:lnTo>
                  <a:cubicBezTo>
                    <a:pt x="8003" y="331932"/>
                    <a:pt x="0" y="323929"/>
                    <a:pt x="0" y="314057"/>
                  </a:cubicBezTo>
                  <a:lnTo>
                    <a:pt x="0" y="17875"/>
                  </a:lnTo>
                  <a:cubicBezTo>
                    <a:pt x="0" y="8003"/>
                    <a:pt x="8003" y="0"/>
                    <a:pt x="17875" y="0"/>
                  </a:cubicBezTo>
                  <a:close/>
                </a:path>
              </a:pathLst>
            </a:custGeom>
            <a:solidFill>
              <a:srgbClr val="322D29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57150"/>
              <a:ext cx="2509532" cy="274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26453" y="3091911"/>
            <a:ext cx="5794734" cy="5122054"/>
            <a:chOff x="0" y="0"/>
            <a:chExt cx="7726312" cy="6829406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7726312" cy="6829406"/>
              <a:chOff x="0" y="0"/>
              <a:chExt cx="1677688" cy="148293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677688" cy="1482934"/>
              </a:xfrm>
              <a:custGeom>
                <a:avLst/>
                <a:gdLst/>
                <a:ahLst/>
                <a:cxnLst/>
                <a:rect l="l" t="t" r="r" b="b"/>
                <a:pathLst>
                  <a:path w="1677688" h="1482934">
                    <a:moveTo>
                      <a:pt x="26738" y="0"/>
                    </a:moveTo>
                    <a:lnTo>
                      <a:pt x="1650949" y="0"/>
                    </a:lnTo>
                    <a:cubicBezTo>
                      <a:pt x="1665717" y="0"/>
                      <a:pt x="1677688" y="11971"/>
                      <a:pt x="1677688" y="26738"/>
                    </a:cubicBezTo>
                    <a:lnTo>
                      <a:pt x="1677688" y="1456196"/>
                    </a:lnTo>
                    <a:cubicBezTo>
                      <a:pt x="1677688" y="1470963"/>
                      <a:pt x="1665717" y="1482934"/>
                      <a:pt x="1650949" y="1482934"/>
                    </a:cubicBezTo>
                    <a:lnTo>
                      <a:pt x="26738" y="1482934"/>
                    </a:lnTo>
                    <a:cubicBezTo>
                      <a:pt x="11971" y="1482934"/>
                      <a:pt x="0" y="1470963"/>
                      <a:pt x="0" y="1456196"/>
                    </a:cubicBezTo>
                    <a:lnTo>
                      <a:pt x="0" y="26738"/>
                    </a:lnTo>
                    <a:cubicBezTo>
                      <a:pt x="0" y="11971"/>
                      <a:pt x="11971" y="0"/>
                      <a:pt x="26738" y="0"/>
                    </a:cubicBezTo>
                    <a:close/>
                  </a:path>
                </a:pathLst>
              </a:custGeom>
              <a:solidFill>
                <a:srgbClr val="9EB282"/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57150"/>
                <a:ext cx="1677688" cy="142578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800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215763" y="619358"/>
              <a:ext cx="7510549" cy="53998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29"/>
                </a:lnSpc>
                <a:spcBef>
                  <a:spcPct val="0"/>
                </a:spcBef>
              </a:pPr>
              <a:r>
                <a:rPr lang="en-US" sz="2092" b="1" spc="-83">
                  <a:solidFill>
                    <a:srgbClr val="22222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Customer profile</a:t>
              </a:r>
            </a:p>
            <a:p>
              <a:pPr algn="l">
                <a:lnSpc>
                  <a:spcPts val="2929"/>
                </a:lnSpc>
                <a:spcBef>
                  <a:spcPct val="0"/>
                </a:spcBef>
              </a:pPr>
              <a:endParaRPr lang="en-US" sz="2092" b="1" spc="-83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  <a:p>
              <a:pPr algn="l">
                <a:lnSpc>
                  <a:spcPts val="2929"/>
                </a:lnSpc>
                <a:spcBef>
                  <a:spcPct val="0"/>
                </a:spcBef>
              </a:pPr>
              <a:r>
                <a:rPr lang="en-US" sz="2092" b="1" spc="-83">
                  <a:solidFill>
                    <a:srgbClr val="22222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JOBS</a:t>
              </a:r>
            </a:p>
            <a:p>
              <a:pPr algn="l">
                <a:lnSpc>
                  <a:spcPts val="2547"/>
                </a:lnSpc>
                <a:spcBef>
                  <a:spcPct val="0"/>
                </a:spcBef>
              </a:pPr>
              <a:r>
                <a:rPr lang="en-US" sz="1819" spc="-72">
                  <a:solidFill>
                    <a:srgbClr val="222223"/>
                  </a:solidFill>
                  <a:latin typeface="Garet"/>
                  <a:ea typeface="Garet"/>
                  <a:cs typeface="Garet"/>
                  <a:sym typeface="Garet"/>
                </a:rPr>
                <a:t>Have fun after school, spend time with friends and explore interests.</a:t>
              </a:r>
            </a:p>
            <a:p>
              <a:pPr algn="l">
                <a:lnSpc>
                  <a:spcPts val="2547"/>
                </a:lnSpc>
                <a:spcBef>
                  <a:spcPct val="0"/>
                </a:spcBef>
              </a:pPr>
              <a:endParaRPr lang="en-US" sz="1819" spc="-72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endParaRPr>
            </a:p>
            <a:p>
              <a:pPr algn="l">
                <a:lnSpc>
                  <a:spcPts val="2929"/>
                </a:lnSpc>
                <a:spcBef>
                  <a:spcPct val="0"/>
                </a:spcBef>
              </a:pPr>
              <a:r>
                <a:rPr lang="en-US" sz="2092" b="1" spc="-83">
                  <a:solidFill>
                    <a:srgbClr val="22222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PAINS</a:t>
              </a:r>
            </a:p>
            <a:p>
              <a:pPr algn="l">
                <a:lnSpc>
                  <a:spcPts val="2547"/>
                </a:lnSpc>
                <a:spcBef>
                  <a:spcPct val="0"/>
                </a:spcBef>
              </a:pPr>
              <a:r>
                <a:rPr lang="en-US" sz="1819" spc="-72">
                  <a:solidFill>
                    <a:srgbClr val="222223"/>
                  </a:solidFill>
                  <a:latin typeface="Garet"/>
                  <a:ea typeface="Garet"/>
                  <a:cs typeface="Garet"/>
                  <a:sym typeface="Garet"/>
                </a:rPr>
                <a:t>Cost, travel, attending alone and uncertainty about safety or welcome.</a:t>
              </a:r>
            </a:p>
            <a:p>
              <a:pPr algn="l">
                <a:lnSpc>
                  <a:spcPts val="2547"/>
                </a:lnSpc>
                <a:spcBef>
                  <a:spcPct val="0"/>
                </a:spcBef>
              </a:pPr>
              <a:endParaRPr lang="en-US" sz="1819" spc="-72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endParaRPr>
            </a:p>
            <a:p>
              <a:pPr algn="l">
                <a:lnSpc>
                  <a:spcPts val="2929"/>
                </a:lnSpc>
                <a:spcBef>
                  <a:spcPct val="0"/>
                </a:spcBef>
              </a:pPr>
              <a:r>
                <a:rPr lang="en-US" sz="2092" b="1" spc="-83">
                  <a:solidFill>
                    <a:srgbClr val="222223"/>
                  </a:solidFill>
                  <a:latin typeface="Garet Bold"/>
                  <a:ea typeface="Garet Bold"/>
                  <a:cs typeface="Garet Bold"/>
                  <a:sym typeface="Garet Bold"/>
                </a:rPr>
                <a:t>GAINS</a:t>
              </a:r>
            </a:p>
            <a:p>
              <a:pPr algn="l">
                <a:lnSpc>
                  <a:spcPts val="2547"/>
                </a:lnSpc>
                <a:spcBef>
                  <a:spcPct val="0"/>
                </a:spcBef>
              </a:pPr>
              <a:r>
                <a:rPr lang="en-US" sz="1819" spc="-72">
                  <a:solidFill>
                    <a:srgbClr val="222223"/>
                  </a:solidFill>
                  <a:latin typeface="Garet"/>
                  <a:ea typeface="Garet"/>
                  <a:cs typeface="Garet"/>
                  <a:sym typeface="Garet"/>
                </a:rPr>
                <a:t>Friendships, skills, confidence and recognition.</a:t>
              </a:r>
            </a:p>
          </p:txBody>
        </p:sp>
        <p:sp>
          <p:nvSpPr>
            <p:cNvPr id="20" name="AutoShape 20"/>
            <p:cNvSpPr/>
            <p:nvPr/>
          </p:nvSpPr>
          <p:spPr>
            <a:xfrm>
              <a:off x="215763" y="1466912"/>
              <a:ext cx="6957733" cy="11553"/>
            </a:xfrm>
            <a:prstGeom prst="line">
              <a:avLst/>
            </a:prstGeom>
            <a:ln w="23106" cap="flat">
              <a:solidFill>
                <a:srgbClr val="22222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LK"/>
            </a:p>
          </p:txBody>
        </p:sp>
      </p:grpSp>
      <p:sp>
        <p:nvSpPr>
          <p:cNvPr id="21" name="Freeform 21"/>
          <p:cNvSpPr/>
          <p:nvPr/>
        </p:nvSpPr>
        <p:spPr>
          <a:xfrm>
            <a:off x="6329887" y="3612077"/>
            <a:ext cx="5709180" cy="3796605"/>
          </a:xfrm>
          <a:custGeom>
            <a:avLst/>
            <a:gdLst/>
            <a:ahLst/>
            <a:cxnLst/>
            <a:rect l="l" t="t" r="r" b="b"/>
            <a:pathLst>
              <a:path w="5709180" h="3796605">
                <a:moveTo>
                  <a:pt x="0" y="0"/>
                </a:moveTo>
                <a:lnTo>
                  <a:pt x="5709180" y="0"/>
                </a:lnTo>
                <a:lnTo>
                  <a:pt x="5709180" y="3796605"/>
                </a:lnTo>
                <a:lnTo>
                  <a:pt x="0" y="37966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22" name="TextBox 22"/>
          <p:cNvSpPr txBox="1"/>
          <p:nvPr/>
        </p:nvSpPr>
        <p:spPr>
          <a:xfrm>
            <a:off x="1028700" y="1710786"/>
            <a:ext cx="16230600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0"/>
              </a:lnSpc>
            </a:pPr>
            <a:r>
              <a:rPr lang="en-US" sz="5000" b="1" spc="-30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MAKE THE FIRST VISIT EASIER. MAKE THE NEXT ONE WORTH IT.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43285" y="898208"/>
            <a:ext cx="5178414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9"/>
              </a:lnSpc>
            </a:pPr>
            <a:r>
              <a:rPr lang="en-US" sz="2599" b="1" spc="-155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VALUE PROPOSITION CANVAS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926908" y="933450"/>
            <a:ext cx="3332392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00"/>
              </a:lnSpc>
            </a:pPr>
            <a:r>
              <a:rPr lang="en-US" sz="2000" spc="-12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STUDENTS AGED 12 - 16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70839" y="9091816"/>
            <a:ext cx="8044101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spc="-104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From “Will I fit in?” to “I have a reason to come back.”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99221" y="9533978"/>
            <a:ext cx="7217507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6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Australian Sports Commission (n.d.); Queensland Family and Child Commission (n.d.); </a:t>
            </a:r>
            <a:r>
              <a:rPr lang="en-US" sz="1600" spc="-8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Strategyzer</a:t>
            </a:r>
            <a:r>
              <a:rPr lang="en-US" sz="16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(n.d.); Team 5 (2026b).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21028" flipH="1" flipV="1">
            <a:off x="-1802152" y="-2184453"/>
            <a:ext cx="7539939" cy="4866688"/>
          </a:xfrm>
          <a:custGeom>
            <a:avLst/>
            <a:gdLst/>
            <a:ahLst/>
            <a:cxnLst/>
            <a:rect l="l" t="t" r="r" b="b"/>
            <a:pathLst>
              <a:path w="7539939" h="4866688">
                <a:moveTo>
                  <a:pt x="7539939" y="4866688"/>
                </a:moveTo>
                <a:lnTo>
                  <a:pt x="0" y="4866688"/>
                </a:lnTo>
                <a:lnTo>
                  <a:pt x="0" y="0"/>
                </a:lnTo>
                <a:lnTo>
                  <a:pt x="7539939" y="0"/>
                </a:lnTo>
                <a:lnTo>
                  <a:pt x="7539939" y="4866688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1479196">
            <a:off x="10739387" y="5864555"/>
            <a:ext cx="9707434" cy="6265707"/>
          </a:xfrm>
          <a:custGeom>
            <a:avLst/>
            <a:gdLst/>
            <a:ahLst/>
            <a:cxnLst/>
            <a:rect l="l" t="t" r="r" b="b"/>
            <a:pathLst>
              <a:path w="9707434" h="6265707">
                <a:moveTo>
                  <a:pt x="0" y="0"/>
                </a:moveTo>
                <a:lnTo>
                  <a:pt x="9707434" y="0"/>
                </a:lnTo>
                <a:lnTo>
                  <a:pt x="9707434" y="6265708"/>
                </a:lnTo>
                <a:lnTo>
                  <a:pt x="0" y="6265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4" name="AutoShape 4"/>
          <p:cNvSpPr/>
          <p:nvPr/>
        </p:nvSpPr>
        <p:spPr>
          <a:xfrm>
            <a:off x="1028700" y="1386936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5" name="Freeform 5"/>
          <p:cNvSpPr/>
          <p:nvPr/>
        </p:nvSpPr>
        <p:spPr>
          <a:xfrm>
            <a:off x="1028700" y="857929"/>
            <a:ext cx="355773" cy="341542"/>
          </a:xfrm>
          <a:custGeom>
            <a:avLst/>
            <a:gdLst/>
            <a:ahLst/>
            <a:cxnLst/>
            <a:rect l="l" t="t" r="r" b="b"/>
            <a:pathLst>
              <a:path w="355773" h="341542">
                <a:moveTo>
                  <a:pt x="0" y="0"/>
                </a:moveTo>
                <a:lnTo>
                  <a:pt x="355773" y="0"/>
                </a:lnTo>
                <a:lnTo>
                  <a:pt x="355773" y="341542"/>
                </a:lnTo>
                <a:lnTo>
                  <a:pt x="0" y="341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6" name="Group 6"/>
          <p:cNvGrpSpPr/>
          <p:nvPr/>
        </p:nvGrpSpPr>
        <p:grpSpPr>
          <a:xfrm>
            <a:off x="1028700" y="4178677"/>
            <a:ext cx="4185368" cy="1667029"/>
            <a:chOff x="0" y="0"/>
            <a:chExt cx="911982" cy="4390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1982" cy="439053"/>
            </a:xfrm>
            <a:custGeom>
              <a:avLst/>
              <a:gdLst/>
              <a:ahLst/>
              <a:cxnLst/>
              <a:rect l="l" t="t" r="r" b="b"/>
              <a:pathLst>
                <a:path w="911982" h="439053">
                  <a:moveTo>
                    <a:pt x="55895" y="0"/>
                  </a:moveTo>
                  <a:lnTo>
                    <a:pt x="856087" y="0"/>
                  </a:lnTo>
                  <a:cubicBezTo>
                    <a:pt x="870911" y="0"/>
                    <a:pt x="885128" y="5889"/>
                    <a:pt x="895611" y="16371"/>
                  </a:cubicBezTo>
                  <a:cubicBezTo>
                    <a:pt x="906093" y="26854"/>
                    <a:pt x="911982" y="41071"/>
                    <a:pt x="911982" y="55895"/>
                  </a:cubicBezTo>
                  <a:lnTo>
                    <a:pt x="911982" y="383157"/>
                  </a:lnTo>
                  <a:cubicBezTo>
                    <a:pt x="911982" y="397982"/>
                    <a:pt x="906093" y="412199"/>
                    <a:pt x="895611" y="422681"/>
                  </a:cubicBezTo>
                  <a:cubicBezTo>
                    <a:pt x="885128" y="433164"/>
                    <a:pt x="870911" y="439053"/>
                    <a:pt x="856087" y="439053"/>
                  </a:cubicBezTo>
                  <a:lnTo>
                    <a:pt x="55895" y="439053"/>
                  </a:lnTo>
                  <a:cubicBezTo>
                    <a:pt x="41071" y="439053"/>
                    <a:pt x="26854" y="433164"/>
                    <a:pt x="16371" y="422681"/>
                  </a:cubicBezTo>
                  <a:cubicBezTo>
                    <a:pt x="5889" y="412199"/>
                    <a:pt x="0" y="397982"/>
                    <a:pt x="0" y="383157"/>
                  </a:cubicBezTo>
                  <a:lnTo>
                    <a:pt x="0" y="55895"/>
                  </a:lnTo>
                  <a:cubicBezTo>
                    <a:pt x="0" y="41071"/>
                    <a:pt x="5889" y="26854"/>
                    <a:pt x="16371" y="16371"/>
                  </a:cubicBezTo>
                  <a:cubicBezTo>
                    <a:pt x="26854" y="5889"/>
                    <a:pt x="41071" y="0"/>
                    <a:pt x="55895" y="0"/>
                  </a:cubicBezTo>
                  <a:close/>
                </a:path>
              </a:pathLst>
            </a:custGeom>
            <a:solidFill>
              <a:srgbClr val="A2B687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11982" cy="477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5966" y="6042065"/>
            <a:ext cx="4321549" cy="1947426"/>
            <a:chOff x="0" y="0"/>
            <a:chExt cx="911982" cy="4748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11982" cy="474802"/>
            </a:xfrm>
            <a:custGeom>
              <a:avLst/>
              <a:gdLst/>
              <a:ahLst/>
              <a:cxnLst/>
              <a:rect l="l" t="t" r="r" b="b"/>
              <a:pathLst>
                <a:path w="911982" h="474802">
                  <a:moveTo>
                    <a:pt x="55895" y="0"/>
                  </a:moveTo>
                  <a:lnTo>
                    <a:pt x="856087" y="0"/>
                  </a:lnTo>
                  <a:cubicBezTo>
                    <a:pt x="870911" y="0"/>
                    <a:pt x="885128" y="5889"/>
                    <a:pt x="895611" y="16371"/>
                  </a:cubicBezTo>
                  <a:cubicBezTo>
                    <a:pt x="906093" y="26854"/>
                    <a:pt x="911982" y="41071"/>
                    <a:pt x="911982" y="55895"/>
                  </a:cubicBezTo>
                  <a:lnTo>
                    <a:pt x="911982" y="418907"/>
                  </a:lnTo>
                  <a:cubicBezTo>
                    <a:pt x="911982" y="433731"/>
                    <a:pt x="906093" y="447948"/>
                    <a:pt x="895611" y="458431"/>
                  </a:cubicBezTo>
                  <a:cubicBezTo>
                    <a:pt x="885128" y="468913"/>
                    <a:pt x="870911" y="474802"/>
                    <a:pt x="856087" y="474802"/>
                  </a:cubicBezTo>
                  <a:lnTo>
                    <a:pt x="55895" y="474802"/>
                  </a:lnTo>
                  <a:cubicBezTo>
                    <a:pt x="41071" y="474802"/>
                    <a:pt x="26854" y="468913"/>
                    <a:pt x="16371" y="458431"/>
                  </a:cubicBezTo>
                  <a:cubicBezTo>
                    <a:pt x="5889" y="447948"/>
                    <a:pt x="0" y="433731"/>
                    <a:pt x="0" y="418907"/>
                  </a:cubicBezTo>
                  <a:lnTo>
                    <a:pt x="0" y="55895"/>
                  </a:lnTo>
                  <a:cubicBezTo>
                    <a:pt x="0" y="41071"/>
                    <a:pt x="5889" y="26854"/>
                    <a:pt x="16371" y="16371"/>
                  </a:cubicBezTo>
                  <a:cubicBezTo>
                    <a:pt x="26854" y="5889"/>
                    <a:pt x="41071" y="0"/>
                    <a:pt x="55895" y="0"/>
                  </a:cubicBezTo>
                  <a:close/>
                </a:path>
              </a:pathLst>
            </a:custGeom>
            <a:solidFill>
              <a:srgbClr val="A2B687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11982" cy="5129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9481" y="8231636"/>
            <a:ext cx="4328034" cy="1761363"/>
            <a:chOff x="0" y="0"/>
            <a:chExt cx="911982" cy="4390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1982" cy="439053"/>
            </a:xfrm>
            <a:custGeom>
              <a:avLst/>
              <a:gdLst/>
              <a:ahLst/>
              <a:cxnLst/>
              <a:rect l="l" t="t" r="r" b="b"/>
              <a:pathLst>
                <a:path w="911982" h="439053">
                  <a:moveTo>
                    <a:pt x="55895" y="0"/>
                  </a:moveTo>
                  <a:lnTo>
                    <a:pt x="856087" y="0"/>
                  </a:lnTo>
                  <a:cubicBezTo>
                    <a:pt x="870911" y="0"/>
                    <a:pt x="885128" y="5889"/>
                    <a:pt x="895611" y="16371"/>
                  </a:cubicBezTo>
                  <a:cubicBezTo>
                    <a:pt x="906093" y="26854"/>
                    <a:pt x="911982" y="41071"/>
                    <a:pt x="911982" y="55895"/>
                  </a:cubicBezTo>
                  <a:lnTo>
                    <a:pt x="911982" y="383157"/>
                  </a:lnTo>
                  <a:cubicBezTo>
                    <a:pt x="911982" y="397982"/>
                    <a:pt x="906093" y="412199"/>
                    <a:pt x="895611" y="422681"/>
                  </a:cubicBezTo>
                  <a:cubicBezTo>
                    <a:pt x="885128" y="433164"/>
                    <a:pt x="870911" y="439053"/>
                    <a:pt x="856087" y="439053"/>
                  </a:cubicBezTo>
                  <a:lnTo>
                    <a:pt x="55895" y="439053"/>
                  </a:lnTo>
                  <a:cubicBezTo>
                    <a:pt x="41071" y="439053"/>
                    <a:pt x="26854" y="433164"/>
                    <a:pt x="16371" y="422681"/>
                  </a:cubicBezTo>
                  <a:cubicBezTo>
                    <a:pt x="5889" y="412199"/>
                    <a:pt x="0" y="397982"/>
                    <a:pt x="0" y="383157"/>
                  </a:cubicBezTo>
                  <a:lnTo>
                    <a:pt x="0" y="55895"/>
                  </a:lnTo>
                  <a:cubicBezTo>
                    <a:pt x="0" y="41071"/>
                    <a:pt x="5889" y="26854"/>
                    <a:pt x="16371" y="16371"/>
                  </a:cubicBezTo>
                  <a:cubicBezTo>
                    <a:pt x="26854" y="5889"/>
                    <a:pt x="41071" y="0"/>
                    <a:pt x="55895" y="0"/>
                  </a:cubicBezTo>
                  <a:close/>
                </a:path>
              </a:pathLst>
            </a:custGeom>
            <a:solidFill>
              <a:srgbClr val="A2B687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11982" cy="477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412333" y="4178677"/>
            <a:ext cx="4185369" cy="1667029"/>
            <a:chOff x="0" y="0"/>
            <a:chExt cx="1102319" cy="43905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2319" cy="439053"/>
            </a:xfrm>
            <a:custGeom>
              <a:avLst/>
              <a:gdLst/>
              <a:ahLst/>
              <a:cxnLst/>
              <a:rect l="l" t="t" r="r" b="b"/>
              <a:pathLst>
                <a:path w="1102319" h="439053">
                  <a:moveTo>
                    <a:pt x="46244" y="0"/>
                  </a:moveTo>
                  <a:lnTo>
                    <a:pt x="1056075" y="0"/>
                  </a:lnTo>
                  <a:cubicBezTo>
                    <a:pt x="1068340" y="0"/>
                    <a:pt x="1080102" y="4872"/>
                    <a:pt x="1088775" y="13545"/>
                  </a:cubicBezTo>
                  <a:cubicBezTo>
                    <a:pt x="1097447" y="22217"/>
                    <a:pt x="1102319" y="33979"/>
                    <a:pt x="1102319" y="46244"/>
                  </a:cubicBezTo>
                  <a:lnTo>
                    <a:pt x="1102319" y="392809"/>
                  </a:lnTo>
                  <a:cubicBezTo>
                    <a:pt x="1102319" y="405074"/>
                    <a:pt x="1097447" y="416836"/>
                    <a:pt x="1088775" y="425508"/>
                  </a:cubicBezTo>
                  <a:cubicBezTo>
                    <a:pt x="1080102" y="434181"/>
                    <a:pt x="1068340" y="439053"/>
                    <a:pt x="1056075" y="439053"/>
                  </a:cubicBezTo>
                  <a:lnTo>
                    <a:pt x="46244" y="439053"/>
                  </a:lnTo>
                  <a:cubicBezTo>
                    <a:pt x="33979" y="439053"/>
                    <a:pt x="22217" y="434181"/>
                    <a:pt x="13545" y="425508"/>
                  </a:cubicBezTo>
                  <a:cubicBezTo>
                    <a:pt x="4872" y="416836"/>
                    <a:pt x="0" y="405074"/>
                    <a:pt x="0" y="392809"/>
                  </a:cubicBezTo>
                  <a:lnTo>
                    <a:pt x="0" y="46244"/>
                  </a:lnTo>
                  <a:cubicBezTo>
                    <a:pt x="0" y="33979"/>
                    <a:pt x="4872" y="22217"/>
                    <a:pt x="13545" y="13545"/>
                  </a:cubicBezTo>
                  <a:cubicBezTo>
                    <a:pt x="22217" y="4872"/>
                    <a:pt x="33979" y="0"/>
                    <a:pt x="46244" y="0"/>
                  </a:cubicBezTo>
                  <a:close/>
                </a:path>
              </a:pathLst>
            </a:custGeom>
            <a:solidFill>
              <a:srgbClr val="A2B687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02319" cy="477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12332" y="6058936"/>
            <a:ext cx="4185369" cy="1947426"/>
            <a:chOff x="0" y="0"/>
            <a:chExt cx="911982" cy="43905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11982" cy="439053"/>
            </a:xfrm>
            <a:custGeom>
              <a:avLst/>
              <a:gdLst/>
              <a:ahLst/>
              <a:cxnLst/>
              <a:rect l="l" t="t" r="r" b="b"/>
              <a:pathLst>
                <a:path w="911982" h="439053">
                  <a:moveTo>
                    <a:pt x="55895" y="0"/>
                  </a:moveTo>
                  <a:lnTo>
                    <a:pt x="856087" y="0"/>
                  </a:lnTo>
                  <a:cubicBezTo>
                    <a:pt x="870911" y="0"/>
                    <a:pt x="885128" y="5889"/>
                    <a:pt x="895611" y="16371"/>
                  </a:cubicBezTo>
                  <a:cubicBezTo>
                    <a:pt x="906093" y="26854"/>
                    <a:pt x="911982" y="41071"/>
                    <a:pt x="911982" y="55895"/>
                  </a:cubicBezTo>
                  <a:lnTo>
                    <a:pt x="911982" y="383157"/>
                  </a:lnTo>
                  <a:cubicBezTo>
                    <a:pt x="911982" y="397982"/>
                    <a:pt x="906093" y="412199"/>
                    <a:pt x="895611" y="422681"/>
                  </a:cubicBezTo>
                  <a:cubicBezTo>
                    <a:pt x="885128" y="433164"/>
                    <a:pt x="870911" y="439053"/>
                    <a:pt x="856087" y="439053"/>
                  </a:cubicBezTo>
                  <a:lnTo>
                    <a:pt x="55895" y="439053"/>
                  </a:lnTo>
                  <a:cubicBezTo>
                    <a:pt x="41071" y="439053"/>
                    <a:pt x="26854" y="433164"/>
                    <a:pt x="16371" y="422681"/>
                  </a:cubicBezTo>
                  <a:cubicBezTo>
                    <a:pt x="5889" y="412199"/>
                    <a:pt x="0" y="397982"/>
                    <a:pt x="0" y="383157"/>
                  </a:cubicBezTo>
                  <a:lnTo>
                    <a:pt x="0" y="55895"/>
                  </a:lnTo>
                  <a:cubicBezTo>
                    <a:pt x="0" y="41071"/>
                    <a:pt x="5889" y="26854"/>
                    <a:pt x="16371" y="16371"/>
                  </a:cubicBezTo>
                  <a:cubicBezTo>
                    <a:pt x="26854" y="5889"/>
                    <a:pt x="41071" y="0"/>
                    <a:pt x="55895" y="0"/>
                  </a:cubicBezTo>
                  <a:close/>
                </a:path>
              </a:pathLst>
            </a:custGeom>
            <a:solidFill>
              <a:srgbClr val="A2B687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11982" cy="477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412333" y="8102591"/>
            <a:ext cx="4207163" cy="1870125"/>
            <a:chOff x="0" y="-38100"/>
            <a:chExt cx="916731" cy="477153"/>
          </a:xfrm>
        </p:grpSpPr>
        <p:sp>
          <p:nvSpPr>
            <p:cNvPr id="22" name="Freeform 22"/>
            <p:cNvSpPr/>
            <p:nvPr/>
          </p:nvSpPr>
          <p:spPr>
            <a:xfrm>
              <a:off x="4749" y="-5175"/>
              <a:ext cx="911982" cy="439053"/>
            </a:xfrm>
            <a:custGeom>
              <a:avLst/>
              <a:gdLst/>
              <a:ahLst/>
              <a:cxnLst/>
              <a:rect l="l" t="t" r="r" b="b"/>
              <a:pathLst>
                <a:path w="911982" h="439053">
                  <a:moveTo>
                    <a:pt x="55895" y="0"/>
                  </a:moveTo>
                  <a:lnTo>
                    <a:pt x="856087" y="0"/>
                  </a:lnTo>
                  <a:cubicBezTo>
                    <a:pt x="870911" y="0"/>
                    <a:pt x="885128" y="5889"/>
                    <a:pt x="895611" y="16371"/>
                  </a:cubicBezTo>
                  <a:cubicBezTo>
                    <a:pt x="906093" y="26854"/>
                    <a:pt x="911982" y="41071"/>
                    <a:pt x="911982" y="55895"/>
                  </a:cubicBezTo>
                  <a:lnTo>
                    <a:pt x="911982" y="383157"/>
                  </a:lnTo>
                  <a:cubicBezTo>
                    <a:pt x="911982" y="397982"/>
                    <a:pt x="906093" y="412199"/>
                    <a:pt x="895611" y="422681"/>
                  </a:cubicBezTo>
                  <a:cubicBezTo>
                    <a:pt x="885128" y="433164"/>
                    <a:pt x="870911" y="439053"/>
                    <a:pt x="856087" y="439053"/>
                  </a:cubicBezTo>
                  <a:lnTo>
                    <a:pt x="55895" y="439053"/>
                  </a:lnTo>
                  <a:cubicBezTo>
                    <a:pt x="41071" y="439053"/>
                    <a:pt x="26854" y="433164"/>
                    <a:pt x="16371" y="422681"/>
                  </a:cubicBezTo>
                  <a:cubicBezTo>
                    <a:pt x="5889" y="412199"/>
                    <a:pt x="0" y="397982"/>
                    <a:pt x="0" y="383157"/>
                  </a:cubicBezTo>
                  <a:lnTo>
                    <a:pt x="0" y="55895"/>
                  </a:lnTo>
                  <a:cubicBezTo>
                    <a:pt x="0" y="41071"/>
                    <a:pt x="5889" y="26854"/>
                    <a:pt x="16371" y="16371"/>
                  </a:cubicBezTo>
                  <a:cubicBezTo>
                    <a:pt x="26854" y="5889"/>
                    <a:pt x="41071" y="0"/>
                    <a:pt x="55895" y="0"/>
                  </a:cubicBezTo>
                  <a:close/>
                </a:path>
              </a:pathLst>
            </a:custGeom>
            <a:solidFill>
              <a:srgbClr val="A2B687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911982" cy="477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1698063" y="4275522"/>
            <a:ext cx="6376882" cy="4378128"/>
          </a:xfrm>
          <a:custGeom>
            <a:avLst/>
            <a:gdLst/>
            <a:ahLst/>
            <a:cxnLst/>
            <a:rect l="l" t="t" r="r" b="b"/>
            <a:pathLst>
              <a:path w="5360603" h="3564801">
                <a:moveTo>
                  <a:pt x="0" y="0"/>
                </a:moveTo>
                <a:lnTo>
                  <a:pt x="5360603" y="0"/>
                </a:lnTo>
                <a:lnTo>
                  <a:pt x="5360603" y="3564801"/>
                </a:lnTo>
                <a:lnTo>
                  <a:pt x="0" y="35648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LK" dirty="0"/>
          </a:p>
        </p:txBody>
      </p:sp>
      <p:sp>
        <p:nvSpPr>
          <p:cNvPr id="25" name="TextBox 25"/>
          <p:cNvSpPr txBox="1"/>
          <p:nvPr/>
        </p:nvSpPr>
        <p:spPr>
          <a:xfrm>
            <a:off x="1028700" y="2136447"/>
            <a:ext cx="1665692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0"/>
              </a:lnSpc>
            </a:pPr>
            <a:r>
              <a:rPr lang="en-US" sz="5000" b="1" spc="-30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WELLBEING SUPPORT SHOULDN'T END AT THE SCHOOL GATE.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43285" y="898208"/>
            <a:ext cx="7700715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9"/>
              </a:lnSpc>
            </a:pPr>
            <a:r>
              <a:rPr lang="en-US" sz="2599" b="1" spc="-155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VALUE PROPOSITION CANVAS: HIGH SCHOOLS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926908" y="933450"/>
            <a:ext cx="3332392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00"/>
              </a:lnSpc>
            </a:pPr>
            <a:r>
              <a:rPr lang="en-US" sz="2000" spc="-12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SCHOOLS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06586" y="4263209"/>
            <a:ext cx="2788444" cy="1450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 spc="-92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JOBS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Support wellbeing and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account for program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spending.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06586" y="6026681"/>
            <a:ext cx="3122633" cy="1833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 spc="-92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PAINS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Limited staff capacity, external-provider coordination and safeguarding obligations.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06586" y="8326583"/>
            <a:ext cx="3122633" cy="1450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 spc="-92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GAINS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Visible engagement outcomes and stronger community relationships.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05966" y="3559200"/>
            <a:ext cx="3485416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 spc="-92" dirty="0">
                <a:solidFill>
                  <a:srgbClr val="9EB282"/>
                </a:solidFill>
                <a:latin typeface="Garet Bold"/>
                <a:ea typeface="Garet Bold"/>
                <a:cs typeface="Garet Bold"/>
                <a:sym typeface="Garet Bold"/>
              </a:rPr>
              <a:t>What schools need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135801" y="3500947"/>
            <a:ext cx="4185369" cy="409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 spc="-92" dirty="0">
                <a:solidFill>
                  <a:srgbClr val="9EB282"/>
                </a:solidFill>
                <a:latin typeface="Garet Bold"/>
                <a:ea typeface="Garet Bold"/>
                <a:cs typeface="Garet Bold"/>
                <a:sym typeface="Garet Bold"/>
              </a:rPr>
              <a:t>What Beacon proposes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34127" y="4242943"/>
            <a:ext cx="4563547" cy="1450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 spc="-9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PRODUCTS &amp; SERVICES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School-linked activities, partner coordination and engagement dashboards.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43128" y="6325190"/>
            <a:ext cx="3722938" cy="1450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 spc="-92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PAIN RELIEVERS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Approval workflows, moderation and verified attendance records.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54428" y="8407168"/>
            <a:ext cx="3884576" cy="1450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 spc="-92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GAIN CREATORS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Term reports, first-visit measures and repeat-attendance insights.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380535" y="9909803"/>
            <a:ext cx="5694409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Strategyzer</a:t>
            </a: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(n.d.); Team 5 (2026b, 2026c).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21028" flipH="1" flipV="1">
            <a:off x="-1802152" y="-2184453"/>
            <a:ext cx="7539939" cy="4866688"/>
          </a:xfrm>
          <a:custGeom>
            <a:avLst/>
            <a:gdLst/>
            <a:ahLst/>
            <a:cxnLst/>
            <a:rect l="l" t="t" r="r" b="b"/>
            <a:pathLst>
              <a:path w="7539939" h="4866688">
                <a:moveTo>
                  <a:pt x="7539939" y="4866688"/>
                </a:moveTo>
                <a:lnTo>
                  <a:pt x="0" y="4866688"/>
                </a:lnTo>
                <a:lnTo>
                  <a:pt x="0" y="0"/>
                </a:lnTo>
                <a:lnTo>
                  <a:pt x="7539939" y="0"/>
                </a:lnTo>
                <a:lnTo>
                  <a:pt x="7539939" y="4866688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1479196">
            <a:off x="10739387" y="5864555"/>
            <a:ext cx="9707434" cy="6265707"/>
          </a:xfrm>
          <a:custGeom>
            <a:avLst/>
            <a:gdLst/>
            <a:ahLst/>
            <a:cxnLst/>
            <a:rect l="l" t="t" r="r" b="b"/>
            <a:pathLst>
              <a:path w="9707434" h="6265707">
                <a:moveTo>
                  <a:pt x="0" y="0"/>
                </a:moveTo>
                <a:lnTo>
                  <a:pt x="9707434" y="0"/>
                </a:lnTo>
                <a:lnTo>
                  <a:pt x="9707434" y="6265708"/>
                </a:lnTo>
                <a:lnTo>
                  <a:pt x="0" y="6265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6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4" name="AutoShape 4"/>
          <p:cNvSpPr/>
          <p:nvPr/>
        </p:nvSpPr>
        <p:spPr>
          <a:xfrm>
            <a:off x="1028700" y="1386936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5" name="Freeform 5"/>
          <p:cNvSpPr/>
          <p:nvPr/>
        </p:nvSpPr>
        <p:spPr>
          <a:xfrm>
            <a:off x="1028700" y="857929"/>
            <a:ext cx="355773" cy="341542"/>
          </a:xfrm>
          <a:custGeom>
            <a:avLst/>
            <a:gdLst/>
            <a:ahLst/>
            <a:cxnLst/>
            <a:rect l="l" t="t" r="r" b="b"/>
            <a:pathLst>
              <a:path w="355773" h="341542">
                <a:moveTo>
                  <a:pt x="0" y="0"/>
                </a:moveTo>
                <a:lnTo>
                  <a:pt x="355773" y="0"/>
                </a:lnTo>
                <a:lnTo>
                  <a:pt x="355773" y="341542"/>
                </a:lnTo>
                <a:lnTo>
                  <a:pt x="0" y="341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6" name="Group 6"/>
          <p:cNvGrpSpPr/>
          <p:nvPr/>
        </p:nvGrpSpPr>
        <p:grpSpPr>
          <a:xfrm>
            <a:off x="1028700" y="4178677"/>
            <a:ext cx="5425728" cy="4330170"/>
            <a:chOff x="0" y="0"/>
            <a:chExt cx="1428998" cy="11404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28998" cy="1140456"/>
            </a:xfrm>
            <a:custGeom>
              <a:avLst/>
              <a:gdLst/>
              <a:ahLst/>
              <a:cxnLst/>
              <a:rect l="l" t="t" r="r" b="b"/>
              <a:pathLst>
                <a:path w="1428998" h="1140456">
                  <a:moveTo>
                    <a:pt x="35672" y="0"/>
                  </a:moveTo>
                  <a:lnTo>
                    <a:pt x="1393326" y="0"/>
                  </a:lnTo>
                  <a:cubicBezTo>
                    <a:pt x="1402787" y="0"/>
                    <a:pt x="1411860" y="3758"/>
                    <a:pt x="1418550" y="10448"/>
                  </a:cubicBezTo>
                  <a:cubicBezTo>
                    <a:pt x="1425240" y="17138"/>
                    <a:pt x="1428998" y="26211"/>
                    <a:pt x="1428998" y="35672"/>
                  </a:cubicBezTo>
                  <a:lnTo>
                    <a:pt x="1428998" y="1104784"/>
                  </a:lnTo>
                  <a:cubicBezTo>
                    <a:pt x="1428998" y="1114245"/>
                    <a:pt x="1425240" y="1123318"/>
                    <a:pt x="1418550" y="1130008"/>
                  </a:cubicBezTo>
                  <a:cubicBezTo>
                    <a:pt x="1411860" y="1136698"/>
                    <a:pt x="1402787" y="1140456"/>
                    <a:pt x="1393326" y="1140456"/>
                  </a:cubicBezTo>
                  <a:lnTo>
                    <a:pt x="35672" y="1140456"/>
                  </a:lnTo>
                  <a:cubicBezTo>
                    <a:pt x="15971" y="1140456"/>
                    <a:pt x="0" y="1124485"/>
                    <a:pt x="0" y="1104784"/>
                  </a:cubicBezTo>
                  <a:lnTo>
                    <a:pt x="0" y="35672"/>
                  </a:lnTo>
                  <a:cubicBezTo>
                    <a:pt x="0" y="15971"/>
                    <a:pt x="15971" y="0"/>
                    <a:pt x="35672" y="0"/>
                  </a:cubicBezTo>
                  <a:close/>
                </a:path>
              </a:pathLst>
            </a:custGeom>
            <a:solidFill>
              <a:srgbClr val="A2B687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28998" cy="11785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52030" y="4125508"/>
            <a:ext cx="5523679" cy="5280465"/>
            <a:chOff x="0" y="0"/>
            <a:chExt cx="1454796" cy="13907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54796" cy="1390740"/>
            </a:xfrm>
            <a:custGeom>
              <a:avLst/>
              <a:gdLst/>
              <a:ahLst/>
              <a:cxnLst/>
              <a:rect l="l" t="t" r="r" b="b"/>
              <a:pathLst>
                <a:path w="1454796" h="1390740">
                  <a:moveTo>
                    <a:pt x="35040" y="0"/>
                  </a:moveTo>
                  <a:lnTo>
                    <a:pt x="1419756" y="0"/>
                  </a:lnTo>
                  <a:cubicBezTo>
                    <a:pt x="1439108" y="0"/>
                    <a:pt x="1454796" y="15688"/>
                    <a:pt x="1454796" y="35040"/>
                  </a:cubicBezTo>
                  <a:lnTo>
                    <a:pt x="1454796" y="1355700"/>
                  </a:lnTo>
                  <a:cubicBezTo>
                    <a:pt x="1454796" y="1364993"/>
                    <a:pt x="1451104" y="1373906"/>
                    <a:pt x="1444533" y="1380477"/>
                  </a:cubicBezTo>
                  <a:cubicBezTo>
                    <a:pt x="1437962" y="1387048"/>
                    <a:pt x="1429049" y="1390740"/>
                    <a:pt x="1419756" y="1390740"/>
                  </a:cubicBezTo>
                  <a:lnTo>
                    <a:pt x="35040" y="1390740"/>
                  </a:lnTo>
                  <a:cubicBezTo>
                    <a:pt x="15688" y="1390740"/>
                    <a:pt x="0" y="1375052"/>
                    <a:pt x="0" y="1355700"/>
                  </a:cubicBezTo>
                  <a:lnTo>
                    <a:pt x="0" y="35040"/>
                  </a:lnTo>
                  <a:cubicBezTo>
                    <a:pt x="0" y="15688"/>
                    <a:pt x="15688" y="0"/>
                    <a:pt x="35040" y="0"/>
                  </a:cubicBezTo>
                  <a:close/>
                </a:path>
              </a:pathLst>
            </a:custGeom>
            <a:solidFill>
              <a:srgbClr val="A2B687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54796" cy="14288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737952" y="6917191"/>
            <a:ext cx="5359201" cy="2767044"/>
            <a:chOff x="0" y="0"/>
            <a:chExt cx="1411477" cy="72876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11477" cy="728769"/>
            </a:xfrm>
            <a:custGeom>
              <a:avLst/>
              <a:gdLst/>
              <a:ahLst/>
              <a:cxnLst/>
              <a:rect l="l" t="t" r="r" b="b"/>
              <a:pathLst>
                <a:path w="1411477" h="728769">
                  <a:moveTo>
                    <a:pt x="36115" y="0"/>
                  </a:moveTo>
                  <a:lnTo>
                    <a:pt x="1375362" y="0"/>
                  </a:lnTo>
                  <a:cubicBezTo>
                    <a:pt x="1384940" y="0"/>
                    <a:pt x="1394126" y="3805"/>
                    <a:pt x="1400899" y="10578"/>
                  </a:cubicBezTo>
                  <a:cubicBezTo>
                    <a:pt x="1407672" y="17351"/>
                    <a:pt x="1411477" y="26537"/>
                    <a:pt x="1411477" y="36115"/>
                  </a:cubicBezTo>
                  <a:lnTo>
                    <a:pt x="1411477" y="692654"/>
                  </a:lnTo>
                  <a:cubicBezTo>
                    <a:pt x="1411477" y="712600"/>
                    <a:pt x="1395308" y="728769"/>
                    <a:pt x="1375362" y="728769"/>
                  </a:cubicBezTo>
                  <a:lnTo>
                    <a:pt x="36115" y="728769"/>
                  </a:lnTo>
                  <a:cubicBezTo>
                    <a:pt x="16169" y="728769"/>
                    <a:pt x="0" y="712600"/>
                    <a:pt x="0" y="692654"/>
                  </a:cubicBezTo>
                  <a:lnTo>
                    <a:pt x="0" y="36115"/>
                  </a:lnTo>
                  <a:cubicBezTo>
                    <a:pt x="0" y="16169"/>
                    <a:pt x="16169" y="0"/>
                    <a:pt x="36115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411477" cy="766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2737952" y="3058047"/>
            <a:ext cx="5359201" cy="3563869"/>
          </a:xfrm>
          <a:custGeom>
            <a:avLst/>
            <a:gdLst/>
            <a:ahLst/>
            <a:cxnLst/>
            <a:rect l="l" t="t" r="r" b="b"/>
            <a:pathLst>
              <a:path w="5359201" h="3563869">
                <a:moveTo>
                  <a:pt x="0" y="0"/>
                </a:moveTo>
                <a:lnTo>
                  <a:pt x="5359201" y="0"/>
                </a:lnTo>
                <a:lnTo>
                  <a:pt x="5359201" y="3563869"/>
                </a:lnTo>
                <a:lnTo>
                  <a:pt x="0" y="35638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6" name="TextBox 16"/>
          <p:cNvSpPr txBox="1"/>
          <p:nvPr/>
        </p:nvSpPr>
        <p:spPr>
          <a:xfrm>
            <a:off x="1028700" y="2136447"/>
            <a:ext cx="16656926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0"/>
              </a:lnSpc>
            </a:pPr>
            <a:r>
              <a:rPr lang="en-US" sz="5000" b="1" spc="-30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MAKE THE 2032 LEGACY MEASURABLE TODAY.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43285" y="898208"/>
            <a:ext cx="10352328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9"/>
              </a:lnSpc>
            </a:pPr>
            <a:r>
              <a:rPr lang="en-US" sz="2599" b="1" spc="-155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VALUE PROPOSITION CANVAS: BRISBANE 2032 PARTNERS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26908" y="933450"/>
            <a:ext cx="3332392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00"/>
              </a:lnSpc>
            </a:pPr>
            <a:r>
              <a:rPr lang="en-US" sz="2000" spc="-12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BRISBANE 2032 PARTNERS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6586" y="4415609"/>
            <a:ext cx="5028428" cy="4364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 spc="-9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JOBS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Contribute to community legacy and report meaningful impact.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spc="-80">
              <a:solidFill>
                <a:srgbClr val="222223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 spc="-92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PAINS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Difficult impact measurement and sensitivity around marketing to minors.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spc="-80">
              <a:solidFill>
                <a:srgbClr val="222223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 spc="-92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GAINS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Demonstrable participation, trusted engagement and longer-term legacy.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spc="-80">
              <a:solidFill>
                <a:srgbClr val="222223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36562" y="3336203"/>
            <a:ext cx="5198452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 spc="-9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Partner customer profile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43957" y="3336203"/>
            <a:ext cx="3281243" cy="3965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 spc="-92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Beacon value map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232066" y="4415609"/>
            <a:ext cx="4563547" cy="5069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 spc="-9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PRODUCTS &amp; SERVICES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Partner activity portal and aggregate impact dashboard.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spc="-8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 spc="-9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PAIN RELIEVERS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Moderated listings, limited branding and no individual student data shared.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spc="-8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 spc="-9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GAIN CREATORS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Participation reports, youth leadership stories and community outcomes.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spc="-8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775759" y="7102322"/>
            <a:ext cx="5321394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 spc="15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 community legacy supported by evidence, not just sponsorship logos.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078615" y="9878242"/>
            <a:ext cx="14018539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Commonwealth Bank of Australia (2026); Queensland Government (2023); Strategyzer (n.d.); Team 5 (2026b, 2026c).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33521" y="8589844"/>
            <a:ext cx="5454479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>
                <a:solidFill>
                  <a:srgbClr val="BDD49C"/>
                </a:solidFill>
                <a:latin typeface="Garet"/>
                <a:ea typeface="Garet"/>
                <a:cs typeface="Garet"/>
                <a:sym typeface="Garet"/>
              </a:rPr>
              <a:t>Prospective partners only. No Beacon sponsorship or funding commitment secured.</a:t>
            </a:r>
          </a:p>
        </p:txBody>
      </p:sp>
      <p:sp>
        <p:nvSpPr>
          <p:cNvPr id="26" name="AutoShape 26"/>
          <p:cNvSpPr/>
          <p:nvPr/>
        </p:nvSpPr>
        <p:spPr>
          <a:xfrm>
            <a:off x="12831565" y="8517138"/>
            <a:ext cx="5205740" cy="7013"/>
          </a:xfrm>
          <a:prstGeom prst="line">
            <a:avLst/>
          </a:prstGeom>
          <a:ln w="19050" cap="flat">
            <a:solidFill>
              <a:srgbClr val="9EB28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8403" y="3139536"/>
            <a:ext cx="7645029" cy="6118764"/>
            <a:chOff x="0" y="0"/>
            <a:chExt cx="2013505" cy="16115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3506" cy="1611526"/>
            </a:xfrm>
            <a:custGeom>
              <a:avLst/>
              <a:gdLst/>
              <a:ahLst/>
              <a:cxnLst/>
              <a:rect l="l" t="t" r="r" b="b"/>
              <a:pathLst>
                <a:path w="2013506" h="1611526">
                  <a:moveTo>
                    <a:pt x="22279" y="0"/>
                  </a:moveTo>
                  <a:lnTo>
                    <a:pt x="1991227" y="0"/>
                  </a:lnTo>
                  <a:cubicBezTo>
                    <a:pt x="1997135" y="0"/>
                    <a:pt x="2002802" y="2347"/>
                    <a:pt x="2006980" y="6525"/>
                  </a:cubicBezTo>
                  <a:cubicBezTo>
                    <a:pt x="2011158" y="10703"/>
                    <a:pt x="2013506" y="16370"/>
                    <a:pt x="2013506" y="22279"/>
                  </a:cubicBezTo>
                  <a:lnTo>
                    <a:pt x="2013506" y="1589248"/>
                  </a:lnTo>
                  <a:cubicBezTo>
                    <a:pt x="2013506" y="1601552"/>
                    <a:pt x="2003531" y="1611526"/>
                    <a:pt x="1991227" y="1611526"/>
                  </a:cubicBezTo>
                  <a:lnTo>
                    <a:pt x="22279" y="1611526"/>
                  </a:lnTo>
                  <a:cubicBezTo>
                    <a:pt x="16370" y="1611526"/>
                    <a:pt x="10703" y="1609179"/>
                    <a:pt x="6525" y="1605001"/>
                  </a:cubicBezTo>
                  <a:cubicBezTo>
                    <a:pt x="2347" y="1600823"/>
                    <a:pt x="0" y="1595156"/>
                    <a:pt x="0" y="1589248"/>
                  </a:cubicBezTo>
                  <a:lnTo>
                    <a:pt x="0" y="22279"/>
                  </a:lnTo>
                  <a:cubicBezTo>
                    <a:pt x="0" y="16370"/>
                    <a:pt x="2347" y="10703"/>
                    <a:pt x="6525" y="6525"/>
                  </a:cubicBezTo>
                  <a:cubicBezTo>
                    <a:pt x="10703" y="2347"/>
                    <a:pt x="16370" y="0"/>
                    <a:pt x="2227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322D29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7150"/>
              <a:ext cx="2013505" cy="15543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921028" flipH="1" flipV="1">
            <a:off x="-1802152" y="-2184453"/>
            <a:ext cx="7539939" cy="4866688"/>
          </a:xfrm>
          <a:custGeom>
            <a:avLst/>
            <a:gdLst/>
            <a:ahLst/>
            <a:cxnLst/>
            <a:rect l="l" t="t" r="r" b="b"/>
            <a:pathLst>
              <a:path w="7539939" h="4866688">
                <a:moveTo>
                  <a:pt x="7539939" y="4866688"/>
                </a:moveTo>
                <a:lnTo>
                  <a:pt x="0" y="4866688"/>
                </a:lnTo>
                <a:lnTo>
                  <a:pt x="0" y="0"/>
                </a:lnTo>
                <a:lnTo>
                  <a:pt x="7539939" y="0"/>
                </a:lnTo>
                <a:lnTo>
                  <a:pt x="7539939" y="4866688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6" name="Freeform 6"/>
          <p:cNvSpPr/>
          <p:nvPr/>
        </p:nvSpPr>
        <p:spPr>
          <a:xfrm rot="-1479196">
            <a:off x="11010355" y="5926598"/>
            <a:ext cx="9707434" cy="6265707"/>
          </a:xfrm>
          <a:custGeom>
            <a:avLst/>
            <a:gdLst/>
            <a:ahLst/>
            <a:cxnLst/>
            <a:rect l="l" t="t" r="r" b="b"/>
            <a:pathLst>
              <a:path w="9707434" h="6265707">
                <a:moveTo>
                  <a:pt x="0" y="0"/>
                </a:moveTo>
                <a:lnTo>
                  <a:pt x="9707434" y="0"/>
                </a:lnTo>
                <a:lnTo>
                  <a:pt x="9707434" y="6265707"/>
                </a:lnTo>
                <a:lnTo>
                  <a:pt x="0" y="62657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7" name="AutoShape 7"/>
          <p:cNvSpPr/>
          <p:nvPr/>
        </p:nvSpPr>
        <p:spPr>
          <a:xfrm>
            <a:off x="1028700" y="1386936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8" name="Freeform 8"/>
          <p:cNvSpPr/>
          <p:nvPr/>
        </p:nvSpPr>
        <p:spPr>
          <a:xfrm>
            <a:off x="1028700" y="857929"/>
            <a:ext cx="355773" cy="341542"/>
          </a:xfrm>
          <a:custGeom>
            <a:avLst/>
            <a:gdLst/>
            <a:ahLst/>
            <a:cxnLst/>
            <a:rect l="l" t="t" r="r" b="b"/>
            <a:pathLst>
              <a:path w="355773" h="341542">
                <a:moveTo>
                  <a:pt x="0" y="0"/>
                </a:moveTo>
                <a:lnTo>
                  <a:pt x="355773" y="0"/>
                </a:lnTo>
                <a:lnTo>
                  <a:pt x="355773" y="341542"/>
                </a:lnTo>
                <a:lnTo>
                  <a:pt x="0" y="341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9" name="Freeform 9"/>
          <p:cNvSpPr/>
          <p:nvPr/>
        </p:nvSpPr>
        <p:spPr>
          <a:xfrm>
            <a:off x="1747288" y="4739833"/>
            <a:ext cx="1823665" cy="1388476"/>
          </a:xfrm>
          <a:custGeom>
            <a:avLst/>
            <a:gdLst/>
            <a:ahLst/>
            <a:cxnLst/>
            <a:rect l="l" t="t" r="r" b="b"/>
            <a:pathLst>
              <a:path w="1823665" h="1388476">
                <a:moveTo>
                  <a:pt x="0" y="0"/>
                </a:moveTo>
                <a:lnTo>
                  <a:pt x="1823664" y="0"/>
                </a:lnTo>
                <a:lnTo>
                  <a:pt x="1823664" y="1388476"/>
                </a:lnTo>
                <a:lnTo>
                  <a:pt x="0" y="13884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141" t="-18740" r="-35656" b="-15799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10" name="TextBox 10"/>
          <p:cNvSpPr txBox="1"/>
          <p:nvPr/>
        </p:nvSpPr>
        <p:spPr>
          <a:xfrm>
            <a:off x="1028700" y="1691736"/>
            <a:ext cx="15735425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50"/>
              </a:lnSpc>
            </a:pPr>
            <a:r>
              <a:rPr lang="en-US" sz="5000" b="1" spc="-3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BEACON CONNECTS WHAT OTHERS DELIVER SEPARATELY.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291200" y="3858141"/>
            <a:ext cx="1440514" cy="1450550"/>
            <a:chOff x="0" y="0"/>
            <a:chExt cx="807177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07177" cy="812800"/>
            </a:xfrm>
            <a:custGeom>
              <a:avLst/>
              <a:gdLst/>
              <a:ahLst/>
              <a:cxnLst/>
              <a:rect l="l" t="t" r="r" b="b"/>
              <a:pathLst>
                <a:path w="807177" h="812800">
                  <a:moveTo>
                    <a:pt x="403588" y="0"/>
                  </a:moveTo>
                  <a:cubicBezTo>
                    <a:pt x="180693" y="0"/>
                    <a:pt x="0" y="181951"/>
                    <a:pt x="0" y="406400"/>
                  </a:cubicBezTo>
                  <a:cubicBezTo>
                    <a:pt x="0" y="630849"/>
                    <a:pt x="180693" y="812800"/>
                    <a:pt x="403588" y="812800"/>
                  </a:cubicBezTo>
                  <a:cubicBezTo>
                    <a:pt x="626484" y="812800"/>
                    <a:pt x="807177" y="630849"/>
                    <a:pt x="807177" y="406400"/>
                  </a:cubicBezTo>
                  <a:cubicBezTo>
                    <a:pt x="807177" y="181951"/>
                    <a:pt x="626484" y="0"/>
                    <a:pt x="403588" y="0"/>
                  </a:cubicBezTo>
                  <a:close/>
                </a:path>
              </a:pathLst>
            </a:custGeom>
            <a:solidFill>
              <a:srgbClr val="EAE8DC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73" y="38100"/>
              <a:ext cx="655831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316109" y="4318844"/>
            <a:ext cx="2952275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 b="1" spc="-104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BEACON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7643" y="5765448"/>
            <a:ext cx="1502113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spc="-8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NARROWER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spc="-8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DISCOVERY              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686940" y="6096140"/>
            <a:ext cx="6734000" cy="2963312"/>
            <a:chOff x="0" y="0"/>
            <a:chExt cx="1773564" cy="78046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73564" cy="780461"/>
            </a:xfrm>
            <a:custGeom>
              <a:avLst/>
              <a:gdLst/>
              <a:ahLst/>
              <a:cxnLst/>
              <a:rect l="l" t="t" r="r" b="b"/>
              <a:pathLst>
                <a:path w="1773564" h="780461">
                  <a:moveTo>
                    <a:pt x="25293" y="0"/>
                  </a:moveTo>
                  <a:lnTo>
                    <a:pt x="1748271" y="0"/>
                  </a:lnTo>
                  <a:cubicBezTo>
                    <a:pt x="1762240" y="0"/>
                    <a:pt x="1773564" y="11324"/>
                    <a:pt x="1773564" y="25293"/>
                  </a:cubicBezTo>
                  <a:lnTo>
                    <a:pt x="1773564" y="755168"/>
                  </a:lnTo>
                  <a:cubicBezTo>
                    <a:pt x="1773564" y="761876"/>
                    <a:pt x="1770899" y="768309"/>
                    <a:pt x="1766156" y="773053"/>
                  </a:cubicBezTo>
                  <a:cubicBezTo>
                    <a:pt x="1761412" y="777796"/>
                    <a:pt x="1754979" y="780461"/>
                    <a:pt x="1748271" y="780461"/>
                  </a:cubicBezTo>
                  <a:lnTo>
                    <a:pt x="25293" y="780461"/>
                  </a:lnTo>
                  <a:cubicBezTo>
                    <a:pt x="11324" y="780461"/>
                    <a:pt x="0" y="769137"/>
                    <a:pt x="0" y="755168"/>
                  </a:cubicBezTo>
                  <a:lnTo>
                    <a:pt x="0" y="25293"/>
                  </a:lnTo>
                  <a:cubicBezTo>
                    <a:pt x="0" y="11324"/>
                    <a:pt x="11324" y="0"/>
                    <a:pt x="25293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solidFill>
                <a:srgbClr val="322D29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57150"/>
              <a:ext cx="1773564" cy="723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004075" y="2926199"/>
            <a:ext cx="10099731" cy="2700324"/>
            <a:chOff x="0" y="0"/>
            <a:chExt cx="13466308" cy="3600432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3769334" cy="3520819"/>
              <a:chOff x="0" y="0"/>
              <a:chExt cx="744560" cy="69547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44560" cy="695470"/>
              </a:xfrm>
              <a:custGeom>
                <a:avLst/>
                <a:gdLst/>
                <a:ahLst/>
                <a:cxnLst/>
                <a:rect l="l" t="t" r="r" b="b"/>
                <a:pathLst>
                  <a:path w="744560" h="695470">
                    <a:moveTo>
                      <a:pt x="60248" y="0"/>
                    </a:moveTo>
                    <a:lnTo>
                      <a:pt x="684311" y="0"/>
                    </a:lnTo>
                    <a:cubicBezTo>
                      <a:pt x="700290" y="0"/>
                      <a:pt x="715615" y="6348"/>
                      <a:pt x="726913" y="17646"/>
                    </a:cubicBezTo>
                    <a:cubicBezTo>
                      <a:pt x="738212" y="28945"/>
                      <a:pt x="744560" y="44270"/>
                      <a:pt x="744560" y="60248"/>
                    </a:cubicBezTo>
                    <a:lnTo>
                      <a:pt x="744560" y="635222"/>
                    </a:lnTo>
                    <a:cubicBezTo>
                      <a:pt x="744560" y="651201"/>
                      <a:pt x="738212" y="666525"/>
                      <a:pt x="726913" y="677824"/>
                    </a:cubicBezTo>
                    <a:cubicBezTo>
                      <a:pt x="715615" y="689123"/>
                      <a:pt x="700290" y="695470"/>
                      <a:pt x="684311" y="695470"/>
                    </a:cubicBezTo>
                    <a:lnTo>
                      <a:pt x="60248" y="695470"/>
                    </a:lnTo>
                    <a:cubicBezTo>
                      <a:pt x="44270" y="695470"/>
                      <a:pt x="28945" y="689123"/>
                      <a:pt x="17646" y="677824"/>
                    </a:cubicBezTo>
                    <a:cubicBezTo>
                      <a:pt x="6348" y="666525"/>
                      <a:pt x="0" y="651201"/>
                      <a:pt x="0" y="635222"/>
                    </a:cubicBezTo>
                    <a:lnTo>
                      <a:pt x="0" y="60248"/>
                    </a:lnTo>
                    <a:cubicBezTo>
                      <a:pt x="0" y="44270"/>
                      <a:pt x="6348" y="28945"/>
                      <a:pt x="17646" y="17646"/>
                    </a:cubicBezTo>
                    <a:cubicBezTo>
                      <a:pt x="28945" y="6348"/>
                      <a:pt x="44270" y="0"/>
                      <a:pt x="602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322D2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57150"/>
                <a:ext cx="744560" cy="6383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0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224694" y="198396"/>
              <a:ext cx="3376424" cy="32928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spc="-84">
                  <a:solidFill>
                    <a:srgbClr val="9EB2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 · SEGMENTATION</a:t>
              </a:r>
            </a:p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endParaRPr lang="en-US" sz="2100" b="1" spc="-84">
                <a:solidFill>
                  <a:srgbClr val="9EB282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8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Young people aged 12–16, segmented by location, interests and participation barriers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4715643" y="0"/>
              <a:ext cx="4035023" cy="3520819"/>
              <a:chOff x="0" y="0"/>
              <a:chExt cx="797042" cy="69547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97042" cy="695470"/>
              </a:xfrm>
              <a:custGeom>
                <a:avLst/>
                <a:gdLst/>
                <a:ahLst/>
                <a:cxnLst/>
                <a:rect l="l" t="t" r="r" b="b"/>
                <a:pathLst>
                  <a:path w="797042" h="695470">
                    <a:moveTo>
                      <a:pt x="56281" y="0"/>
                    </a:moveTo>
                    <a:lnTo>
                      <a:pt x="740760" y="0"/>
                    </a:lnTo>
                    <a:cubicBezTo>
                      <a:pt x="771844" y="0"/>
                      <a:pt x="797042" y="25198"/>
                      <a:pt x="797042" y="56281"/>
                    </a:cubicBezTo>
                    <a:lnTo>
                      <a:pt x="797042" y="639189"/>
                    </a:lnTo>
                    <a:cubicBezTo>
                      <a:pt x="797042" y="670272"/>
                      <a:pt x="771844" y="695470"/>
                      <a:pt x="740760" y="695470"/>
                    </a:cubicBezTo>
                    <a:lnTo>
                      <a:pt x="56281" y="695470"/>
                    </a:lnTo>
                    <a:cubicBezTo>
                      <a:pt x="25198" y="695470"/>
                      <a:pt x="0" y="670272"/>
                      <a:pt x="0" y="639189"/>
                    </a:cubicBezTo>
                    <a:lnTo>
                      <a:pt x="0" y="56281"/>
                    </a:lnTo>
                    <a:cubicBezTo>
                      <a:pt x="0" y="25198"/>
                      <a:pt x="25198" y="0"/>
                      <a:pt x="562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322D2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57150"/>
                <a:ext cx="797042" cy="6383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00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9696974" y="79613"/>
              <a:ext cx="3769334" cy="3520819"/>
              <a:chOff x="0" y="0"/>
              <a:chExt cx="744560" cy="69547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744560" cy="695470"/>
              </a:xfrm>
              <a:custGeom>
                <a:avLst/>
                <a:gdLst/>
                <a:ahLst/>
                <a:cxnLst/>
                <a:rect l="l" t="t" r="r" b="b"/>
                <a:pathLst>
                  <a:path w="744560" h="695470">
                    <a:moveTo>
                      <a:pt x="60248" y="0"/>
                    </a:moveTo>
                    <a:lnTo>
                      <a:pt x="684311" y="0"/>
                    </a:lnTo>
                    <a:cubicBezTo>
                      <a:pt x="700290" y="0"/>
                      <a:pt x="715615" y="6348"/>
                      <a:pt x="726913" y="17646"/>
                    </a:cubicBezTo>
                    <a:cubicBezTo>
                      <a:pt x="738212" y="28945"/>
                      <a:pt x="744560" y="44270"/>
                      <a:pt x="744560" y="60248"/>
                    </a:cubicBezTo>
                    <a:lnTo>
                      <a:pt x="744560" y="635222"/>
                    </a:lnTo>
                    <a:cubicBezTo>
                      <a:pt x="744560" y="651201"/>
                      <a:pt x="738212" y="666525"/>
                      <a:pt x="726913" y="677824"/>
                    </a:cubicBezTo>
                    <a:cubicBezTo>
                      <a:pt x="715615" y="689123"/>
                      <a:pt x="700290" y="695470"/>
                      <a:pt x="684311" y="695470"/>
                    </a:cubicBezTo>
                    <a:lnTo>
                      <a:pt x="60248" y="695470"/>
                    </a:lnTo>
                    <a:cubicBezTo>
                      <a:pt x="44270" y="695470"/>
                      <a:pt x="28945" y="689123"/>
                      <a:pt x="17646" y="677824"/>
                    </a:cubicBezTo>
                    <a:cubicBezTo>
                      <a:pt x="6348" y="666525"/>
                      <a:pt x="0" y="651201"/>
                      <a:pt x="0" y="635222"/>
                    </a:cubicBezTo>
                    <a:lnTo>
                      <a:pt x="0" y="60248"/>
                    </a:lnTo>
                    <a:cubicBezTo>
                      <a:pt x="0" y="44270"/>
                      <a:pt x="6348" y="28945"/>
                      <a:pt x="17646" y="17646"/>
                    </a:cubicBezTo>
                    <a:cubicBezTo>
                      <a:pt x="28945" y="6348"/>
                      <a:pt x="44270" y="0"/>
                      <a:pt x="602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322D29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LK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57150"/>
                <a:ext cx="744560" cy="6383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800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4808021" y="202521"/>
              <a:ext cx="3850267" cy="33182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spc="-84">
                  <a:solidFill>
                    <a:srgbClr val="9EB2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 · TARGETING</a:t>
              </a: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endParaRPr lang="en-US" sz="2100" b="1" spc="-84">
                <a:solidFill>
                  <a:srgbClr val="9EB282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8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Five-school pilot catchment, prioritising students facing access and engagement barriers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55566" y="202521"/>
              <a:ext cx="3499750" cy="33182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spc="-84">
                  <a:solidFill>
                    <a:srgbClr val="9EB282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 · POSITIONING</a:t>
              </a:r>
            </a:p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endParaRPr lang="en-US" sz="2100" b="1" spc="-84">
                <a:solidFill>
                  <a:srgbClr val="9EB282"/>
                </a:solidFill>
                <a:latin typeface="Garet Bold"/>
                <a:ea typeface="Garet Bold"/>
                <a:cs typeface="Garet Bold"/>
                <a:sym typeface="Garet Bold"/>
              </a:endParaRPr>
            </a:p>
            <a:p>
              <a:pPr algn="ctr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pc="-8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School-linked activity discovery with verified attendance and participation rewards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719316" y="3939900"/>
            <a:ext cx="1248502" cy="1248502"/>
          </a:xfrm>
          <a:custGeom>
            <a:avLst/>
            <a:gdLst/>
            <a:ahLst/>
            <a:cxnLst/>
            <a:rect l="l" t="t" r="r" b="b"/>
            <a:pathLst>
              <a:path w="1248502" h="1248502">
                <a:moveTo>
                  <a:pt x="0" y="0"/>
                </a:moveTo>
                <a:lnTo>
                  <a:pt x="1248501" y="0"/>
                </a:lnTo>
                <a:lnTo>
                  <a:pt x="1248501" y="1248502"/>
                </a:lnTo>
                <a:lnTo>
                  <a:pt x="0" y="12485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3" name="Freeform 33"/>
          <p:cNvSpPr/>
          <p:nvPr/>
        </p:nvSpPr>
        <p:spPr>
          <a:xfrm>
            <a:off x="1239056" y="7259902"/>
            <a:ext cx="1081402" cy="1024491"/>
          </a:xfrm>
          <a:custGeom>
            <a:avLst/>
            <a:gdLst/>
            <a:ahLst/>
            <a:cxnLst/>
            <a:rect l="l" t="t" r="r" b="b"/>
            <a:pathLst>
              <a:path w="1081402" h="1024491">
                <a:moveTo>
                  <a:pt x="0" y="0"/>
                </a:moveTo>
                <a:lnTo>
                  <a:pt x="1081402" y="0"/>
                </a:lnTo>
                <a:lnTo>
                  <a:pt x="1081402" y="1024491"/>
                </a:lnTo>
                <a:lnTo>
                  <a:pt x="0" y="1024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5555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4" name="Freeform 34"/>
          <p:cNvSpPr/>
          <p:nvPr/>
        </p:nvSpPr>
        <p:spPr>
          <a:xfrm>
            <a:off x="6073035" y="6882556"/>
            <a:ext cx="1020025" cy="986691"/>
          </a:xfrm>
          <a:custGeom>
            <a:avLst/>
            <a:gdLst/>
            <a:ahLst/>
            <a:cxnLst/>
            <a:rect l="l" t="t" r="r" b="b"/>
            <a:pathLst>
              <a:path w="1020025" h="986691">
                <a:moveTo>
                  <a:pt x="0" y="0"/>
                </a:moveTo>
                <a:lnTo>
                  <a:pt x="1020025" y="0"/>
                </a:lnTo>
                <a:lnTo>
                  <a:pt x="1020025" y="986691"/>
                </a:lnTo>
                <a:lnTo>
                  <a:pt x="0" y="9866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5" name="AutoShape 35"/>
          <p:cNvSpPr/>
          <p:nvPr/>
        </p:nvSpPr>
        <p:spPr>
          <a:xfrm>
            <a:off x="1491644" y="6130573"/>
            <a:ext cx="4828480" cy="153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36" name="AutoShape 36"/>
          <p:cNvSpPr/>
          <p:nvPr/>
        </p:nvSpPr>
        <p:spPr>
          <a:xfrm>
            <a:off x="3828127" y="4187610"/>
            <a:ext cx="24908" cy="420577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37" name="TextBox 37"/>
          <p:cNvSpPr txBox="1"/>
          <p:nvPr/>
        </p:nvSpPr>
        <p:spPr>
          <a:xfrm>
            <a:off x="1443285" y="898208"/>
            <a:ext cx="439856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9"/>
              </a:lnSpc>
            </a:pPr>
            <a:r>
              <a:rPr lang="en-US" sz="2599" b="1" spc="-15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STRATEGIC POSITIONING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581859" y="1085850"/>
            <a:ext cx="4677441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00"/>
              </a:lnSpc>
            </a:pPr>
            <a:r>
              <a:rPr lang="en-US" sz="2000" spc="-120">
                <a:solidFill>
                  <a:srgbClr val="FFFFFF">
                    <a:alpha val="81961"/>
                  </a:srgbClr>
                </a:solidFill>
                <a:latin typeface="Garet"/>
                <a:ea typeface="Garet"/>
                <a:cs typeface="Garet"/>
                <a:sym typeface="Garet"/>
              </a:rPr>
              <a:t>BEACON · STRATEGIC POSITIONING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06586" y="3350620"/>
            <a:ext cx="5886474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 spc="-9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HIGH SCHOOL-LINKED ENGAGEMENT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01658" y="8545846"/>
            <a:ext cx="5837485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 spc="-9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LOW SCHOOL-LINKED ENGAGEMENT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875015" y="6392271"/>
            <a:ext cx="6385795" cy="2334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3"/>
              </a:lnSpc>
              <a:spcBef>
                <a:spcPct val="0"/>
              </a:spcBef>
            </a:pPr>
            <a:r>
              <a:rPr lang="en-US" sz="2116" b="1" spc="-8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PROPOSED DIFFERENTIATION</a:t>
            </a:r>
          </a:p>
          <a:p>
            <a:pPr algn="l">
              <a:lnSpc>
                <a:spcPts val="2963"/>
              </a:lnSpc>
              <a:spcBef>
                <a:spcPct val="0"/>
              </a:spcBef>
            </a:pPr>
            <a:endParaRPr lang="en-US" sz="2116" b="1" spc="-84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495102" lvl="1" indent="-247551" algn="l">
              <a:lnSpc>
                <a:spcPts val="3210"/>
              </a:lnSpc>
              <a:spcBef>
                <a:spcPct val="0"/>
              </a:spcBef>
              <a:buAutoNum type="arabicPeriod"/>
            </a:pPr>
            <a:r>
              <a:rPr lang="en-US" sz="2293" spc="-9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Cross-provider activity discovery</a:t>
            </a:r>
          </a:p>
          <a:p>
            <a:pPr marL="495102" lvl="1" indent="-247551" algn="l">
              <a:lnSpc>
                <a:spcPts val="3210"/>
              </a:lnSpc>
              <a:spcBef>
                <a:spcPct val="0"/>
              </a:spcBef>
              <a:buAutoNum type="arabicPeriod"/>
            </a:pPr>
            <a:r>
              <a:rPr lang="en-US" sz="2293" spc="-9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Trusted school connection</a:t>
            </a:r>
          </a:p>
          <a:p>
            <a:pPr marL="495102" lvl="1" indent="-247551" algn="l">
              <a:lnSpc>
                <a:spcPts val="3210"/>
              </a:lnSpc>
              <a:spcBef>
                <a:spcPct val="0"/>
              </a:spcBef>
              <a:buAutoNum type="arabicPeriod"/>
            </a:pPr>
            <a:r>
              <a:rPr lang="en-US" sz="2293" spc="-9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Rewards for consistent attendance</a:t>
            </a:r>
          </a:p>
          <a:p>
            <a:pPr marL="495102" lvl="1" indent="-247551" algn="l">
              <a:lnSpc>
                <a:spcPts val="3210"/>
              </a:lnSpc>
              <a:spcBef>
                <a:spcPct val="0"/>
              </a:spcBef>
              <a:buAutoNum type="arabicPeriod"/>
            </a:pPr>
            <a:r>
              <a:rPr lang="en-US" sz="2293" spc="-9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Verified engagement reporting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763000" y="9732916"/>
            <a:ext cx="906780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Team 5 (2026a), Beacon Competitor Analysis. Illustrative positioning.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966348" y="2452281"/>
            <a:ext cx="212536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-80">
                <a:solidFill>
                  <a:srgbClr val="9EB282"/>
                </a:solidFill>
                <a:latin typeface="Garet Bold"/>
                <a:ea typeface="Garet Bold"/>
                <a:cs typeface="Garet Bold"/>
                <a:sym typeface="Garet Bold"/>
              </a:rPr>
              <a:t>STP STRATEGY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20124" y="5780832"/>
            <a:ext cx="1438037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-8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BROADER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-8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DISCOVERY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21028" flipH="1" flipV="1">
            <a:off x="-1802152" y="-2184453"/>
            <a:ext cx="7539939" cy="4866688"/>
          </a:xfrm>
          <a:custGeom>
            <a:avLst/>
            <a:gdLst/>
            <a:ahLst/>
            <a:cxnLst/>
            <a:rect l="l" t="t" r="r" b="b"/>
            <a:pathLst>
              <a:path w="7539939" h="4866688">
                <a:moveTo>
                  <a:pt x="7539939" y="4866688"/>
                </a:moveTo>
                <a:lnTo>
                  <a:pt x="0" y="4866688"/>
                </a:lnTo>
                <a:lnTo>
                  <a:pt x="0" y="0"/>
                </a:lnTo>
                <a:lnTo>
                  <a:pt x="7539939" y="0"/>
                </a:lnTo>
                <a:lnTo>
                  <a:pt x="7539939" y="4866688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1479196">
            <a:off x="10739387" y="5864555"/>
            <a:ext cx="9707434" cy="6265707"/>
          </a:xfrm>
          <a:custGeom>
            <a:avLst/>
            <a:gdLst/>
            <a:ahLst/>
            <a:cxnLst/>
            <a:rect l="l" t="t" r="r" b="b"/>
            <a:pathLst>
              <a:path w="9707434" h="6265707">
                <a:moveTo>
                  <a:pt x="0" y="0"/>
                </a:moveTo>
                <a:lnTo>
                  <a:pt x="9707434" y="0"/>
                </a:lnTo>
                <a:lnTo>
                  <a:pt x="9707434" y="6265708"/>
                </a:lnTo>
                <a:lnTo>
                  <a:pt x="0" y="6265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4" name="AutoShape 4"/>
          <p:cNvSpPr/>
          <p:nvPr/>
        </p:nvSpPr>
        <p:spPr>
          <a:xfrm>
            <a:off x="1028700" y="1386936"/>
            <a:ext cx="162306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5" name="Freeform 5"/>
          <p:cNvSpPr/>
          <p:nvPr/>
        </p:nvSpPr>
        <p:spPr>
          <a:xfrm>
            <a:off x="1028700" y="857929"/>
            <a:ext cx="355773" cy="341542"/>
          </a:xfrm>
          <a:custGeom>
            <a:avLst/>
            <a:gdLst/>
            <a:ahLst/>
            <a:cxnLst/>
            <a:rect l="l" t="t" r="r" b="b"/>
            <a:pathLst>
              <a:path w="355773" h="341542">
                <a:moveTo>
                  <a:pt x="0" y="0"/>
                </a:moveTo>
                <a:lnTo>
                  <a:pt x="355773" y="0"/>
                </a:lnTo>
                <a:lnTo>
                  <a:pt x="355773" y="341542"/>
                </a:lnTo>
                <a:lnTo>
                  <a:pt x="0" y="341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6" name="TextBox 6"/>
          <p:cNvSpPr txBox="1"/>
          <p:nvPr/>
        </p:nvSpPr>
        <p:spPr>
          <a:xfrm>
            <a:off x="1028700" y="2136447"/>
            <a:ext cx="15554738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0"/>
              </a:lnSpc>
            </a:pPr>
            <a:r>
              <a:rPr lang="en-US" sz="5000" b="1" spc="-30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 TRUSTED NETWORK MAKES BEACON POSSIBLE.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43285" y="898208"/>
            <a:ext cx="4509259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9"/>
              </a:lnSpc>
            </a:pPr>
            <a:r>
              <a:rPr lang="en-US" sz="2599" b="1" spc="-15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BUSINESS MODEL CANVAS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26908" y="933450"/>
            <a:ext cx="3332392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00"/>
              </a:lnSpc>
            </a:pPr>
            <a:r>
              <a:rPr lang="en-US" sz="2000" spc="-120">
                <a:solidFill>
                  <a:srgbClr val="FFFFFF">
                    <a:alpha val="81961"/>
                  </a:srgbClr>
                </a:solidFill>
                <a:latin typeface="Garet"/>
                <a:ea typeface="Garet"/>
                <a:cs typeface="Garet"/>
                <a:sym typeface="Garet"/>
              </a:rPr>
              <a:t>HOW WE DELIVER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31278" y="3374697"/>
            <a:ext cx="3926379" cy="4814917"/>
            <a:chOff x="0" y="0"/>
            <a:chExt cx="1034113" cy="12680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34113" cy="1268093"/>
            </a:xfrm>
            <a:custGeom>
              <a:avLst/>
              <a:gdLst/>
              <a:ahLst/>
              <a:cxnLst/>
              <a:rect l="l" t="t" r="r" b="b"/>
              <a:pathLst>
                <a:path w="1034113" h="1268093">
                  <a:moveTo>
                    <a:pt x="1034113" y="53238"/>
                  </a:moveTo>
                  <a:lnTo>
                    <a:pt x="1034113" y="1214855"/>
                  </a:lnTo>
                  <a:cubicBezTo>
                    <a:pt x="1034113" y="1228975"/>
                    <a:pt x="1028504" y="1242516"/>
                    <a:pt x="1018520" y="1252500"/>
                  </a:cubicBezTo>
                  <a:cubicBezTo>
                    <a:pt x="1008536" y="1262484"/>
                    <a:pt x="994995" y="1268093"/>
                    <a:pt x="980875" y="1268093"/>
                  </a:cubicBezTo>
                  <a:lnTo>
                    <a:pt x="53238" y="1268093"/>
                  </a:lnTo>
                  <a:cubicBezTo>
                    <a:pt x="23835" y="1268093"/>
                    <a:pt x="0" y="1244258"/>
                    <a:pt x="0" y="1214855"/>
                  </a:cubicBezTo>
                  <a:lnTo>
                    <a:pt x="0" y="53238"/>
                  </a:lnTo>
                  <a:cubicBezTo>
                    <a:pt x="0" y="23835"/>
                    <a:pt x="23835" y="0"/>
                    <a:pt x="53238" y="0"/>
                  </a:cubicBezTo>
                  <a:lnTo>
                    <a:pt x="980875" y="0"/>
                  </a:lnTo>
                  <a:cubicBezTo>
                    <a:pt x="1010278" y="0"/>
                    <a:pt x="1034113" y="23835"/>
                    <a:pt x="1034113" y="53238"/>
                  </a:cubicBezTo>
                  <a:close/>
                </a:path>
              </a:pathLst>
            </a:custGeom>
            <a:solidFill>
              <a:srgbClr val="E7E5D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57150"/>
              <a:ext cx="1034113" cy="1210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61377" y="3384550"/>
            <a:ext cx="3621922" cy="5065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 spc="-92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Key Partners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300" b="1" spc="-92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spc="-80" dirty="0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Who enables participation?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b="1" spc="-80" dirty="0">
              <a:solidFill>
                <a:srgbClr val="869A69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b="1" spc="-80" dirty="0">
              <a:solidFill>
                <a:srgbClr val="869A69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215902" lvl="1" algn="l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Schools and Department of Education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215902" lvl="1" algn="l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Councils, PCYC and local providers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215902" lvl="1" algn="l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Microsoft and evaluation partners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6454428" y="3374697"/>
            <a:ext cx="4757473" cy="4037637"/>
            <a:chOff x="0" y="0"/>
            <a:chExt cx="1253003" cy="106338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3003" cy="1063383"/>
            </a:xfrm>
            <a:custGeom>
              <a:avLst/>
              <a:gdLst/>
              <a:ahLst/>
              <a:cxnLst/>
              <a:rect l="l" t="t" r="r" b="b"/>
              <a:pathLst>
                <a:path w="1253003" h="1063383">
                  <a:moveTo>
                    <a:pt x="1253003" y="43938"/>
                  </a:moveTo>
                  <a:lnTo>
                    <a:pt x="1253003" y="1019445"/>
                  </a:lnTo>
                  <a:cubicBezTo>
                    <a:pt x="1253003" y="1043711"/>
                    <a:pt x="1233332" y="1063383"/>
                    <a:pt x="1209066" y="1063383"/>
                  </a:cubicBezTo>
                  <a:lnTo>
                    <a:pt x="43938" y="1063383"/>
                  </a:lnTo>
                  <a:cubicBezTo>
                    <a:pt x="32285" y="1063383"/>
                    <a:pt x="21109" y="1058754"/>
                    <a:pt x="12869" y="1050514"/>
                  </a:cubicBezTo>
                  <a:cubicBezTo>
                    <a:pt x="4629" y="1042274"/>
                    <a:pt x="0" y="1031098"/>
                    <a:pt x="0" y="1019445"/>
                  </a:cubicBezTo>
                  <a:lnTo>
                    <a:pt x="0" y="43938"/>
                  </a:lnTo>
                  <a:cubicBezTo>
                    <a:pt x="0" y="19672"/>
                    <a:pt x="19672" y="0"/>
                    <a:pt x="43938" y="0"/>
                  </a:cubicBezTo>
                  <a:lnTo>
                    <a:pt x="1209066" y="0"/>
                  </a:lnTo>
                  <a:cubicBezTo>
                    <a:pt x="1233332" y="0"/>
                    <a:pt x="1253003" y="19672"/>
                    <a:pt x="1253003" y="43938"/>
                  </a:cubicBezTo>
                  <a:close/>
                </a:path>
              </a:pathLst>
            </a:custGeom>
            <a:solidFill>
              <a:srgbClr val="E7E5D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57150"/>
              <a:ext cx="1253003" cy="1006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668558" y="3384550"/>
            <a:ext cx="4543343" cy="4142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 spc="-92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Key Activities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 b="1" spc="-92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 spc="-92" dirty="0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What must Beacon do?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 b="1" spc="-92" dirty="0">
              <a:solidFill>
                <a:srgbClr val="869A69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215902" lvl="1" algn="l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Approve and coordinate activities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215902" lvl="1" algn="l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Verify sessions and moderate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215902" lvl="1" algn="l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Manage rewards and impact reports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2501827" y="3432175"/>
            <a:ext cx="4757473" cy="4037637"/>
            <a:chOff x="0" y="0"/>
            <a:chExt cx="1253003" cy="106338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53003" cy="1063383"/>
            </a:xfrm>
            <a:custGeom>
              <a:avLst/>
              <a:gdLst/>
              <a:ahLst/>
              <a:cxnLst/>
              <a:rect l="l" t="t" r="r" b="b"/>
              <a:pathLst>
                <a:path w="1253003" h="1063383">
                  <a:moveTo>
                    <a:pt x="1253003" y="43938"/>
                  </a:moveTo>
                  <a:lnTo>
                    <a:pt x="1253003" y="1019445"/>
                  </a:lnTo>
                  <a:cubicBezTo>
                    <a:pt x="1253003" y="1043711"/>
                    <a:pt x="1233332" y="1063383"/>
                    <a:pt x="1209066" y="1063383"/>
                  </a:cubicBezTo>
                  <a:lnTo>
                    <a:pt x="43938" y="1063383"/>
                  </a:lnTo>
                  <a:cubicBezTo>
                    <a:pt x="32285" y="1063383"/>
                    <a:pt x="21109" y="1058754"/>
                    <a:pt x="12869" y="1050514"/>
                  </a:cubicBezTo>
                  <a:cubicBezTo>
                    <a:pt x="4629" y="1042274"/>
                    <a:pt x="0" y="1031098"/>
                    <a:pt x="0" y="1019445"/>
                  </a:cubicBezTo>
                  <a:lnTo>
                    <a:pt x="0" y="43938"/>
                  </a:lnTo>
                  <a:cubicBezTo>
                    <a:pt x="0" y="19672"/>
                    <a:pt x="19672" y="0"/>
                    <a:pt x="43938" y="0"/>
                  </a:cubicBezTo>
                  <a:lnTo>
                    <a:pt x="1209066" y="0"/>
                  </a:lnTo>
                  <a:cubicBezTo>
                    <a:pt x="1233332" y="0"/>
                    <a:pt x="1253003" y="19672"/>
                    <a:pt x="1253003" y="43938"/>
                  </a:cubicBezTo>
                  <a:close/>
                </a:path>
              </a:pathLst>
            </a:custGeom>
            <a:solidFill>
              <a:srgbClr val="E7E5D7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57150"/>
              <a:ext cx="1253003" cy="10062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605028" y="3515821"/>
            <a:ext cx="4504822" cy="3783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 spc="-92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Key Resources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 b="1" spc="-92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 spc="-92" dirty="0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What supports delivery?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endParaRPr lang="en-US" sz="2300" b="1" spc="-92" dirty="0">
              <a:solidFill>
                <a:srgbClr val="869A69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215902" lvl="1" algn="l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Microsoft platform and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data systems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marL="215902" lvl="1" algn="l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Verified venue and activity network</a:t>
            </a:r>
          </a:p>
          <a:p>
            <a:pPr marL="215902" lvl="1" algn="l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Coordinators and moderators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spc="-8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661377" y="8631323"/>
            <a:ext cx="10336394" cy="1253953"/>
            <a:chOff x="0" y="0"/>
            <a:chExt cx="2722356" cy="33025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722356" cy="330251"/>
            </a:xfrm>
            <a:custGeom>
              <a:avLst/>
              <a:gdLst/>
              <a:ahLst/>
              <a:cxnLst/>
              <a:rect l="l" t="t" r="r" b="b"/>
              <a:pathLst>
                <a:path w="2722356" h="330251">
                  <a:moveTo>
                    <a:pt x="2722356" y="20223"/>
                  </a:moveTo>
                  <a:lnTo>
                    <a:pt x="2722356" y="310028"/>
                  </a:lnTo>
                  <a:cubicBezTo>
                    <a:pt x="2722356" y="321197"/>
                    <a:pt x="2713302" y="330251"/>
                    <a:pt x="2702133" y="330251"/>
                  </a:cubicBezTo>
                  <a:lnTo>
                    <a:pt x="20223" y="330251"/>
                  </a:lnTo>
                  <a:cubicBezTo>
                    <a:pt x="9054" y="330251"/>
                    <a:pt x="0" y="321197"/>
                    <a:pt x="0" y="310028"/>
                  </a:cubicBezTo>
                  <a:lnTo>
                    <a:pt x="0" y="20223"/>
                  </a:lnTo>
                  <a:cubicBezTo>
                    <a:pt x="0" y="9054"/>
                    <a:pt x="9054" y="0"/>
                    <a:pt x="20223" y="0"/>
                  </a:cubicBezTo>
                  <a:lnTo>
                    <a:pt x="2702133" y="0"/>
                  </a:lnTo>
                  <a:cubicBezTo>
                    <a:pt x="2713302" y="0"/>
                    <a:pt x="2722356" y="9054"/>
                    <a:pt x="2722356" y="20223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57150"/>
              <a:ext cx="2722356" cy="273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61377" y="8940424"/>
            <a:ext cx="10072503" cy="780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spc="-88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Partners supply opportunities. Beacon coordinates safe, verified participation.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12302" y="9715413"/>
            <a:ext cx="6475697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Osterwalder &amp; Pigneur (2010); Team 5 (2026b).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21028" flipH="1" flipV="1">
            <a:off x="-1802152" y="-2184453"/>
            <a:ext cx="7539939" cy="4866688"/>
          </a:xfrm>
          <a:custGeom>
            <a:avLst/>
            <a:gdLst/>
            <a:ahLst/>
            <a:cxnLst/>
            <a:rect l="l" t="t" r="r" b="b"/>
            <a:pathLst>
              <a:path w="7539939" h="4866688">
                <a:moveTo>
                  <a:pt x="7539939" y="4866688"/>
                </a:moveTo>
                <a:lnTo>
                  <a:pt x="0" y="4866688"/>
                </a:lnTo>
                <a:lnTo>
                  <a:pt x="0" y="0"/>
                </a:lnTo>
                <a:lnTo>
                  <a:pt x="7539939" y="0"/>
                </a:lnTo>
                <a:lnTo>
                  <a:pt x="7539939" y="4866688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1479196">
            <a:off x="10739387" y="5864555"/>
            <a:ext cx="9707434" cy="6265707"/>
          </a:xfrm>
          <a:custGeom>
            <a:avLst/>
            <a:gdLst/>
            <a:ahLst/>
            <a:cxnLst/>
            <a:rect l="l" t="t" r="r" b="b"/>
            <a:pathLst>
              <a:path w="9707434" h="6265707">
                <a:moveTo>
                  <a:pt x="0" y="0"/>
                </a:moveTo>
                <a:lnTo>
                  <a:pt x="9707434" y="0"/>
                </a:lnTo>
                <a:lnTo>
                  <a:pt x="9707434" y="6265708"/>
                </a:lnTo>
                <a:lnTo>
                  <a:pt x="0" y="6265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4" name="AutoShape 4"/>
          <p:cNvSpPr/>
          <p:nvPr/>
        </p:nvSpPr>
        <p:spPr>
          <a:xfrm>
            <a:off x="1028700" y="1386936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5" name="Freeform 5"/>
          <p:cNvSpPr/>
          <p:nvPr/>
        </p:nvSpPr>
        <p:spPr>
          <a:xfrm>
            <a:off x="1028700" y="857929"/>
            <a:ext cx="355773" cy="341542"/>
          </a:xfrm>
          <a:custGeom>
            <a:avLst/>
            <a:gdLst/>
            <a:ahLst/>
            <a:cxnLst/>
            <a:rect l="l" t="t" r="r" b="b"/>
            <a:pathLst>
              <a:path w="355773" h="341542">
                <a:moveTo>
                  <a:pt x="0" y="0"/>
                </a:moveTo>
                <a:lnTo>
                  <a:pt x="355773" y="0"/>
                </a:lnTo>
                <a:lnTo>
                  <a:pt x="355773" y="341542"/>
                </a:lnTo>
                <a:lnTo>
                  <a:pt x="0" y="341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7" name="TextBox 7"/>
          <p:cNvSpPr txBox="1"/>
          <p:nvPr/>
        </p:nvSpPr>
        <p:spPr>
          <a:xfrm>
            <a:off x="1028700" y="2136447"/>
            <a:ext cx="16510917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0"/>
              </a:lnSpc>
            </a:pPr>
            <a:r>
              <a:rPr lang="en-US" sz="5000" b="1" spc="-30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DIFFERENT STAKEHOLDERS. ONE CONNECTED PLATFORM.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43285" y="898208"/>
            <a:ext cx="7700715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9"/>
              </a:lnSpc>
            </a:pPr>
            <a:r>
              <a:rPr lang="en-US" sz="2599" b="1" spc="-155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BUSINESS MODEL CANVAS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926908" y="933450"/>
            <a:ext cx="3332392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00"/>
              </a:lnSpc>
            </a:pPr>
            <a:r>
              <a:rPr lang="en-US" sz="2000" spc="-120">
                <a:solidFill>
                  <a:srgbClr val="222223">
                    <a:alpha val="81961"/>
                  </a:srgbClr>
                </a:solidFill>
                <a:latin typeface="Garet"/>
                <a:ea typeface="Garet"/>
                <a:cs typeface="Garet"/>
                <a:sym typeface="Garet"/>
              </a:rPr>
              <a:t> WHO WE SERVE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13308" y="9707485"/>
            <a:ext cx="12774692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-8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Osterwalder &amp; Pigneur (2010); Team 5 (2026b, 2026c). Stakeholder arrangements are proposed.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8386886"/>
            <a:ext cx="14904961" cy="1093356"/>
            <a:chOff x="0" y="0"/>
            <a:chExt cx="3925606" cy="2879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25606" cy="287955"/>
            </a:xfrm>
            <a:custGeom>
              <a:avLst/>
              <a:gdLst/>
              <a:ahLst/>
              <a:cxnLst/>
              <a:rect l="l" t="t" r="r" b="b"/>
              <a:pathLst>
                <a:path w="3925606" h="287955">
                  <a:moveTo>
                    <a:pt x="3925606" y="14024"/>
                  </a:moveTo>
                  <a:lnTo>
                    <a:pt x="3925606" y="273930"/>
                  </a:lnTo>
                  <a:cubicBezTo>
                    <a:pt x="3925606" y="277650"/>
                    <a:pt x="3924129" y="281217"/>
                    <a:pt x="3921499" y="283847"/>
                  </a:cubicBezTo>
                  <a:cubicBezTo>
                    <a:pt x="3918869" y="286477"/>
                    <a:pt x="3915301" y="287955"/>
                    <a:pt x="3911582" y="287955"/>
                  </a:cubicBezTo>
                  <a:lnTo>
                    <a:pt x="14024" y="287955"/>
                  </a:lnTo>
                  <a:cubicBezTo>
                    <a:pt x="10305" y="287955"/>
                    <a:pt x="6738" y="286477"/>
                    <a:pt x="4108" y="283847"/>
                  </a:cubicBezTo>
                  <a:cubicBezTo>
                    <a:pt x="1478" y="281217"/>
                    <a:pt x="0" y="277650"/>
                    <a:pt x="0" y="273930"/>
                  </a:cubicBezTo>
                  <a:lnTo>
                    <a:pt x="0" y="14024"/>
                  </a:lnTo>
                  <a:cubicBezTo>
                    <a:pt x="0" y="10305"/>
                    <a:pt x="1478" y="6738"/>
                    <a:pt x="4108" y="4108"/>
                  </a:cubicBezTo>
                  <a:cubicBezTo>
                    <a:pt x="6738" y="1478"/>
                    <a:pt x="10305" y="0"/>
                    <a:pt x="14024" y="0"/>
                  </a:cubicBezTo>
                  <a:lnTo>
                    <a:pt x="3911582" y="0"/>
                  </a:lnTo>
                  <a:cubicBezTo>
                    <a:pt x="3915301" y="0"/>
                    <a:pt x="3918869" y="1478"/>
                    <a:pt x="3921499" y="4108"/>
                  </a:cubicBezTo>
                  <a:cubicBezTo>
                    <a:pt x="3924129" y="6738"/>
                    <a:pt x="3925606" y="10305"/>
                    <a:pt x="3925606" y="14024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57150"/>
              <a:ext cx="3925606" cy="2308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84473" y="8486143"/>
            <a:ext cx="14167950" cy="772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15"/>
              </a:lnSpc>
              <a:spcBef>
                <a:spcPct val="0"/>
              </a:spcBef>
            </a:pPr>
            <a:r>
              <a:rPr lang="en-US" sz="2225" b="1" spc="-8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Students participate free. Schools and councils are the modelled payers; partners supply activities and potential in-kind value.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2D550B1-2AC3-A9D8-18D8-4E5E56464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644747"/>
              </p:ext>
            </p:extLst>
          </p:nvPr>
        </p:nvGraphicFramePr>
        <p:xfrm>
          <a:off x="2603872" y="3229243"/>
          <a:ext cx="11293728" cy="50349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3432">
                  <a:extLst>
                    <a:ext uri="{9D8B030D-6E8A-4147-A177-3AD203B41FA5}">
                      <a16:colId xmlns:a16="http://schemas.microsoft.com/office/drawing/2014/main" val="806147871"/>
                    </a:ext>
                  </a:extLst>
                </a:gridCol>
                <a:gridCol w="2823432">
                  <a:extLst>
                    <a:ext uri="{9D8B030D-6E8A-4147-A177-3AD203B41FA5}">
                      <a16:colId xmlns:a16="http://schemas.microsoft.com/office/drawing/2014/main" val="162547163"/>
                    </a:ext>
                  </a:extLst>
                </a:gridCol>
                <a:gridCol w="2823432">
                  <a:extLst>
                    <a:ext uri="{9D8B030D-6E8A-4147-A177-3AD203B41FA5}">
                      <a16:colId xmlns:a16="http://schemas.microsoft.com/office/drawing/2014/main" val="4059233767"/>
                    </a:ext>
                  </a:extLst>
                </a:gridCol>
                <a:gridCol w="2823432">
                  <a:extLst>
                    <a:ext uri="{9D8B030D-6E8A-4147-A177-3AD203B41FA5}">
                      <a16:colId xmlns:a16="http://schemas.microsoft.com/office/drawing/2014/main" val="2852407561"/>
                    </a:ext>
                  </a:extLst>
                </a:gridCol>
              </a:tblGrid>
              <a:tr h="554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effectLst/>
                        </a:rPr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effectLst/>
                        </a:rPr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>
                          <a:effectLst/>
                        </a:rPr>
                        <a:t>CHANNEL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effectLst/>
                        </a:rPr>
                        <a:t>RELATIONSHIP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3814358"/>
                  </a:ext>
                </a:extLst>
              </a:tr>
              <a:tr h="711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Students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Safe activities and rewards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Viva Engage / Teams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Youth Champions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72790"/>
                  </a:ext>
                </a:extLst>
              </a:tr>
              <a:tr h="1027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Schools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effectLst/>
                        </a:rPr>
                        <a:t>Wellbeing engagement 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School wellbeing teams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School coordinator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17001"/>
                  </a:ext>
                </a:extLst>
              </a:tr>
              <a:tr h="711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Councils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effectLst/>
                        </a:rPr>
                        <a:t>Reach and participation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Partner portal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effectLst/>
                        </a:rPr>
                        <a:t>Impact reporting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5856454"/>
                  </a:ext>
                </a:extLst>
              </a:tr>
              <a:tr h="711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Local venues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Community participation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Venue portal / QR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Partner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009470"/>
                  </a:ext>
                </a:extLst>
              </a:tr>
              <a:tr h="7114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2032 partners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Measurable youth legacy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Partnership outreach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effectLst/>
                        </a:rPr>
                        <a:t>Legacy reports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51577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21028" flipH="1" flipV="1">
            <a:off x="-1802152" y="-2184453"/>
            <a:ext cx="7539939" cy="4866688"/>
          </a:xfrm>
          <a:custGeom>
            <a:avLst/>
            <a:gdLst/>
            <a:ahLst/>
            <a:cxnLst/>
            <a:rect l="l" t="t" r="r" b="b"/>
            <a:pathLst>
              <a:path w="7539939" h="4866688">
                <a:moveTo>
                  <a:pt x="7539939" y="4866688"/>
                </a:moveTo>
                <a:lnTo>
                  <a:pt x="0" y="4866688"/>
                </a:lnTo>
                <a:lnTo>
                  <a:pt x="0" y="0"/>
                </a:lnTo>
                <a:lnTo>
                  <a:pt x="7539939" y="0"/>
                </a:lnTo>
                <a:lnTo>
                  <a:pt x="7539939" y="4866688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1479196">
            <a:off x="11395224" y="5767210"/>
            <a:ext cx="9707434" cy="6265707"/>
          </a:xfrm>
          <a:custGeom>
            <a:avLst/>
            <a:gdLst/>
            <a:ahLst/>
            <a:cxnLst/>
            <a:rect l="l" t="t" r="r" b="b"/>
            <a:pathLst>
              <a:path w="9707434" h="6265707">
                <a:moveTo>
                  <a:pt x="0" y="0"/>
                </a:moveTo>
                <a:lnTo>
                  <a:pt x="9707434" y="0"/>
                </a:lnTo>
                <a:lnTo>
                  <a:pt x="9707434" y="6265708"/>
                </a:lnTo>
                <a:lnTo>
                  <a:pt x="0" y="6265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4" name="AutoShape 4"/>
          <p:cNvSpPr/>
          <p:nvPr/>
        </p:nvSpPr>
        <p:spPr>
          <a:xfrm>
            <a:off x="1028700" y="1386936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5" name="Freeform 5"/>
          <p:cNvSpPr/>
          <p:nvPr/>
        </p:nvSpPr>
        <p:spPr>
          <a:xfrm>
            <a:off x="1028700" y="857929"/>
            <a:ext cx="355773" cy="341542"/>
          </a:xfrm>
          <a:custGeom>
            <a:avLst/>
            <a:gdLst/>
            <a:ahLst/>
            <a:cxnLst/>
            <a:rect l="l" t="t" r="r" b="b"/>
            <a:pathLst>
              <a:path w="355773" h="341542">
                <a:moveTo>
                  <a:pt x="0" y="0"/>
                </a:moveTo>
                <a:lnTo>
                  <a:pt x="355773" y="0"/>
                </a:lnTo>
                <a:lnTo>
                  <a:pt x="355773" y="341542"/>
                </a:lnTo>
                <a:lnTo>
                  <a:pt x="0" y="341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aphicFrame>
        <p:nvGraphicFramePr>
          <p:cNvPr id="6" name="Object 6"/>
          <p:cNvGraphicFramePr/>
          <p:nvPr/>
        </p:nvGraphicFramePr>
        <p:xfrm>
          <a:off x="10070119" y="3557002"/>
          <a:ext cx="5657850" cy="314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6781800" imgH="4267200" progId="Excel.Sheet.12">
                  <p:embed/>
                </p:oleObj>
              </mc:Choice>
              <mc:Fallback>
                <p:oleObj name="Worksheet" r:id="rId5" imgW="6781800" imgH="4267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070119" y="3557002"/>
                        <a:ext cx="5657850" cy="314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"/>
          <p:cNvSpPr/>
          <p:nvPr/>
        </p:nvSpPr>
        <p:spPr>
          <a:xfrm>
            <a:off x="1601591" y="3336597"/>
            <a:ext cx="7037825" cy="5508412"/>
          </a:xfrm>
          <a:custGeom>
            <a:avLst/>
            <a:gdLst/>
            <a:ahLst/>
            <a:cxnLst/>
            <a:rect l="l" t="t" r="r" b="b"/>
            <a:pathLst>
              <a:path w="7037825" h="5508412">
                <a:moveTo>
                  <a:pt x="0" y="0"/>
                </a:moveTo>
                <a:lnTo>
                  <a:pt x="7037825" y="0"/>
                </a:lnTo>
                <a:lnTo>
                  <a:pt x="7037825" y="5508412"/>
                </a:lnTo>
                <a:lnTo>
                  <a:pt x="0" y="55084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325" b="-1532"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8" name="TextBox 8"/>
          <p:cNvSpPr txBox="1"/>
          <p:nvPr/>
        </p:nvSpPr>
        <p:spPr>
          <a:xfrm>
            <a:off x="1028700" y="2136447"/>
            <a:ext cx="16230600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0"/>
              </a:lnSpc>
            </a:pPr>
            <a:r>
              <a:rPr lang="en-US" sz="5000" b="1" spc="-30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SCHOOLS AND COUNCILS FUND A GROWING SHARE OF BEACON.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3285" y="898208"/>
            <a:ext cx="5011143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9"/>
              </a:lnSpc>
            </a:pPr>
            <a:r>
              <a:rPr lang="en-US" sz="2599" b="1" spc="-155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BUSINESS MODEL CANVAS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926908" y="933450"/>
            <a:ext cx="3332392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00"/>
              </a:lnSpc>
            </a:pPr>
            <a:r>
              <a:rPr lang="en-US" sz="2000" spc="-120">
                <a:solidFill>
                  <a:srgbClr val="222223">
                    <a:alpha val="81961"/>
                  </a:srgbClr>
                </a:solidFill>
                <a:latin typeface="Garet"/>
                <a:ea typeface="Garet"/>
                <a:cs typeface="Garet"/>
                <a:sym typeface="Garet"/>
              </a:rPr>
              <a:t>REVENUE STREAMS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3593" y="8989060"/>
            <a:ext cx="1037772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-111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Earned revenue covers 45% of costs in Year 1 → 70% by Year 5.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88818" y="9932621"/>
            <a:ext cx="8470582" cy="354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spc="-80" dirty="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Team 5 (2026c), Financial Model v3, Base scenario, AUD ex GST.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21028" flipH="1" flipV="1">
            <a:off x="-1802152" y="-2184453"/>
            <a:ext cx="7539939" cy="4866688"/>
          </a:xfrm>
          <a:custGeom>
            <a:avLst/>
            <a:gdLst/>
            <a:ahLst/>
            <a:cxnLst/>
            <a:rect l="l" t="t" r="r" b="b"/>
            <a:pathLst>
              <a:path w="7539939" h="4866688">
                <a:moveTo>
                  <a:pt x="7539939" y="4866688"/>
                </a:moveTo>
                <a:lnTo>
                  <a:pt x="0" y="4866688"/>
                </a:lnTo>
                <a:lnTo>
                  <a:pt x="0" y="0"/>
                </a:lnTo>
                <a:lnTo>
                  <a:pt x="7539939" y="0"/>
                </a:lnTo>
                <a:lnTo>
                  <a:pt x="7539939" y="4866688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AutoShape 3"/>
          <p:cNvSpPr/>
          <p:nvPr/>
        </p:nvSpPr>
        <p:spPr>
          <a:xfrm>
            <a:off x="1028700" y="1386936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4" name="Freeform 4"/>
          <p:cNvSpPr/>
          <p:nvPr/>
        </p:nvSpPr>
        <p:spPr>
          <a:xfrm rot="-1479196">
            <a:off x="10739387" y="5864555"/>
            <a:ext cx="9707434" cy="6265707"/>
          </a:xfrm>
          <a:custGeom>
            <a:avLst/>
            <a:gdLst/>
            <a:ahLst/>
            <a:cxnLst/>
            <a:rect l="l" t="t" r="r" b="b"/>
            <a:pathLst>
              <a:path w="9707434" h="6265707">
                <a:moveTo>
                  <a:pt x="0" y="0"/>
                </a:moveTo>
                <a:lnTo>
                  <a:pt x="9707434" y="0"/>
                </a:lnTo>
                <a:lnTo>
                  <a:pt x="9707434" y="6265708"/>
                </a:lnTo>
                <a:lnTo>
                  <a:pt x="0" y="6265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5" name="Freeform 5"/>
          <p:cNvSpPr/>
          <p:nvPr/>
        </p:nvSpPr>
        <p:spPr>
          <a:xfrm>
            <a:off x="1028700" y="857929"/>
            <a:ext cx="355773" cy="341542"/>
          </a:xfrm>
          <a:custGeom>
            <a:avLst/>
            <a:gdLst/>
            <a:ahLst/>
            <a:cxnLst/>
            <a:rect l="l" t="t" r="r" b="b"/>
            <a:pathLst>
              <a:path w="355773" h="341542">
                <a:moveTo>
                  <a:pt x="0" y="0"/>
                </a:moveTo>
                <a:lnTo>
                  <a:pt x="355773" y="0"/>
                </a:lnTo>
                <a:lnTo>
                  <a:pt x="355773" y="341542"/>
                </a:lnTo>
                <a:lnTo>
                  <a:pt x="0" y="341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6" name="Group 6"/>
          <p:cNvGrpSpPr/>
          <p:nvPr/>
        </p:nvGrpSpPr>
        <p:grpSpPr>
          <a:xfrm>
            <a:off x="13870708" y="7082056"/>
            <a:ext cx="56201" cy="5620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EB282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80876" y="8500838"/>
            <a:ext cx="7541193" cy="1338742"/>
            <a:chOff x="0" y="0"/>
            <a:chExt cx="1986168" cy="3525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86168" cy="352581"/>
            </a:xfrm>
            <a:custGeom>
              <a:avLst/>
              <a:gdLst/>
              <a:ahLst/>
              <a:cxnLst/>
              <a:rect l="l" t="t" r="r" b="b"/>
              <a:pathLst>
                <a:path w="1986168" h="352581">
                  <a:moveTo>
                    <a:pt x="1986168" y="27719"/>
                  </a:moveTo>
                  <a:lnTo>
                    <a:pt x="1986168" y="324863"/>
                  </a:lnTo>
                  <a:cubicBezTo>
                    <a:pt x="1986168" y="332214"/>
                    <a:pt x="1983248" y="339264"/>
                    <a:pt x="1978049" y="344463"/>
                  </a:cubicBezTo>
                  <a:cubicBezTo>
                    <a:pt x="1972851" y="349661"/>
                    <a:pt x="1965801" y="352581"/>
                    <a:pt x="1958449" y="352581"/>
                  </a:cubicBezTo>
                  <a:lnTo>
                    <a:pt x="27719" y="352581"/>
                  </a:lnTo>
                  <a:cubicBezTo>
                    <a:pt x="20367" y="352581"/>
                    <a:pt x="13317" y="349661"/>
                    <a:pt x="8119" y="344463"/>
                  </a:cubicBezTo>
                  <a:cubicBezTo>
                    <a:pt x="2920" y="339264"/>
                    <a:pt x="0" y="332214"/>
                    <a:pt x="0" y="324863"/>
                  </a:cubicBezTo>
                  <a:lnTo>
                    <a:pt x="0" y="27719"/>
                  </a:lnTo>
                  <a:cubicBezTo>
                    <a:pt x="0" y="20367"/>
                    <a:pt x="2920" y="13317"/>
                    <a:pt x="8119" y="8119"/>
                  </a:cubicBezTo>
                  <a:cubicBezTo>
                    <a:pt x="13317" y="2920"/>
                    <a:pt x="20367" y="0"/>
                    <a:pt x="27719" y="0"/>
                  </a:cubicBezTo>
                  <a:lnTo>
                    <a:pt x="1958449" y="0"/>
                  </a:lnTo>
                  <a:cubicBezTo>
                    <a:pt x="1965801" y="0"/>
                    <a:pt x="1972851" y="2920"/>
                    <a:pt x="1978049" y="8119"/>
                  </a:cubicBezTo>
                  <a:cubicBezTo>
                    <a:pt x="1983248" y="13317"/>
                    <a:pt x="1986168" y="20367"/>
                    <a:pt x="1986168" y="27719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57150"/>
              <a:ext cx="1986168" cy="295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2020367"/>
            <a:ext cx="17259300" cy="628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0"/>
              </a:lnSpc>
            </a:pPr>
            <a:r>
              <a:rPr lang="en-US" sz="5000" b="1" spc="-30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WHERE THE MONEY GOES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43285" y="898208"/>
            <a:ext cx="3819322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9"/>
              </a:lnSpc>
            </a:pPr>
            <a:r>
              <a:rPr lang="en-US" sz="2599" b="1" spc="-155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COST STRUCTURE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926908" y="933450"/>
            <a:ext cx="3332392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00"/>
              </a:lnSpc>
            </a:pPr>
            <a:r>
              <a:rPr lang="en-US" sz="2000" spc="-12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BEACON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2269" y="8644644"/>
            <a:ext cx="7860717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spc="-108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Cost per student with access falls from approximately $39 to $20.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700" spc="-108" dirty="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387727" y="9780795"/>
            <a:ext cx="7563884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8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Team 5 (2026c), Beacon Financial Model v3, Base scenario.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3242010-040F-9B45-EC5F-07549E8BBF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274" y="2897554"/>
            <a:ext cx="9770373" cy="5498584"/>
          </a:xfrm>
          <a:prstGeom prst="rect">
            <a:avLst/>
          </a:prstGeom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994C5CC-FB94-A98C-2738-5FEA2DE4A0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086223"/>
              </p:ext>
            </p:extLst>
          </p:nvPr>
        </p:nvGraphicFramePr>
        <p:xfrm>
          <a:off x="355773" y="3488315"/>
          <a:ext cx="7391400" cy="4267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5700">
                  <a:extLst>
                    <a:ext uri="{9D8B030D-6E8A-4147-A177-3AD203B41FA5}">
                      <a16:colId xmlns:a16="http://schemas.microsoft.com/office/drawing/2014/main" val="1452459621"/>
                    </a:ext>
                  </a:extLst>
                </a:gridCol>
                <a:gridCol w="3695700">
                  <a:extLst>
                    <a:ext uri="{9D8B030D-6E8A-4147-A177-3AD203B41FA5}">
                      <a16:colId xmlns:a16="http://schemas.microsoft.com/office/drawing/2014/main" val="109765295"/>
                    </a:ext>
                  </a:extLst>
                </a:gridCol>
              </a:tblGrid>
              <a:tr h="533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effectLst/>
                        </a:rPr>
                        <a:t>Cash costs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effectLst/>
                        </a:rPr>
                        <a:t>Year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0050279"/>
                  </a:ext>
                </a:extLst>
              </a:tr>
              <a:tr h="533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Staff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effectLst/>
                        </a:rPr>
                        <a:t>$55,000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3017982"/>
                  </a:ext>
                </a:extLst>
              </a:tr>
              <a:tr h="533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Licences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$13,856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5636"/>
                  </a:ext>
                </a:extLst>
              </a:tr>
              <a:tr h="533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$60,000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005071"/>
                  </a:ext>
                </a:extLst>
              </a:tr>
              <a:tr h="533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Other delivery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$25,000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8736212"/>
                  </a:ext>
                </a:extLst>
              </a:tr>
              <a:tr h="533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Rewards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$840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372331"/>
                  </a:ext>
                </a:extLst>
              </a:tr>
              <a:tr h="533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Contingency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$0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4956511"/>
                  </a:ext>
                </a:extLst>
              </a:tr>
              <a:tr h="533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effectLst/>
                        </a:rPr>
                        <a:t>$154,696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6132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21028" flipH="1" flipV="1">
            <a:off x="-1802152" y="-2184453"/>
            <a:ext cx="7539939" cy="4866688"/>
          </a:xfrm>
          <a:custGeom>
            <a:avLst/>
            <a:gdLst/>
            <a:ahLst/>
            <a:cxnLst/>
            <a:rect l="l" t="t" r="r" b="b"/>
            <a:pathLst>
              <a:path w="7539939" h="4866688">
                <a:moveTo>
                  <a:pt x="7539939" y="4866688"/>
                </a:moveTo>
                <a:lnTo>
                  <a:pt x="0" y="4866688"/>
                </a:lnTo>
                <a:lnTo>
                  <a:pt x="0" y="0"/>
                </a:lnTo>
                <a:lnTo>
                  <a:pt x="7539939" y="0"/>
                </a:lnTo>
                <a:lnTo>
                  <a:pt x="7539939" y="4866688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AutoShape 3"/>
          <p:cNvSpPr/>
          <p:nvPr/>
        </p:nvSpPr>
        <p:spPr>
          <a:xfrm>
            <a:off x="1028700" y="1386936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4" name="Freeform 4"/>
          <p:cNvSpPr/>
          <p:nvPr/>
        </p:nvSpPr>
        <p:spPr>
          <a:xfrm rot="-1479196">
            <a:off x="10739387" y="5864555"/>
            <a:ext cx="9707434" cy="6265707"/>
          </a:xfrm>
          <a:custGeom>
            <a:avLst/>
            <a:gdLst/>
            <a:ahLst/>
            <a:cxnLst/>
            <a:rect l="l" t="t" r="r" b="b"/>
            <a:pathLst>
              <a:path w="9707434" h="6265707">
                <a:moveTo>
                  <a:pt x="0" y="0"/>
                </a:moveTo>
                <a:lnTo>
                  <a:pt x="9707434" y="0"/>
                </a:lnTo>
                <a:lnTo>
                  <a:pt x="9707434" y="6265708"/>
                </a:lnTo>
                <a:lnTo>
                  <a:pt x="0" y="6265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5" name="Freeform 5"/>
          <p:cNvSpPr/>
          <p:nvPr/>
        </p:nvSpPr>
        <p:spPr>
          <a:xfrm>
            <a:off x="1028700" y="857929"/>
            <a:ext cx="355773" cy="341542"/>
          </a:xfrm>
          <a:custGeom>
            <a:avLst/>
            <a:gdLst/>
            <a:ahLst/>
            <a:cxnLst/>
            <a:rect l="l" t="t" r="r" b="b"/>
            <a:pathLst>
              <a:path w="355773" h="341542">
                <a:moveTo>
                  <a:pt x="0" y="0"/>
                </a:moveTo>
                <a:lnTo>
                  <a:pt x="355773" y="0"/>
                </a:lnTo>
                <a:lnTo>
                  <a:pt x="355773" y="341542"/>
                </a:lnTo>
                <a:lnTo>
                  <a:pt x="0" y="341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grpSp>
        <p:nvGrpSpPr>
          <p:cNvPr id="6" name="Group 6"/>
          <p:cNvGrpSpPr/>
          <p:nvPr/>
        </p:nvGrpSpPr>
        <p:grpSpPr>
          <a:xfrm>
            <a:off x="13870708" y="7082056"/>
            <a:ext cx="56201" cy="5620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EB282"/>
            </a:solidFill>
          </p:spPr>
          <p:txBody>
            <a:bodyPr/>
            <a:lstStyle/>
            <a:p>
              <a:endParaRPr lang="en-LK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79398" y="8750214"/>
            <a:ext cx="13591310" cy="1139476"/>
            <a:chOff x="0" y="0"/>
            <a:chExt cx="3579622" cy="3001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79622" cy="300101"/>
            </a:xfrm>
            <a:custGeom>
              <a:avLst/>
              <a:gdLst/>
              <a:ahLst/>
              <a:cxnLst/>
              <a:rect l="l" t="t" r="r" b="b"/>
              <a:pathLst>
                <a:path w="3579622" h="300101">
                  <a:moveTo>
                    <a:pt x="3579622" y="15380"/>
                  </a:moveTo>
                  <a:lnTo>
                    <a:pt x="3579622" y="284721"/>
                  </a:lnTo>
                  <a:cubicBezTo>
                    <a:pt x="3579622" y="288800"/>
                    <a:pt x="3578001" y="292712"/>
                    <a:pt x="3575117" y="295596"/>
                  </a:cubicBezTo>
                  <a:cubicBezTo>
                    <a:pt x="3572233" y="298481"/>
                    <a:pt x="3568321" y="300101"/>
                    <a:pt x="3564242" y="300101"/>
                  </a:cubicBezTo>
                  <a:lnTo>
                    <a:pt x="15380" y="300101"/>
                  </a:lnTo>
                  <a:cubicBezTo>
                    <a:pt x="11301" y="300101"/>
                    <a:pt x="7389" y="298481"/>
                    <a:pt x="4505" y="295596"/>
                  </a:cubicBezTo>
                  <a:cubicBezTo>
                    <a:pt x="1620" y="292712"/>
                    <a:pt x="0" y="288800"/>
                    <a:pt x="0" y="284721"/>
                  </a:cubicBezTo>
                  <a:lnTo>
                    <a:pt x="0" y="15380"/>
                  </a:lnTo>
                  <a:cubicBezTo>
                    <a:pt x="0" y="11301"/>
                    <a:pt x="1620" y="7389"/>
                    <a:pt x="4505" y="4505"/>
                  </a:cubicBezTo>
                  <a:cubicBezTo>
                    <a:pt x="7389" y="1620"/>
                    <a:pt x="11301" y="0"/>
                    <a:pt x="15380" y="0"/>
                  </a:cubicBezTo>
                  <a:lnTo>
                    <a:pt x="3564242" y="0"/>
                  </a:lnTo>
                  <a:cubicBezTo>
                    <a:pt x="3568321" y="0"/>
                    <a:pt x="3572233" y="1620"/>
                    <a:pt x="3575117" y="4505"/>
                  </a:cubicBezTo>
                  <a:cubicBezTo>
                    <a:pt x="3578001" y="7389"/>
                    <a:pt x="3579622" y="11301"/>
                    <a:pt x="3579622" y="1538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57150"/>
              <a:ext cx="3579622" cy="242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2020367"/>
            <a:ext cx="18579441" cy="1771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5000" b="1" spc="-30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WHAT WE'D TEST BEFORE SCALING </a:t>
            </a:r>
          </a:p>
          <a:p>
            <a:pPr algn="l">
              <a:lnSpc>
                <a:spcPts val="4500"/>
              </a:lnSpc>
            </a:pPr>
            <a:endParaRPr lang="en-US" sz="5000" b="1" spc="-300">
              <a:solidFill>
                <a:srgbClr val="222223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marL="0" lvl="0" indent="0" algn="l">
              <a:lnSpc>
                <a:spcPts val="4500"/>
              </a:lnSpc>
            </a:pPr>
            <a:endParaRPr lang="en-US" sz="5000" b="1" spc="-300">
              <a:solidFill>
                <a:srgbClr val="222223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43285" y="898208"/>
            <a:ext cx="4192947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9"/>
              </a:lnSpc>
            </a:pPr>
            <a:r>
              <a:rPr lang="en-US" sz="2599" b="1" spc="-155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RISK &amp; MITIGATION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926908" y="933450"/>
            <a:ext cx="3332392" cy="24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800"/>
              </a:lnSpc>
            </a:pPr>
            <a:r>
              <a:rPr lang="en-US" sz="2000" spc="-120">
                <a:solidFill>
                  <a:srgbClr val="222223"/>
                </a:solidFill>
                <a:latin typeface="Garet"/>
                <a:ea typeface="Garet"/>
                <a:cs typeface="Garet"/>
                <a:sym typeface="Garet"/>
              </a:rPr>
              <a:t>BEACON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6631" y="8875992"/>
            <a:ext cx="12376865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spc="-108" dirty="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Scale only after confirming demand, safety, technology access and funding.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58992" y="9947275"/>
            <a:ext cx="1042900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-8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Team 5 (2026b, 2026c), Beacon Financial Model v3 and proposed risk mitigations.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7697378-865D-01F9-9CA7-F21F4248B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448552"/>
              </p:ext>
            </p:extLst>
          </p:nvPr>
        </p:nvGraphicFramePr>
        <p:xfrm>
          <a:off x="355761" y="2919328"/>
          <a:ext cx="8010660" cy="53627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5330">
                  <a:extLst>
                    <a:ext uri="{9D8B030D-6E8A-4147-A177-3AD203B41FA5}">
                      <a16:colId xmlns:a16="http://schemas.microsoft.com/office/drawing/2014/main" val="3919109852"/>
                    </a:ext>
                  </a:extLst>
                </a:gridCol>
                <a:gridCol w="4005330">
                  <a:extLst>
                    <a:ext uri="{9D8B030D-6E8A-4147-A177-3AD203B41FA5}">
                      <a16:colId xmlns:a16="http://schemas.microsoft.com/office/drawing/2014/main" val="2774209006"/>
                    </a:ext>
                  </a:extLst>
                </a:gridCol>
              </a:tblGrid>
              <a:tr h="4892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effectLst/>
                        </a:rPr>
                        <a:t>Risk</a:t>
                      </a:r>
                    </a:p>
                  </a:txBody>
                  <a:tcPr marL="87839" marR="87839" marT="43920" marB="43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effectLst/>
                        </a:rPr>
                        <a:t>Mitigation</a:t>
                      </a:r>
                    </a:p>
                  </a:txBody>
                  <a:tcPr marL="87839" marR="87839" marT="43920" marB="43920" anchor="ctr"/>
                </a:tc>
                <a:extLst>
                  <a:ext uri="{0D108BD9-81ED-4DB2-BD59-A6C34878D82A}">
                    <a16:rowId xmlns:a16="http://schemas.microsoft.com/office/drawing/2014/main" val="3908954589"/>
                  </a:ext>
                </a:extLst>
              </a:tr>
              <a:tr h="876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Low retention</a:t>
                      </a:r>
                    </a:p>
                  </a:txBody>
                  <a:tcPr marL="87839" marR="87839" marT="43920" marB="43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Track four-week return; test rewards</a:t>
                      </a:r>
                    </a:p>
                  </a:txBody>
                  <a:tcPr marL="87839" marR="87839" marT="43920" marB="43920" anchor="ctr"/>
                </a:tc>
                <a:extLst>
                  <a:ext uri="{0D108BD9-81ED-4DB2-BD59-A6C34878D82A}">
                    <a16:rowId xmlns:a16="http://schemas.microsoft.com/office/drawing/2014/main" val="4164684973"/>
                  </a:ext>
                </a:extLst>
              </a:tr>
              <a:tr h="4892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School fees</a:t>
                      </a:r>
                    </a:p>
                  </a:txBody>
                  <a:tcPr marL="87839" marR="87839" marT="43920" marB="43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Validate willingness to pay</a:t>
                      </a:r>
                    </a:p>
                  </a:txBody>
                  <a:tcPr marL="87839" marR="87839" marT="43920" marB="43920" anchor="ctr"/>
                </a:tc>
                <a:extLst>
                  <a:ext uri="{0D108BD9-81ED-4DB2-BD59-A6C34878D82A}">
                    <a16:rowId xmlns:a16="http://schemas.microsoft.com/office/drawing/2014/main" val="1276159352"/>
                  </a:ext>
                </a:extLst>
              </a:tr>
              <a:tr h="876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Venue support</a:t>
                      </a:r>
                    </a:p>
                  </a:txBody>
                  <a:tcPr marL="87839" marR="87839" marT="43920" marB="43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Secure agreements and backup offers</a:t>
                      </a:r>
                    </a:p>
                  </a:txBody>
                  <a:tcPr marL="87839" marR="87839" marT="43920" marB="43920" anchor="ctr"/>
                </a:tc>
                <a:extLst>
                  <a:ext uri="{0D108BD9-81ED-4DB2-BD59-A6C34878D82A}">
                    <a16:rowId xmlns:a16="http://schemas.microsoft.com/office/drawing/2014/main" val="228387752"/>
                  </a:ext>
                </a:extLst>
              </a:tr>
              <a:tr h="876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Child safety</a:t>
                      </a:r>
                    </a:p>
                  </a:txBody>
                  <a:tcPr marL="87839" marR="87839" marT="43920" marB="43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Screen hosts; consent and moderation</a:t>
                      </a:r>
                    </a:p>
                  </a:txBody>
                  <a:tcPr marL="87839" marR="87839" marT="43920" marB="43920" anchor="ctr"/>
                </a:tc>
                <a:extLst>
                  <a:ext uri="{0D108BD9-81ED-4DB2-BD59-A6C34878D82A}">
                    <a16:rowId xmlns:a16="http://schemas.microsoft.com/office/drawing/2014/main" val="3794978584"/>
                  </a:ext>
                </a:extLst>
              </a:tr>
              <a:tr h="876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Microsoft access</a:t>
                      </a:r>
                    </a:p>
                  </a:txBody>
                  <a:tcPr marL="87839" marR="87839" marT="43920" marB="43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Confirm licences and permissions</a:t>
                      </a:r>
                    </a:p>
                  </a:txBody>
                  <a:tcPr marL="87839" marR="87839" marT="43920" marB="43920" anchor="ctr"/>
                </a:tc>
                <a:extLst>
                  <a:ext uri="{0D108BD9-81ED-4DB2-BD59-A6C34878D82A}">
                    <a16:rowId xmlns:a16="http://schemas.microsoft.com/office/drawing/2014/main" val="2592734183"/>
                  </a:ext>
                </a:extLst>
              </a:tr>
              <a:tr h="876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>
                          <a:effectLst/>
                        </a:rPr>
                        <a:t>Competition</a:t>
                      </a:r>
                    </a:p>
                  </a:txBody>
                  <a:tcPr marL="87839" marR="87839" marT="43920" marB="43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effectLst/>
                        </a:rPr>
                        <a:t>Build trusted provider relationships</a:t>
                      </a:r>
                    </a:p>
                  </a:txBody>
                  <a:tcPr marL="87839" marR="87839" marT="43920" marB="43920" anchor="ctr"/>
                </a:tc>
                <a:extLst>
                  <a:ext uri="{0D108BD9-81ED-4DB2-BD59-A6C34878D82A}">
                    <a16:rowId xmlns:a16="http://schemas.microsoft.com/office/drawing/2014/main" val="3684757655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3A567E95-34D8-BBD6-6F14-893B634B62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452" y="2945878"/>
            <a:ext cx="9504941" cy="53492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21028" flipH="1" flipV="1">
            <a:off x="-1802152" y="-2184453"/>
            <a:ext cx="7539939" cy="4866688"/>
          </a:xfrm>
          <a:custGeom>
            <a:avLst/>
            <a:gdLst/>
            <a:ahLst/>
            <a:cxnLst/>
            <a:rect l="l" t="t" r="r" b="b"/>
            <a:pathLst>
              <a:path w="7539939" h="4866688">
                <a:moveTo>
                  <a:pt x="7539939" y="4866688"/>
                </a:moveTo>
                <a:lnTo>
                  <a:pt x="0" y="4866688"/>
                </a:lnTo>
                <a:lnTo>
                  <a:pt x="0" y="0"/>
                </a:lnTo>
                <a:lnTo>
                  <a:pt x="7539939" y="0"/>
                </a:lnTo>
                <a:lnTo>
                  <a:pt x="7539939" y="4866688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1479196">
            <a:off x="10739387" y="5864555"/>
            <a:ext cx="9707434" cy="6265707"/>
          </a:xfrm>
          <a:custGeom>
            <a:avLst/>
            <a:gdLst/>
            <a:ahLst/>
            <a:cxnLst/>
            <a:rect l="l" t="t" r="r" b="b"/>
            <a:pathLst>
              <a:path w="9707434" h="6265707">
                <a:moveTo>
                  <a:pt x="0" y="0"/>
                </a:moveTo>
                <a:lnTo>
                  <a:pt x="9707434" y="0"/>
                </a:lnTo>
                <a:lnTo>
                  <a:pt x="9707434" y="6265708"/>
                </a:lnTo>
                <a:lnTo>
                  <a:pt x="0" y="6265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4" name="AutoShape 4"/>
          <p:cNvSpPr/>
          <p:nvPr/>
        </p:nvSpPr>
        <p:spPr>
          <a:xfrm>
            <a:off x="1028700" y="1386936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5" name="Freeform 5"/>
          <p:cNvSpPr/>
          <p:nvPr/>
        </p:nvSpPr>
        <p:spPr>
          <a:xfrm>
            <a:off x="1028700" y="857929"/>
            <a:ext cx="355773" cy="341542"/>
          </a:xfrm>
          <a:custGeom>
            <a:avLst/>
            <a:gdLst/>
            <a:ahLst/>
            <a:cxnLst/>
            <a:rect l="l" t="t" r="r" b="b"/>
            <a:pathLst>
              <a:path w="355773" h="341542">
                <a:moveTo>
                  <a:pt x="0" y="0"/>
                </a:moveTo>
                <a:lnTo>
                  <a:pt x="355773" y="0"/>
                </a:lnTo>
                <a:lnTo>
                  <a:pt x="355773" y="341542"/>
                </a:lnTo>
                <a:lnTo>
                  <a:pt x="0" y="341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6" name="TextBox 6"/>
          <p:cNvSpPr txBox="1"/>
          <p:nvPr/>
        </p:nvSpPr>
        <p:spPr>
          <a:xfrm>
            <a:off x="1028700" y="2136447"/>
            <a:ext cx="15836026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0"/>
              </a:lnSpc>
            </a:pPr>
            <a:r>
              <a:rPr lang="en-US" sz="5000" b="1" spc="-300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FIVE SCHOOLS. ONE OPPORTUNITY TO PROVE BEACON WORKS.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052963" y="3488997"/>
            <a:ext cx="2401466" cy="1376680"/>
            <a:chOff x="0" y="0"/>
            <a:chExt cx="632485" cy="36258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2485" cy="362582"/>
            </a:xfrm>
            <a:custGeom>
              <a:avLst/>
              <a:gdLst/>
              <a:ahLst/>
              <a:cxnLst/>
              <a:rect l="l" t="t" r="r" b="b"/>
              <a:pathLst>
                <a:path w="632485" h="362582">
                  <a:moveTo>
                    <a:pt x="70924" y="0"/>
                  </a:moveTo>
                  <a:lnTo>
                    <a:pt x="561560" y="0"/>
                  </a:lnTo>
                  <a:cubicBezTo>
                    <a:pt x="600731" y="0"/>
                    <a:pt x="632485" y="31754"/>
                    <a:pt x="632485" y="70924"/>
                  </a:cubicBezTo>
                  <a:lnTo>
                    <a:pt x="632485" y="291658"/>
                  </a:lnTo>
                  <a:cubicBezTo>
                    <a:pt x="632485" y="330829"/>
                    <a:pt x="600731" y="362582"/>
                    <a:pt x="561560" y="362582"/>
                  </a:cubicBezTo>
                  <a:lnTo>
                    <a:pt x="70924" y="362582"/>
                  </a:lnTo>
                  <a:cubicBezTo>
                    <a:pt x="31754" y="362582"/>
                    <a:pt x="0" y="330829"/>
                    <a:pt x="0" y="291658"/>
                  </a:cubicBezTo>
                  <a:lnTo>
                    <a:pt x="0" y="70924"/>
                  </a:lnTo>
                  <a:cubicBezTo>
                    <a:pt x="0" y="31754"/>
                    <a:pt x="31754" y="0"/>
                    <a:pt x="709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322D29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57150"/>
              <a:ext cx="632485" cy="3054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82270" y="3488997"/>
            <a:ext cx="2401466" cy="1376680"/>
            <a:chOff x="0" y="0"/>
            <a:chExt cx="632485" cy="36258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2485" cy="362582"/>
            </a:xfrm>
            <a:custGeom>
              <a:avLst/>
              <a:gdLst/>
              <a:ahLst/>
              <a:cxnLst/>
              <a:rect l="l" t="t" r="r" b="b"/>
              <a:pathLst>
                <a:path w="632485" h="362582">
                  <a:moveTo>
                    <a:pt x="70924" y="0"/>
                  </a:moveTo>
                  <a:lnTo>
                    <a:pt x="561560" y="0"/>
                  </a:lnTo>
                  <a:cubicBezTo>
                    <a:pt x="600731" y="0"/>
                    <a:pt x="632485" y="31754"/>
                    <a:pt x="632485" y="70924"/>
                  </a:cubicBezTo>
                  <a:lnTo>
                    <a:pt x="632485" y="291658"/>
                  </a:lnTo>
                  <a:cubicBezTo>
                    <a:pt x="632485" y="330829"/>
                    <a:pt x="600731" y="362582"/>
                    <a:pt x="561560" y="362582"/>
                  </a:cubicBezTo>
                  <a:lnTo>
                    <a:pt x="70924" y="362582"/>
                  </a:lnTo>
                  <a:cubicBezTo>
                    <a:pt x="31754" y="362582"/>
                    <a:pt x="0" y="330829"/>
                    <a:pt x="0" y="291658"/>
                  </a:cubicBezTo>
                  <a:lnTo>
                    <a:pt x="0" y="70924"/>
                  </a:lnTo>
                  <a:cubicBezTo>
                    <a:pt x="0" y="31754"/>
                    <a:pt x="31754" y="0"/>
                    <a:pt x="709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322D29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632485" cy="3054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963989" y="3491778"/>
            <a:ext cx="2401466" cy="1376680"/>
            <a:chOff x="0" y="0"/>
            <a:chExt cx="632485" cy="36258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2485" cy="362582"/>
            </a:xfrm>
            <a:custGeom>
              <a:avLst/>
              <a:gdLst/>
              <a:ahLst/>
              <a:cxnLst/>
              <a:rect l="l" t="t" r="r" b="b"/>
              <a:pathLst>
                <a:path w="632485" h="362582">
                  <a:moveTo>
                    <a:pt x="70924" y="0"/>
                  </a:moveTo>
                  <a:lnTo>
                    <a:pt x="561560" y="0"/>
                  </a:lnTo>
                  <a:cubicBezTo>
                    <a:pt x="600731" y="0"/>
                    <a:pt x="632485" y="31754"/>
                    <a:pt x="632485" y="70924"/>
                  </a:cubicBezTo>
                  <a:lnTo>
                    <a:pt x="632485" y="291658"/>
                  </a:lnTo>
                  <a:cubicBezTo>
                    <a:pt x="632485" y="330829"/>
                    <a:pt x="600731" y="362582"/>
                    <a:pt x="561560" y="362582"/>
                  </a:cubicBezTo>
                  <a:lnTo>
                    <a:pt x="70924" y="362582"/>
                  </a:lnTo>
                  <a:cubicBezTo>
                    <a:pt x="31754" y="362582"/>
                    <a:pt x="0" y="330829"/>
                    <a:pt x="0" y="291658"/>
                  </a:cubicBezTo>
                  <a:lnTo>
                    <a:pt x="0" y="70924"/>
                  </a:lnTo>
                  <a:cubicBezTo>
                    <a:pt x="0" y="31754"/>
                    <a:pt x="31754" y="0"/>
                    <a:pt x="709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322D29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57150"/>
              <a:ext cx="632485" cy="3054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47345" y="2995753"/>
            <a:ext cx="8740655" cy="5037905"/>
            <a:chOff x="0" y="0"/>
            <a:chExt cx="2302065" cy="13268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302065" cy="1326856"/>
            </a:xfrm>
            <a:custGeom>
              <a:avLst/>
              <a:gdLst/>
              <a:ahLst/>
              <a:cxnLst/>
              <a:rect l="l" t="t" r="r" b="b"/>
              <a:pathLst>
                <a:path w="2302065" h="1326856">
                  <a:moveTo>
                    <a:pt x="19486" y="0"/>
                  </a:moveTo>
                  <a:lnTo>
                    <a:pt x="2282579" y="0"/>
                  </a:lnTo>
                  <a:cubicBezTo>
                    <a:pt x="2287747" y="0"/>
                    <a:pt x="2292704" y="2053"/>
                    <a:pt x="2296358" y="5707"/>
                  </a:cubicBezTo>
                  <a:cubicBezTo>
                    <a:pt x="2300013" y="9362"/>
                    <a:pt x="2302065" y="14318"/>
                    <a:pt x="2302065" y="19486"/>
                  </a:cubicBezTo>
                  <a:lnTo>
                    <a:pt x="2302065" y="1307369"/>
                  </a:lnTo>
                  <a:cubicBezTo>
                    <a:pt x="2302065" y="1312538"/>
                    <a:pt x="2300013" y="1317494"/>
                    <a:pt x="2296358" y="1321148"/>
                  </a:cubicBezTo>
                  <a:cubicBezTo>
                    <a:pt x="2292704" y="1324803"/>
                    <a:pt x="2287747" y="1326856"/>
                    <a:pt x="2282579" y="1326856"/>
                  </a:cubicBezTo>
                  <a:lnTo>
                    <a:pt x="19486" y="1326856"/>
                  </a:lnTo>
                  <a:cubicBezTo>
                    <a:pt x="8724" y="1326856"/>
                    <a:pt x="0" y="1318131"/>
                    <a:pt x="0" y="1307369"/>
                  </a:cubicBezTo>
                  <a:lnTo>
                    <a:pt x="0" y="19486"/>
                  </a:lnTo>
                  <a:cubicBezTo>
                    <a:pt x="0" y="14318"/>
                    <a:pt x="2053" y="9362"/>
                    <a:pt x="5707" y="5707"/>
                  </a:cubicBezTo>
                  <a:cubicBezTo>
                    <a:pt x="9362" y="2053"/>
                    <a:pt x="14318" y="0"/>
                    <a:pt x="19486" y="0"/>
                  </a:cubicBezTo>
                  <a:close/>
                </a:path>
              </a:pathLst>
            </a:custGeom>
            <a:solidFill>
              <a:srgbClr val="000000"/>
            </a:solidFill>
            <a:ln w="19050" cap="rnd">
              <a:solidFill>
                <a:srgbClr val="322D29"/>
              </a:solidFill>
              <a:prstDash val="solid"/>
              <a:round/>
            </a:ln>
          </p:spPr>
          <p:txBody>
            <a:bodyPr/>
            <a:lstStyle/>
            <a:p>
              <a:endParaRPr lang="en-LK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57150"/>
              <a:ext cx="2302065" cy="12697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28700" y="8367033"/>
            <a:ext cx="16391247" cy="118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-9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</a:t>
            </a:r>
            <a:r>
              <a:rPr lang="en-US" sz="2300" b="1" spc="-9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THE PROBLEM </a:t>
            </a:r>
            <a:r>
              <a:rPr lang="en-US" sz="2300" spc="-9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                                    </a:t>
            </a:r>
            <a:r>
              <a:rPr lang="en-US" sz="2300" b="1" spc="-9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 SOLUTION    </a:t>
            </a:r>
            <a:r>
              <a:rPr lang="en-US" sz="2300" spc="-9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                         </a:t>
            </a:r>
            <a:r>
              <a:rPr lang="en-US" sz="2300" b="1" spc="-92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 EVIDENCE TO BUILD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-9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Participation barriers                            Verified activities  and rewards                          Attendance and retention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-9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                                    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0305521" y="8362615"/>
            <a:ext cx="0" cy="12056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21" name="AutoShape 21"/>
          <p:cNvSpPr/>
          <p:nvPr/>
        </p:nvSpPr>
        <p:spPr>
          <a:xfrm>
            <a:off x="4330474" y="8362615"/>
            <a:ext cx="0" cy="12056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22" name="AutoShape 22"/>
          <p:cNvSpPr/>
          <p:nvPr/>
        </p:nvSpPr>
        <p:spPr>
          <a:xfrm>
            <a:off x="9721348" y="6154700"/>
            <a:ext cx="8203870" cy="0"/>
          </a:xfrm>
          <a:prstGeom prst="line">
            <a:avLst/>
          </a:prstGeom>
          <a:ln w="19050" cap="flat">
            <a:solidFill>
              <a:srgbClr val="9EB28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LK"/>
          </a:p>
        </p:txBody>
      </p:sp>
      <p:sp>
        <p:nvSpPr>
          <p:cNvPr id="23" name="Freeform 23"/>
          <p:cNvSpPr/>
          <p:nvPr/>
        </p:nvSpPr>
        <p:spPr>
          <a:xfrm>
            <a:off x="3062769" y="5020858"/>
            <a:ext cx="4422186" cy="2940754"/>
          </a:xfrm>
          <a:custGeom>
            <a:avLst/>
            <a:gdLst/>
            <a:ahLst/>
            <a:cxnLst/>
            <a:rect l="l" t="t" r="r" b="b"/>
            <a:pathLst>
              <a:path w="4422186" h="2940754">
                <a:moveTo>
                  <a:pt x="0" y="0"/>
                </a:moveTo>
                <a:lnTo>
                  <a:pt x="4422186" y="0"/>
                </a:lnTo>
                <a:lnTo>
                  <a:pt x="4422186" y="2940754"/>
                </a:lnTo>
                <a:lnTo>
                  <a:pt x="0" y="29407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24" name="TextBox 24"/>
          <p:cNvSpPr txBox="1"/>
          <p:nvPr/>
        </p:nvSpPr>
        <p:spPr>
          <a:xfrm>
            <a:off x="1443285" y="898208"/>
            <a:ext cx="4280902" cy="3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9"/>
              </a:lnSpc>
            </a:pPr>
            <a:r>
              <a:rPr lang="en-US" sz="2599" b="1" spc="-155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 THE PILOT &amp; OUR ASK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65126" y="3668702"/>
            <a:ext cx="2060070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 spc="-92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5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 spc="-92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Pilot schools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73130" y="3584170"/>
            <a:ext cx="2401466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spc="-88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4,000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spc="-88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Students with access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90517" y="3707043"/>
            <a:ext cx="1853483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 spc="-92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12</a:t>
            </a:r>
          </a:p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 b="1" spc="-92">
                <a:solidFill>
                  <a:srgbClr val="222223"/>
                </a:solidFill>
                <a:latin typeface="Garet Bold"/>
                <a:ea typeface="Garet Bold"/>
                <a:cs typeface="Garet Bold"/>
                <a:sym typeface="Garet Bold"/>
              </a:rPr>
              <a:t>Months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63989" y="9594850"/>
            <a:ext cx="11014771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spc="-8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Team 5 (2026c), Beacon Financial Model v3; Productivity Commission (2026, Section 17). National cost benchmark; no prevention outcome assumed.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32180" y="3089162"/>
            <a:ext cx="8093038" cy="2807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3"/>
              </a:lnSpc>
              <a:spcBef>
                <a:spcPct val="0"/>
              </a:spcBef>
            </a:pPr>
            <a:r>
              <a:rPr lang="en-US" sz="2359" spc="-94">
                <a:solidFill>
                  <a:srgbClr val="9EB282"/>
                </a:solidFill>
                <a:latin typeface="Garet"/>
                <a:ea typeface="Garet"/>
                <a:cs typeface="Garet"/>
                <a:sym typeface="Garet"/>
              </a:rPr>
              <a:t>REQUIRED PUBLIC FUNDING</a:t>
            </a:r>
          </a:p>
          <a:p>
            <a:pPr algn="l">
              <a:lnSpc>
                <a:spcPts val="4563"/>
              </a:lnSpc>
              <a:spcBef>
                <a:spcPct val="0"/>
              </a:spcBef>
            </a:pPr>
            <a:r>
              <a:rPr lang="en-US" sz="3259" b="1" spc="-13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$84,696</a:t>
            </a:r>
          </a:p>
          <a:p>
            <a:pPr algn="l">
              <a:lnSpc>
                <a:spcPts val="4563"/>
              </a:lnSpc>
              <a:spcBef>
                <a:spcPct val="0"/>
              </a:spcBef>
            </a:pPr>
            <a:endParaRPr lang="en-US" sz="3259" b="1" spc="-13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l">
              <a:lnSpc>
                <a:spcPts val="3303"/>
              </a:lnSpc>
              <a:spcBef>
                <a:spcPct val="0"/>
              </a:spcBef>
            </a:pPr>
            <a:r>
              <a:rPr lang="en-US" sz="2359" spc="-9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For scale: the pilot's public ask is equivalent to approximately 24 days of youth detention for one child, using a rounded national average of $3,600 per day.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32180" y="6365527"/>
            <a:ext cx="8455820" cy="148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-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Funding sought from the Queensland Department of Education or Youth Justice early-intervention funding. No commitment in place.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spc="-84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Microsoft support requested: $13,856 in licence credits, plus platform enablement.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5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21028" flipH="1" flipV="1">
            <a:off x="-1802152" y="-2184453"/>
            <a:ext cx="7539939" cy="4866688"/>
          </a:xfrm>
          <a:custGeom>
            <a:avLst/>
            <a:gdLst/>
            <a:ahLst/>
            <a:cxnLst/>
            <a:rect l="l" t="t" r="r" b="b"/>
            <a:pathLst>
              <a:path w="7539939" h="4866688">
                <a:moveTo>
                  <a:pt x="7539939" y="4866688"/>
                </a:moveTo>
                <a:lnTo>
                  <a:pt x="0" y="4866688"/>
                </a:lnTo>
                <a:lnTo>
                  <a:pt x="0" y="0"/>
                </a:lnTo>
                <a:lnTo>
                  <a:pt x="7539939" y="0"/>
                </a:lnTo>
                <a:lnTo>
                  <a:pt x="7539939" y="4866688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3" name="Freeform 3"/>
          <p:cNvSpPr/>
          <p:nvPr/>
        </p:nvSpPr>
        <p:spPr>
          <a:xfrm rot="-1479196">
            <a:off x="10739387" y="5864555"/>
            <a:ext cx="9707434" cy="6265707"/>
          </a:xfrm>
          <a:custGeom>
            <a:avLst/>
            <a:gdLst/>
            <a:ahLst/>
            <a:cxnLst/>
            <a:rect l="l" t="t" r="r" b="b"/>
            <a:pathLst>
              <a:path w="9707434" h="6265707">
                <a:moveTo>
                  <a:pt x="0" y="0"/>
                </a:moveTo>
                <a:lnTo>
                  <a:pt x="9707434" y="0"/>
                </a:lnTo>
                <a:lnTo>
                  <a:pt x="9707434" y="6265708"/>
                </a:lnTo>
                <a:lnTo>
                  <a:pt x="0" y="6265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LK"/>
          </a:p>
        </p:txBody>
      </p:sp>
      <p:sp>
        <p:nvSpPr>
          <p:cNvPr id="4" name="TextBox 4"/>
          <p:cNvSpPr txBox="1"/>
          <p:nvPr/>
        </p:nvSpPr>
        <p:spPr>
          <a:xfrm>
            <a:off x="355494" y="3270574"/>
            <a:ext cx="17236832" cy="323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sz="6099" b="1" spc="-243" dirty="0">
                <a:solidFill>
                  <a:srgbClr val="869A69"/>
                </a:solidFill>
                <a:latin typeface="Garet Bold"/>
                <a:ea typeface="Garet Bold"/>
                <a:cs typeface="Garet Bold"/>
                <a:sym typeface="Garet Bold"/>
              </a:rPr>
              <a:t>Scan it. Show up. Get recognised.</a:t>
            </a:r>
          </a:p>
          <a:p>
            <a:pPr algn="ctr">
              <a:lnSpc>
                <a:spcPts val="8539"/>
              </a:lnSpc>
              <a:spcBef>
                <a:spcPct val="0"/>
              </a:spcBef>
            </a:pPr>
            <a:endParaRPr lang="en-US" sz="6099" b="1" spc="-243" dirty="0">
              <a:solidFill>
                <a:srgbClr val="869A69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8539"/>
              </a:lnSpc>
              <a:spcBef>
                <a:spcPct val="0"/>
              </a:spcBef>
            </a:pPr>
            <a:r>
              <a:rPr lang="en-US" sz="6099" b="1" spc="-243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BEACON ·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1656</Words>
  <Application>Microsoft Office PowerPoint</Application>
  <PresentationFormat>Custom</PresentationFormat>
  <Paragraphs>384</Paragraphs>
  <Slides>19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Calibri</vt:lpstr>
      <vt:lpstr>Garet</vt:lpstr>
      <vt:lpstr>Aptos</vt:lpstr>
      <vt:lpstr>Arial</vt:lpstr>
      <vt:lpstr>Garet Bold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Beacon_Team5_BISM7208_Final_Pitch_Deck.pdf</dc:title>
  <dc:creator/>
  <cp:lastModifiedBy/>
  <cp:revision>3</cp:revision>
  <dcterms:created xsi:type="dcterms:W3CDTF">2006-08-16T00:00:00Z</dcterms:created>
  <dcterms:modified xsi:type="dcterms:W3CDTF">2026-10-19T04:02:47Z</dcterms:modified>
  <dc:identifier>DAHYIrE_gpw</dc:identifier>
</cp:coreProperties>
</file>